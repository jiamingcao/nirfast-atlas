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647" r:id="rId4"/>
    <p:sldId id="506" r:id="rId5"/>
    <p:sldId id="649" r:id="rId6"/>
    <p:sldId id="655" r:id="rId7"/>
    <p:sldId id="650" r:id="rId8"/>
    <p:sldId id="507" r:id="rId9"/>
    <p:sldId id="595" r:id="rId10"/>
    <p:sldId id="613" r:id="rId11"/>
    <p:sldId id="557" r:id="rId12"/>
    <p:sldId id="659" r:id="rId13"/>
    <p:sldId id="658" r:id="rId14"/>
    <p:sldId id="368" r:id="rId15"/>
    <p:sldId id="614" r:id="rId16"/>
    <p:sldId id="652" r:id="rId17"/>
    <p:sldId id="653" r:id="rId18"/>
    <p:sldId id="6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ABDAF-CA91-9511-FBB9-B001F5BA1CEA}" name="Robin Dale (PhD School of Computer Sci FT)" initials="RD" userId="S::rbd079@student.bham.ac.uk::66f06dfd-099f-4024-a589-019b660d1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0B9"/>
    <a:srgbClr val="554167"/>
    <a:srgbClr val="7EA6E0"/>
    <a:srgbClr val="EA6B66"/>
    <a:srgbClr val="E30513"/>
    <a:srgbClr val="2581C4"/>
    <a:srgbClr val="C59A00"/>
    <a:srgbClr val="B8A63A"/>
    <a:srgbClr val="ABA4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42" autoAdjust="0"/>
    <p:restoredTop sz="88537" autoAdjust="0"/>
  </p:normalViewPr>
  <p:slideViewPr>
    <p:cSldViewPr snapToGrid="0">
      <p:cViewPr varScale="1">
        <p:scale>
          <a:sx n="101" d="100"/>
          <a:sy n="101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89DA8-A704-4B1E-86B9-2AF7D392732B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C18D-5F0A-4B7D-816E-FDD28E1B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4AC4-FEC4-014A-BED3-1E7F67E5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C0A5A-838E-308E-5934-1357815B8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DB4-2725-334F-9B1D-02AFF0AD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5493-7ABF-52AA-2281-6574265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25-F0AC-FE72-4C8B-056B3B30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Google Shape;13;p7">
            <a:extLst>
              <a:ext uri="{FF2B5EF4-FFF2-40B4-BE49-F238E27FC236}">
                <a16:creationId xmlns:a16="http://schemas.microsoft.com/office/drawing/2014/main" id="{FE97A8BC-D4BD-4F98-C0E3-D5B6E0992588}"/>
              </a:ext>
            </a:extLst>
          </p:cNvPr>
          <p:cNvSpPr/>
          <p:nvPr userDrawn="1"/>
        </p:nvSpPr>
        <p:spPr>
          <a:xfrm>
            <a:off x="1" y="6086475"/>
            <a:ext cx="12192000" cy="114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4023C582-22D8-832E-B5F9-982947465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84" y="6242535"/>
            <a:ext cx="656802" cy="615465"/>
          </a:xfrm>
          <a:prstGeom prst="rect">
            <a:avLst/>
          </a:prstGeom>
        </p:spPr>
      </p:pic>
      <p:pic>
        <p:nvPicPr>
          <p:cNvPr id="11" name="4. Logo">
            <a:extLst>
              <a:ext uri="{FF2B5EF4-FFF2-40B4-BE49-F238E27FC236}">
                <a16:creationId xmlns:a16="http://schemas.microsoft.com/office/drawing/2014/main" id="{7062BCE1-B93A-911F-83E7-06B5189712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54" y="6264137"/>
            <a:ext cx="1954059" cy="56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205D0-A8F9-8E02-A4DA-1A3F009F2D22}"/>
              </a:ext>
            </a:extLst>
          </p:cNvPr>
          <p:cNvSpPr txBox="1"/>
          <p:nvPr userDrawn="1"/>
        </p:nvSpPr>
        <p:spPr>
          <a:xfrm>
            <a:off x="2092432" y="6258341"/>
            <a:ext cx="992579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MEDICAL</a:t>
            </a:r>
          </a:p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IMAGING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615C8-46B8-EB84-E6C4-1F6E4FAED947}"/>
              </a:ext>
            </a:extLst>
          </p:cNvPr>
          <p:cNvCxnSpPr>
            <a:cxnSpLocks/>
          </p:cNvCxnSpPr>
          <p:nvPr userDrawn="1"/>
        </p:nvCxnSpPr>
        <p:spPr>
          <a:xfrm>
            <a:off x="2092433" y="6331493"/>
            <a:ext cx="0" cy="32657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0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8D22-4D19-61C9-5F2C-B96434B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7A08-C0B9-128B-E353-DCE0D4AD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6B5E-33E7-22AB-6BCC-1E8D21A9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18DF-5773-A4DE-CFE1-EC6439EC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AF84-2E24-191B-022E-02481519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2CDF4-4364-39C2-79F1-83737401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5353-FE0D-730F-11DB-C9B72E2D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2899-899B-369F-F14C-F2DC5F1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B5EF-4917-FF90-FE6E-FF3155C7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7F85-2D61-585E-A4F3-C9E68E2E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962B1-9209-3E6A-5C9A-7CC61AE5B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F4FD0-A185-B9BB-A1B0-EED752CA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FD12-FCFA-9E94-CDC4-0FA6205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FFF-B934-AFAC-29E3-772B6EA8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92770-0AB0-6AEC-C004-5EC0C8C6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AF5ED-68D4-DBB6-85A5-97B413D0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37F1-266F-A888-7C0F-47C83322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4B5E-3CE4-CAC5-33AB-4BE6365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6194-22A0-045E-F206-DBC0E664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E518E-AAAA-EF77-A89B-8E947CD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0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5B52-4413-F575-F240-1E00C9A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DB5F-1F72-DD3F-44EF-2AA00974E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F13A6-2D7B-4F58-1CF2-4C15F613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615-98B5-AA20-39AB-C5915915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09B-8296-1FF4-7DF1-C53E69D3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1DB7A-0C08-6C22-2858-A57E3950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F5D-9FA8-8068-3829-A4C1085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C7F1-AC88-B50C-025C-0C1836424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414A-4100-90A3-1863-8AA4E5F6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5E7-C0BF-872A-F1CD-9AE3C5F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8B387-77E0-A06F-0B89-E1533C5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2C7F-381B-0CEC-273E-8A92B457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82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omlc.org/software/mc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099140-EC94-B4F7-8ECB-EBAB196DAD7B}"/>
              </a:ext>
            </a:extLst>
          </p:cNvPr>
          <p:cNvSpPr/>
          <p:nvPr/>
        </p:nvSpPr>
        <p:spPr>
          <a:xfrm>
            <a:off x="0" y="0"/>
            <a:ext cx="8161020" cy="6858000"/>
          </a:xfrm>
          <a:custGeom>
            <a:avLst/>
            <a:gdLst>
              <a:gd name="connsiteX0" fmla="*/ 0 w 7383780"/>
              <a:gd name="connsiteY0" fmla="*/ 0 h 6858000"/>
              <a:gd name="connsiteX1" fmla="*/ 738378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  <a:gd name="connsiteX0" fmla="*/ 0 w 7383780"/>
              <a:gd name="connsiteY0" fmla="*/ 0 h 6858000"/>
              <a:gd name="connsiteX1" fmla="*/ 676656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780" h="6858000">
                <a:moveTo>
                  <a:pt x="0" y="0"/>
                </a:moveTo>
                <a:lnTo>
                  <a:pt x="6766560" y="0"/>
                </a:lnTo>
                <a:lnTo>
                  <a:pt x="73837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FA365-AA49-0266-130F-0D7E0C7A3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30" y="284922"/>
            <a:ext cx="7505699" cy="319628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Simulation-Driven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fNIRS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NIRFASTer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Modeling Hemodynamic Responses, Realistic Noise, and Diffuse Optical Tomography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B2F2D-4169-D19F-A60A-7B8BBC854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30" y="3429000"/>
            <a:ext cx="5529052" cy="1099930"/>
          </a:xfrm>
        </p:spPr>
        <p:txBody>
          <a:bodyPr>
            <a:normAutofit/>
          </a:bodyPr>
          <a:lstStyle/>
          <a:p>
            <a:pPr algn="l"/>
            <a:endParaRPr lang="en-US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Jiaming Cao</a:t>
            </a:r>
            <a:r>
              <a:rPr lang="en-US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Hamid Dehghani</a:t>
            </a:r>
            <a:r>
              <a:rPr lang="en-US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80DF6-BC59-FB43-7DFB-7AED9551A937}"/>
              </a:ext>
            </a:extLst>
          </p:cNvPr>
          <p:cNvSpPr txBox="1"/>
          <p:nvPr/>
        </p:nvSpPr>
        <p:spPr>
          <a:xfrm>
            <a:off x="239930" y="4425550"/>
            <a:ext cx="71465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Centre for Cognitive and Brain Sciences,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Artificial Intelligence and Brain Sciences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Macau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School of Computer Science,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of Human Brain Health,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Birmingham, 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2B0C0-E6B8-B5DB-B26F-87F7195B692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rgbClr val="E305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05123-FDF9-030F-73EA-69CD3C277F7A}"/>
              </a:ext>
            </a:extLst>
          </p:cNvPr>
          <p:cNvSpPr/>
          <p:nvPr/>
        </p:nvSpPr>
        <p:spPr>
          <a:xfrm>
            <a:off x="0" y="0"/>
            <a:ext cx="12192000" cy="284922"/>
          </a:xfrm>
          <a:prstGeom prst="rect">
            <a:avLst/>
          </a:prstGeom>
          <a:solidFill>
            <a:srgbClr val="258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pic>
        <p:nvPicPr>
          <p:cNvPr id="13" name="Picture 12" descr="A logo of a university&#10;&#10;Description automatically generated">
            <a:extLst>
              <a:ext uri="{FF2B5EF4-FFF2-40B4-BE49-F238E27FC236}">
                <a16:creationId xmlns:a16="http://schemas.microsoft.com/office/drawing/2014/main" id="{CB98AD6E-58E8-0DD6-0EC1-22F01F54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69" y="1945322"/>
            <a:ext cx="3119769" cy="1949856"/>
          </a:xfrm>
          <a:prstGeom prst="rect">
            <a:avLst/>
          </a:prstGeom>
        </p:spPr>
      </p:pic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F533F2AD-21E2-C3E7-3482-BB94F0517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83" y="3953279"/>
            <a:ext cx="2740143" cy="2567686"/>
          </a:xfrm>
          <a:prstGeom prst="rect">
            <a:avLst/>
          </a:prstGeom>
        </p:spPr>
      </p:pic>
      <p:pic>
        <p:nvPicPr>
          <p:cNvPr id="11" name="Picture 10" descr="File:University of Macau logo.svg - Wikimedia Commons">
            <a:extLst>
              <a:ext uri="{FF2B5EF4-FFF2-40B4-BE49-F238E27FC236}">
                <a16:creationId xmlns:a16="http://schemas.microsoft.com/office/drawing/2014/main" id="{40D5CDF9-C258-2A45-2BB3-10B9F874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76" y="417207"/>
            <a:ext cx="1439753" cy="14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61BB-01E7-9F28-2C70-F987D4F16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tissue optics &amp; course overview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8743-27E4-A090-139E-8E1F80379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Basic theories behind forward data generation, including photon transport and parameterized HRF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How to generate forward models from segmented brain atlases and given </a:t>
            </a:r>
            <a:r>
              <a:rPr lang="en-GB" dirty="0" err="1"/>
              <a:t>optode</a:t>
            </a:r>
            <a:r>
              <a:rPr lang="en-GB" dirty="0"/>
              <a:t> montages using </a:t>
            </a:r>
            <a:r>
              <a:rPr lang="en-GB" dirty="0" err="1"/>
              <a:t>NIRFASTerFF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dirty="0"/>
              <a:t>How to simulate realistic </a:t>
            </a:r>
            <a:r>
              <a:rPr lang="en-GB" dirty="0" err="1"/>
              <a:t>fNIRS</a:t>
            </a:r>
            <a:r>
              <a:rPr lang="en-GB" dirty="0"/>
              <a:t> signals given a desired activation location and HRF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0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F53A8-BF40-01DC-12FD-BBBD8C644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of Light 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8A0C-32DC-F302-6E3C-D5B5F476C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Analytical Models</a:t>
            </a:r>
          </a:p>
          <a:p>
            <a:pPr lvl="1"/>
            <a:r>
              <a:rPr lang="en-GB" dirty="0"/>
              <a:t>Assumes Simple Homogenous Models</a:t>
            </a:r>
          </a:p>
          <a:p>
            <a:pPr lvl="1"/>
            <a:r>
              <a:rPr lang="en-GB" dirty="0"/>
              <a:t>Computationally fast</a:t>
            </a:r>
          </a:p>
          <a:p>
            <a:r>
              <a:rPr lang="en-GB" dirty="0"/>
              <a:t>Stochastic Models</a:t>
            </a:r>
          </a:p>
          <a:p>
            <a:pPr lvl="1"/>
            <a:r>
              <a:rPr lang="en-GB" dirty="0"/>
              <a:t>Considered as most accurate</a:t>
            </a:r>
          </a:p>
          <a:p>
            <a:pPr lvl="1"/>
            <a:r>
              <a:rPr lang="en-GB" dirty="0"/>
              <a:t>Computationally Expensive</a:t>
            </a:r>
          </a:p>
          <a:p>
            <a:r>
              <a:rPr lang="en-GB" dirty="0"/>
              <a:t>Numerical Models</a:t>
            </a:r>
          </a:p>
          <a:p>
            <a:pPr lvl="1"/>
            <a:r>
              <a:rPr lang="en-GB" dirty="0"/>
              <a:t>An approximation based on mathematical equations</a:t>
            </a:r>
          </a:p>
        </p:txBody>
      </p:sp>
    </p:spTree>
    <p:extLst>
      <p:ext uri="{BB962C8B-B14F-4D97-AF65-F5344CB8AC3E}">
        <p14:creationId xmlns:p14="http://schemas.microsoft.com/office/powerpoint/2010/main" val="63702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In most simplest form, uses Beer-Lambert Law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65E71-9452-9AC6-A3CD-FCBBBACB0673}"/>
                  </a:ext>
                </a:extLst>
              </p:cNvPr>
              <p:cNvSpPr txBox="1"/>
              <p:nvPr/>
            </p:nvSpPr>
            <p:spPr>
              <a:xfrm>
                <a:off x="3260686" y="2348881"/>
                <a:ext cx="1978427" cy="1718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65E71-9452-9AC6-A3CD-FCBBBACB0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686" y="2348881"/>
                <a:ext cx="1978427" cy="1718997"/>
              </a:xfrm>
              <a:prstGeom prst="rect">
                <a:avLst/>
              </a:prstGeom>
              <a:blipFill>
                <a:blip r:embed="rId2"/>
                <a:stretch>
                  <a:fillRect l="-7006" t="-730" r="-6369" b="-2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A4096F-94C6-FEC8-8FE0-38C3DDE6E2C5}"/>
                  </a:ext>
                </a:extLst>
              </p:cNvPr>
              <p:cNvSpPr txBox="1"/>
              <p:nvPr/>
            </p:nvSpPr>
            <p:spPr>
              <a:xfrm>
                <a:off x="6439256" y="2426965"/>
                <a:ext cx="2172198" cy="1174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/>
                  <a:t>= Measured intensity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dirty="0"/>
                  <a:t> = Input Intensity</a:t>
                </a:r>
              </a:p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= effective attenuation</a:t>
                </a:r>
              </a:p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 = distance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A4096F-94C6-FEC8-8FE0-38C3DDE6E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256" y="2426965"/>
                <a:ext cx="2172198" cy="1174937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44">
            <a:extLst>
              <a:ext uri="{FF2B5EF4-FFF2-40B4-BE49-F238E27FC236}">
                <a16:creationId xmlns:a16="http://schemas.microsoft.com/office/drawing/2014/main" id="{D8B00F39-8154-C87D-BE32-1791689532A9}"/>
              </a:ext>
            </a:extLst>
          </p:cNvPr>
          <p:cNvSpPr>
            <a:spLocks/>
          </p:cNvSpPr>
          <p:nvPr/>
        </p:nvSpPr>
        <p:spPr bwMode="auto">
          <a:xfrm>
            <a:off x="4371593" y="4266095"/>
            <a:ext cx="3657600" cy="927100"/>
          </a:xfrm>
          <a:custGeom>
            <a:avLst/>
            <a:gdLst>
              <a:gd name="T0" fmla="*/ 0 w 2304"/>
              <a:gd name="T1" fmla="*/ 2147483647 h 584"/>
              <a:gd name="T2" fmla="*/ 2147483647 w 2304"/>
              <a:gd name="T3" fmla="*/ 2147483647 h 584"/>
              <a:gd name="T4" fmla="*/ 2147483647 w 2304"/>
              <a:gd name="T5" fmla="*/ 2147483647 h 584"/>
              <a:gd name="T6" fmla="*/ 2147483647 w 2304"/>
              <a:gd name="T7" fmla="*/ 2147483647 h 584"/>
              <a:gd name="T8" fmla="*/ 2147483647 w 2304"/>
              <a:gd name="T9" fmla="*/ 2147483647 h 584"/>
              <a:gd name="T10" fmla="*/ 2147483647 w 2304"/>
              <a:gd name="T11" fmla="*/ 2147483647 h 58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304"/>
              <a:gd name="T19" fmla="*/ 0 h 584"/>
              <a:gd name="T20" fmla="*/ 2304 w 2304"/>
              <a:gd name="T21" fmla="*/ 584 h 58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304" h="584">
                <a:moveTo>
                  <a:pt x="0" y="344"/>
                </a:moveTo>
                <a:cubicBezTo>
                  <a:pt x="4" y="228"/>
                  <a:pt x="8" y="112"/>
                  <a:pt x="48" y="56"/>
                </a:cubicBezTo>
                <a:cubicBezTo>
                  <a:pt x="88" y="0"/>
                  <a:pt x="168" y="8"/>
                  <a:pt x="240" y="8"/>
                </a:cubicBezTo>
                <a:cubicBezTo>
                  <a:pt x="312" y="8"/>
                  <a:pt x="344" y="24"/>
                  <a:pt x="480" y="56"/>
                </a:cubicBezTo>
                <a:cubicBezTo>
                  <a:pt x="616" y="88"/>
                  <a:pt x="752" y="112"/>
                  <a:pt x="1056" y="200"/>
                </a:cubicBezTo>
                <a:cubicBezTo>
                  <a:pt x="1360" y="288"/>
                  <a:pt x="1832" y="436"/>
                  <a:pt x="2304" y="58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48">
            <a:extLst>
              <a:ext uri="{FF2B5EF4-FFF2-40B4-BE49-F238E27FC236}">
                <a16:creationId xmlns:a16="http://schemas.microsoft.com/office/drawing/2014/main" id="{BA93F443-8757-B5C3-7CE3-ACE29670A011}"/>
              </a:ext>
            </a:extLst>
          </p:cNvPr>
          <p:cNvGrpSpPr>
            <a:grpSpLocks/>
          </p:cNvGrpSpPr>
          <p:nvPr/>
        </p:nvGrpSpPr>
        <p:grpSpPr bwMode="auto">
          <a:xfrm>
            <a:off x="7190993" y="4005745"/>
            <a:ext cx="2644775" cy="882650"/>
            <a:chOff x="3504" y="3188"/>
            <a:chExt cx="1666" cy="556"/>
          </a:xfrm>
        </p:grpSpPr>
        <p:sp>
          <p:nvSpPr>
            <p:cNvPr id="7" name="Line 45">
              <a:extLst>
                <a:ext uri="{FF2B5EF4-FFF2-40B4-BE49-F238E27FC236}">
                  <a16:creationId xmlns:a16="http://schemas.microsoft.com/office/drawing/2014/main" id="{71CA96F4-993C-2931-1AB6-FED4F4A9B5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3408"/>
              <a:ext cx="81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46">
              <a:extLst>
                <a:ext uri="{FF2B5EF4-FFF2-40B4-BE49-F238E27FC236}">
                  <a16:creationId xmlns:a16="http://schemas.microsoft.com/office/drawing/2014/main" id="{A6C56DB6-AC70-3A8E-B9BF-D0EE4458F3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3188"/>
              <a:ext cx="90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Slope </a:t>
              </a:r>
            </a:p>
            <a:p>
              <a:r>
                <a:rPr lang="en-US" dirty="0" err="1">
                  <a:latin typeface="Symbol" pitchFamily="18" charset="2"/>
                </a:rPr>
                <a:t>m</a:t>
              </a:r>
              <a:r>
                <a:rPr lang="en-US" baseline="-25000" dirty="0" err="1"/>
                <a:t>eff</a:t>
              </a:r>
              <a:r>
                <a:rPr lang="en-US" dirty="0"/>
                <a:t> = -(3</a:t>
              </a:r>
              <a:r>
                <a:rPr lang="en-US" dirty="0">
                  <a:latin typeface="Symbol" pitchFamily="18" charset="2"/>
                </a:rPr>
                <a:t>m</a:t>
              </a:r>
              <a:r>
                <a:rPr lang="en-US" baseline="-25000" dirty="0"/>
                <a:t>a</a:t>
              </a:r>
              <a:r>
                <a:rPr lang="en-US" dirty="0">
                  <a:latin typeface="Symbol" pitchFamily="18" charset="2"/>
                </a:rPr>
                <a:t>m</a:t>
              </a:r>
              <a:r>
                <a:rPr lang="en-US" baseline="-25000" dirty="0"/>
                <a:t>s</a:t>
              </a:r>
              <a:r>
                <a:rPr lang="en-US" baseline="30000" dirty="0"/>
                <a:t>/</a:t>
              </a:r>
              <a:r>
                <a:rPr lang="en-US" dirty="0"/>
                <a:t>)</a:t>
              </a:r>
              <a:r>
                <a:rPr lang="en-US" baseline="30000" dirty="0"/>
                <a:t>1/2</a:t>
              </a:r>
            </a:p>
          </p:txBody>
        </p:sp>
      </p:grpSp>
      <p:grpSp>
        <p:nvGrpSpPr>
          <p:cNvPr id="19" name="Group 50">
            <a:extLst>
              <a:ext uri="{FF2B5EF4-FFF2-40B4-BE49-F238E27FC236}">
                <a16:creationId xmlns:a16="http://schemas.microsoft.com/office/drawing/2014/main" id="{4E1DC133-280B-8DE0-EC98-5729DCC25017}"/>
              </a:ext>
            </a:extLst>
          </p:cNvPr>
          <p:cNvGrpSpPr>
            <a:grpSpLocks/>
          </p:cNvGrpSpPr>
          <p:nvPr/>
        </p:nvGrpSpPr>
        <p:grpSpPr bwMode="auto">
          <a:xfrm>
            <a:off x="2695193" y="4050198"/>
            <a:ext cx="5410200" cy="1693863"/>
            <a:chOff x="672" y="3216"/>
            <a:chExt cx="3408" cy="1067"/>
          </a:xfrm>
        </p:grpSpPr>
        <p:sp>
          <p:nvSpPr>
            <p:cNvPr id="20" name="Line 40">
              <a:extLst>
                <a:ext uri="{FF2B5EF4-FFF2-40B4-BE49-F238E27FC236}">
                  <a16:creationId xmlns:a16="http://schemas.microsoft.com/office/drawing/2014/main" id="{855ADADB-D071-387B-1556-46763EF147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216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41">
              <a:extLst>
                <a:ext uri="{FF2B5EF4-FFF2-40B4-BE49-F238E27FC236}">
                  <a16:creationId xmlns:a16="http://schemas.microsoft.com/office/drawing/2014/main" id="{C6BBB54B-2605-6E00-0AA8-995E54A43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4128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42">
              <a:extLst>
                <a:ext uri="{FF2B5EF4-FFF2-40B4-BE49-F238E27FC236}">
                  <a16:creationId xmlns:a16="http://schemas.microsoft.com/office/drawing/2014/main" id="{0FAFF4A9-25AC-0E1A-C0BD-F70CDBC57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456"/>
              <a:ext cx="799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Log(Intensity)</a:t>
              </a:r>
            </a:p>
          </p:txBody>
        </p:sp>
        <p:sp>
          <p:nvSpPr>
            <p:cNvPr id="23" name="Text Box 49">
              <a:extLst>
                <a:ext uri="{FF2B5EF4-FFF2-40B4-BE49-F238E27FC236}">
                  <a16:creationId xmlns:a16="http://schemas.microsoft.com/office/drawing/2014/main" id="{F3A700CF-BE60-5353-F557-6428505CFC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4089"/>
              <a:ext cx="39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depth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748680"/>
          </a:xfrm>
        </p:spPr>
        <p:txBody>
          <a:bodyPr>
            <a:normAutofit/>
          </a:bodyPr>
          <a:lstStyle/>
          <a:p>
            <a:r>
              <a:rPr lang="en-US" dirty="0"/>
              <a:t>Modified Beer-Lambert Law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65E71-9452-9AC6-A3CD-FCBBBACB0673}"/>
                  </a:ext>
                </a:extLst>
              </p:cNvPr>
              <p:cNvSpPr txBox="1"/>
              <p:nvPr/>
            </p:nvSpPr>
            <p:spPr>
              <a:xfrm>
                <a:off x="2308348" y="2483896"/>
                <a:ext cx="3798925" cy="17277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𝐷𝑃𝐹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𝐷𝑃𝐹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165E71-9452-9AC6-A3CD-FCBBBACB0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48" y="2483896"/>
                <a:ext cx="3798925" cy="1727781"/>
              </a:xfrm>
              <a:prstGeom prst="rect">
                <a:avLst/>
              </a:prstGeom>
              <a:blipFill>
                <a:blip r:embed="rId2"/>
                <a:stretch>
                  <a:fillRect l="-3667" t="-730" r="-3333" b="-29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AC2E8-85BD-EB86-4978-68E2783891B9}"/>
                  </a:ext>
                </a:extLst>
              </p:cNvPr>
              <p:cNvSpPr txBox="1"/>
              <p:nvPr/>
            </p:nvSpPr>
            <p:spPr>
              <a:xfrm>
                <a:off x="6439256" y="2426965"/>
                <a:ext cx="2172198" cy="1174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180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dirty="0"/>
                  <a:t>= Measured intensity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GB" dirty="0"/>
                  <a:t> = Input Intensity</a:t>
                </a:r>
              </a:p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dirty="0"/>
                  <a:t>  = effective attenuation</a:t>
                </a:r>
              </a:p>
              <a:p>
                <a14:m>
                  <m:oMath xmlns:m="http://schemas.openxmlformats.org/officeDocument/2006/math">
                    <m:r>
                      <a:rPr lang="en-GB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 = distance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3AC2E8-85BD-EB86-4978-68E278389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256" y="2426965"/>
                <a:ext cx="2172198" cy="1174937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4602B45-22CD-31D7-C4A0-E9A13CF24927}"/>
              </a:ext>
            </a:extLst>
          </p:cNvPr>
          <p:cNvSpPr txBox="1"/>
          <p:nvPr/>
        </p:nvSpPr>
        <p:spPr>
          <a:xfrm>
            <a:off x="1225689" y="4437490"/>
            <a:ext cx="46902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DPF represents the increase in the light pathlength due to scattering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/>
              <a:t>G</a:t>
            </a:r>
            <a:r>
              <a:rPr lang="en-GB" dirty="0"/>
              <a:t> represents the scattering properties of the tissue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7D496A-FC55-C29C-A3B9-03625120AD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021" y="3715168"/>
            <a:ext cx="3157583" cy="1444645"/>
          </a:xfrm>
          <a:prstGeom prst="rect">
            <a:avLst/>
          </a:prstGeom>
        </p:spPr>
      </p:pic>
      <p:pic>
        <p:nvPicPr>
          <p:cNvPr id="20" name="Picture 1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7FC53EF-3925-80EB-C106-ECB62F9EF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12" y="274983"/>
            <a:ext cx="4752020" cy="141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53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5767-1083-2E13-33B2-D723219F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Analytical Models in fNIRS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D96505-DE33-6DBC-3536-B4C79E98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60" y="1436298"/>
            <a:ext cx="6009640" cy="24530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95F92A-00A8-83C0-D989-E5FDEDF68134}"/>
              </a:ext>
            </a:extLst>
          </p:cNvPr>
          <p:cNvSpPr txBox="1"/>
          <p:nvPr/>
        </p:nvSpPr>
        <p:spPr>
          <a:xfrm>
            <a:off x="7154768" y="5803509"/>
            <a:ext cx="46714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Graphics by: Kevin </a:t>
            </a:r>
            <a:r>
              <a:rPr lang="en-GB" sz="1000" dirty="0" err="1"/>
              <a:t>Mandrick</a:t>
            </a:r>
            <a:r>
              <a:rPr lang="en-GB" sz="1000" dirty="0"/>
              <a:t>, </a:t>
            </a:r>
            <a:r>
              <a:rPr lang="en-GB" sz="1000" dirty="0" err="1"/>
              <a:t>Institut</a:t>
            </a:r>
            <a:r>
              <a:rPr lang="en-GB" sz="1000" dirty="0"/>
              <a:t> </a:t>
            </a:r>
            <a:r>
              <a:rPr lang="en-GB" sz="1000" dirty="0" err="1"/>
              <a:t>Supérieur</a:t>
            </a:r>
            <a:r>
              <a:rPr lang="en-GB" sz="1000" dirty="0"/>
              <a:t> de </a:t>
            </a:r>
            <a:r>
              <a:rPr lang="en-GB" sz="1000" dirty="0" err="1"/>
              <a:t>l'Aéronautique</a:t>
            </a:r>
            <a:r>
              <a:rPr lang="en-GB" sz="1000" dirty="0"/>
              <a:t> et de </a:t>
            </a:r>
            <a:r>
              <a:rPr lang="en-GB" sz="1000" dirty="0" err="1"/>
              <a:t>l'Espace</a:t>
            </a:r>
            <a:r>
              <a:rPr lang="en-GB" sz="1000" dirty="0"/>
              <a:t> (ISAE)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EA2678-9466-ABE8-D4DD-F96A71346E20}"/>
                  </a:ext>
                </a:extLst>
              </p:cNvPr>
              <p:cNvSpPr txBox="1"/>
              <p:nvPr/>
            </p:nvSpPr>
            <p:spPr>
              <a:xfrm>
                <a:off x="7012428" y="2026696"/>
                <a:ext cx="4523354" cy="11785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𝑟𝑒𝑠𝑡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𝑟𝑒𝑠𝑡</m:t>
                            </m:r>
                          </m:sub>
                        </m:sSub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𝑡𝑎𝑠𝑘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𝑡𝑎𝑠𝑘</m:t>
                            </m:r>
                          </m:sub>
                        </m:sSub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EA2678-9466-ABE8-D4DD-F96A71346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428" y="2026696"/>
                <a:ext cx="4523354" cy="1178528"/>
              </a:xfrm>
              <a:prstGeom prst="rect">
                <a:avLst/>
              </a:prstGeom>
              <a:blipFill>
                <a:blip r:embed="rId3"/>
                <a:stretch>
                  <a:fillRect l="-3361" r="-2801" b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47B70A-FF66-0310-73EE-28C60DD11940}"/>
                  </a:ext>
                </a:extLst>
              </p:cNvPr>
              <p:cNvSpPr txBox="1"/>
              <p:nvPr/>
            </p:nvSpPr>
            <p:spPr>
              <a:xfrm>
                <a:off x="1566668" y="3987576"/>
                <a:ext cx="9086013" cy="15478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𝑡𝑎𝑠𝑘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𝑟𝑒𝑠𝑡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𝑡𝑎𝑠𝑘</m:t>
                            </m:r>
                          </m:sub>
                        </m:sSub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𝑟𝑒𝑠𝑡</m:t>
                            </m:r>
                          </m:sub>
                        </m:sSub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ea typeface="Cambria Math" panose="02040503050406030204" pitchFamily="18" charset="0"/>
                </a:endParaRPr>
              </a:p>
              <a:p>
                <a:endParaRPr lang="en-GB" sz="24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 smtClean="0">
                        <a:latin typeface="Cambria Math" panose="02040503050406030204" pitchFamily="18" charset="0"/>
                      </a:rPr>
                      <m:t>𝑙𝑜𝑔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𝑡𝑎𝑠𝑘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𝑟𝑒𝑠𝑡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𝐷𝑃𝐹</m:t>
                    </m:r>
                  </m:oMath>
                </a14:m>
                <a:endParaRPr lang="en-GB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E47B70A-FF66-0310-73EE-28C60DD11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68" y="3987576"/>
                <a:ext cx="9086013" cy="1547860"/>
              </a:xfrm>
              <a:prstGeom prst="rect">
                <a:avLst/>
              </a:prstGeom>
              <a:blipFill>
                <a:blip r:embed="rId4"/>
                <a:stretch>
                  <a:fillRect l="-1536" r="-559" b="-4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078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643" y="1414669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/>
              <a:t>More advanced work based on Green’s function of the diffusion approximation to the Radiative Transfer Equation</a:t>
            </a:r>
          </a:p>
          <a:p>
            <a:pPr lvl="1"/>
            <a:r>
              <a:rPr lang="en-US" dirty="0"/>
              <a:t>Simple geometries with nearly homogeneous interior values</a:t>
            </a:r>
          </a:p>
          <a:p>
            <a:pPr lvl="2"/>
            <a:r>
              <a:rPr lang="en-US" dirty="0"/>
              <a:t>Infinite</a:t>
            </a:r>
          </a:p>
          <a:p>
            <a:pPr lvl="2"/>
            <a:r>
              <a:rPr lang="en-US" dirty="0"/>
              <a:t>Semi-infinite</a:t>
            </a:r>
          </a:p>
          <a:p>
            <a:pPr lvl="2"/>
            <a:r>
              <a:rPr lang="en-US" dirty="0"/>
              <a:t>Cylinders</a:t>
            </a:r>
          </a:p>
          <a:p>
            <a:pPr lvl="2"/>
            <a:r>
              <a:rPr lang="en-US" dirty="0"/>
              <a:t>Spheres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A890AC-B36A-726E-CA3B-53CDC84B2A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44" t="7261" r="18788"/>
          <a:stretch/>
        </p:blipFill>
        <p:spPr>
          <a:xfrm rot="5400000">
            <a:off x="7039454" y="1134723"/>
            <a:ext cx="2861799" cy="7045727"/>
          </a:xfrm>
          <a:prstGeom prst="rect">
            <a:avLst/>
          </a:prstGeom>
        </p:spPr>
      </p:pic>
      <p:pic>
        <p:nvPicPr>
          <p:cNvPr id="5" name="Picture 4" descr="A picture containing text, font, screenshot, algebra&#10;&#10;Description automatically generated">
            <a:extLst>
              <a:ext uri="{FF2B5EF4-FFF2-40B4-BE49-F238E27FC236}">
                <a16:creationId xmlns:a16="http://schemas.microsoft.com/office/drawing/2014/main" id="{6947BFCF-CD76-BEA9-F868-A289601BC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896" y="191348"/>
            <a:ext cx="3684104" cy="176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22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Monte Carlo models</a:t>
            </a:r>
          </a:p>
          <a:p>
            <a:pPr lvl="1"/>
            <a:r>
              <a:rPr lang="en-US" dirty="0"/>
              <a:t>Initial works of Lihong Wang and Steven Jacques</a:t>
            </a:r>
          </a:p>
          <a:p>
            <a:pPr marL="1016000" lvl="2" indent="0">
              <a:buNone/>
            </a:pPr>
            <a:r>
              <a:rPr lang="en-US" dirty="0">
                <a:hlinkClick r:id="rId2"/>
              </a:rPr>
              <a:t>https://omlc.org/software/mc/</a:t>
            </a:r>
            <a:endParaRPr lang="en-US" dirty="0"/>
          </a:p>
          <a:p>
            <a:pPr lvl="2"/>
            <a:r>
              <a:rPr lang="en-US" dirty="0"/>
              <a:t>Drop-dead simple MC</a:t>
            </a:r>
          </a:p>
          <a:p>
            <a:pPr lvl="2"/>
            <a:r>
              <a:rPr lang="en-US" dirty="0"/>
              <a:t>Simple MC</a:t>
            </a:r>
          </a:p>
          <a:p>
            <a:pPr lvl="2"/>
            <a:r>
              <a:rPr lang="en-US" dirty="0"/>
              <a:t>Fluorescent Monte Carlo</a:t>
            </a:r>
          </a:p>
          <a:p>
            <a:pPr lvl="2"/>
            <a:r>
              <a:rPr lang="en-US" dirty="0"/>
              <a:t>Polarized Light MC</a:t>
            </a:r>
          </a:p>
          <a:p>
            <a:pPr lvl="2"/>
            <a:r>
              <a:rPr lang="en-US" dirty="0"/>
              <a:t>MC for Multi-Layered</a:t>
            </a:r>
          </a:p>
          <a:p>
            <a:pPr lvl="1"/>
            <a:r>
              <a:rPr lang="en-US" dirty="0"/>
              <a:t>Perturbation Monte Carlo (</a:t>
            </a:r>
            <a:r>
              <a:rPr lang="en-US" dirty="0" err="1"/>
              <a:t>Intes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CPU/GPU based MC (Fang, </a:t>
            </a:r>
            <a:r>
              <a:rPr lang="en-US" dirty="0" err="1"/>
              <a:t>Intes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Mesh-based MC (Fang)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Models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812021" y="3284980"/>
            <a:ext cx="2742797" cy="2621854"/>
            <a:chOff x="5791200" y="2438401"/>
            <a:chExt cx="3474747" cy="3237658"/>
          </a:xfrm>
        </p:grpSpPr>
        <p:pic>
          <p:nvPicPr>
            <p:cNvPr id="4" name="Picture 3" descr="Screen shot 2011-10-25 at 23.34.2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1200" y="2438401"/>
              <a:ext cx="2971800" cy="2977515"/>
            </a:xfrm>
            <a:prstGeom prst="rect">
              <a:avLst/>
            </a:prstGeom>
          </p:spPr>
        </p:pic>
        <p:sp>
          <p:nvSpPr>
            <p:cNvPr id="5" name="Rectangle 37"/>
            <p:cNvSpPr>
              <a:spLocks noChangeArrowheads="1"/>
            </p:cNvSpPr>
            <p:nvPr/>
          </p:nvSpPr>
          <p:spPr bwMode="auto">
            <a:xfrm>
              <a:off x="6934200" y="5334000"/>
              <a:ext cx="2331747" cy="3420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1200" i="1" dirty="0"/>
                <a:t>Fang </a:t>
              </a:r>
              <a:r>
                <a:rPr lang="en-US" sz="1200" i="1" dirty="0" err="1"/>
                <a:t>BioOpt</a:t>
              </a:r>
              <a:r>
                <a:rPr lang="en-US" sz="1200" i="1" dirty="0"/>
                <a:t> Exp (2011)</a:t>
              </a:r>
            </a:p>
          </p:txBody>
        </p: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48067356-1D1D-062C-B06D-36A9B26EB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026" y="352002"/>
            <a:ext cx="2920633" cy="341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Finite Elements</a:t>
            </a:r>
          </a:p>
          <a:p>
            <a:pPr lvl="1"/>
            <a:r>
              <a:rPr lang="en-US" sz="1800" dirty="0"/>
              <a:t>Nodal based</a:t>
            </a:r>
          </a:p>
          <a:p>
            <a:pPr lvl="1"/>
            <a:r>
              <a:rPr lang="en-US" sz="1800" dirty="0"/>
              <a:t>Element based</a:t>
            </a:r>
          </a:p>
          <a:p>
            <a:pPr lvl="1"/>
            <a:endParaRPr lang="en-US" sz="1800" dirty="0"/>
          </a:p>
          <a:p>
            <a:r>
              <a:rPr lang="en-US" dirty="0"/>
              <a:t>Finite Difference</a:t>
            </a:r>
          </a:p>
          <a:p>
            <a:pPr lvl="1"/>
            <a:r>
              <a:rPr lang="en-US" sz="1800" dirty="0"/>
              <a:t>Nodal based</a:t>
            </a:r>
          </a:p>
          <a:p>
            <a:pPr lvl="1"/>
            <a:endParaRPr lang="en-US" sz="1800" dirty="0"/>
          </a:p>
          <a:p>
            <a:r>
              <a:rPr lang="en-US" dirty="0"/>
              <a:t>Finite Volume</a:t>
            </a:r>
          </a:p>
          <a:p>
            <a:pPr lvl="1"/>
            <a:r>
              <a:rPr lang="en-US" sz="1800" dirty="0"/>
              <a:t>Volume around each element</a:t>
            </a:r>
          </a:p>
          <a:p>
            <a:pPr marL="457200" lvl="1" indent="0">
              <a:buNone/>
            </a:pPr>
            <a:r>
              <a:rPr lang="en-US" sz="1800" dirty="0"/>
              <a:t> </a:t>
            </a:r>
            <a:endParaRPr lang="en-US" dirty="0"/>
          </a:p>
          <a:p>
            <a:r>
              <a:rPr lang="en-US" dirty="0"/>
              <a:t>Boundary Elements</a:t>
            </a:r>
          </a:p>
          <a:p>
            <a:pPr lvl="1"/>
            <a:r>
              <a:rPr lang="en-US" sz="1800" dirty="0"/>
              <a:t>Only requires surface mesh</a:t>
            </a:r>
          </a:p>
          <a:p>
            <a:endParaRPr lang="en-US" sz="2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Models</a:t>
            </a:r>
          </a:p>
        </p:txBody>
      </p:sp>
      <p:pic>
        <p:nvPicPr>
          <p:cNvPr id="215042" name="Picture 2" descr="http://rsif.royalsocietypublishing.org/content/royinterface/11/91/20130914/F9.large.jpg?width=800&amp;height=600&amp;carouse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3855106"/>
            <a:ext cx="3024466" cy="189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7"/>
          <p:cNvSpPr>
            <a:spLocks noChangeArrowheads="1"/>
          </p:cNvSpPr>
          <p:nvPr/>
        </p:nvSpPr>
        <p:spPr bwMode="auto">
          <a:xfrm>
            <a:off x="7944848" y="5762292"/>
            <a:ext cx="21563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nb-NO" sz="1200" i="1"/>
              <a:t>DOI: 10.1098/rsif.2013.0914 </a:t>
            </a:r>
            <a:endParaRPr lang="nb-NO" sz="1200" i="1" dirty="0" err="1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161" y="1694866"/>
            <a:ext cx="2903417" cy="1787057"/>
          </a:xfrm>
          <a:prstGeom prst="rect">
            <a:avLst/>
          </a:prstGeom>
        </p:spPr>
      </p:pic>
      <p:sp>
        <p:nvSpPr>
          <p:cNvPr id="12" name="Rectangle 37"/>
          <p:cNvSpPr>
            <a:spLocks noChangeArrowheads="1"/>
          </p:cNvSpPr>
          <p:nvPr/>
        </p:nvSpPr>
        <p:spPr bwMode="auto">
          <a:xfrm>
            <a:off x="7992082" y="3505889"/>
            <a:ext cx="250741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nb-NO" sz="1200" i="1" dirty="0"/>
              <a:t>DOI: </a:t>
            </a:r>
            <a:r>
              <a:rPr lang="cs-CZ" sz="1200" i="1" dirty="0"/>
              <a:t>10.1117/1.JBO.18.8.086007</a:t>
            </a:r>
            <a:r>
              <a:rPr lang="nb-NO" sz="12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651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13A444-7422-10B3-3980-C3CE469D3C35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0" y="35750"/>
            <a:ext cx="91440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GB" sz="4000" i="1" dirty="0">
                <a:latin typeface="+mj-lt"/>
                <a:ea typeface="+mj-ea"/>
                <a:cs typeface="+mj-cs"/>
              </a:rPr>
              <a:t>(very)</a:t>
            </a:r>
          </a:p>
          <a:p>
            <a:pPr algn="ctr">
              <a:defRPr/>
            </a:pPr>
            <a:r>
              <a:rPr lang="en-GB" sz="4000" dirty="0">
                <a:latin typeface="+mj-lt"/>
                <a:ea typeface="+mj-ea"/>
                <a:cs typeface="+mj-cs"/>
              </a:rPr>
              <a:t>Basic idea of Finite Element Modelling</a:t>
            </a: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AC697777-F5BD-9BFE-1B93-BABA4A5FB7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8" r="22898" b="57324"/>
          <a:stretch/>
        </p:blipFill>
        <p:spPr bwMode="auto">
          <a:xfrm>
            <a:off x="6334270" y="1583795"/>
            <a:ext cx="3240360" cy="1474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37B8002D-90F8-187B-84CE-3D0B2B5C4264}"/>
              </a:ext>
            </a:extLst>
          </p:cNvPr>
          <p:cNvGrpSpPr/>
          <p:nvPr/>
        </p:nvGrpSpPr>
        <p:grpSpPr>
          <a:xfrm>
            <a:off x="3575721" y="1671303"/>
            <a:ext cx="1305145" cy="1299165"/>
            <a:chOff x="2051720" y="1671302"/>
            <a:chExt cx="1305145" cy="129916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C10485-C054-1412-2ECA-AF7AB064A7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051720" y="1671302"/>
              <a:ext cx="1299165" cy="129916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DA7080E-5DE2-2B5E-A792-CDA4B30B4CBD}"/>
                </a:ext>
              </a:extLst>
            </p:cNvPr>
            <p:cNvCxnSpPr>
              <a:cxnSpLocks/>
            </p:cNvCxnSpPr>
            <p:nvPr/>
          </p:nvCxnSpPr>
          <p:spPr>
            <a:xfrm>
              <a:off x="2708865" y="2320885"/>
              <a:ext cx="64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616A407-C86F-DEE0-CC22-AE5D2FDB961B}"/>
                </a:ext>
              </a:extLst>
            </p:cNvPr>
            <p:cNvSpPr txBox="1"/>
            <p:nvPr/>
          </p:nvSpPr>
          <p:spPr>
            <a:xfrm>
              <a:off x="2889325" y="2033845"/>
              <a:ext cx="3145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C59634-E1D6-77BF-3D96-931CE9326EFF}"/>
              </a:ext>
            </a:extLst>
          </p:cNvPr>
          <p:cNvSpPr txBox="1"/>
          <p:nvPr/>
        </p:nvSpPr>
        <p:spPr>
          <a:xfrm>
            <a:off x="3800746" y="3361761"/>
            <a:ext cx="43156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Area of circle: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Exact analytical solution: </a:t>
            </a:r>
            <a:r>
              <a:rPr lang="el-GR" dirty="0">
                <a:latin typeface="Cambria Math" panose="02040503050406030204" pitchFamily="18" charset="0"/>
                <a:ea typeface="Cambria Math" panose="02040503050406030204" pitchFamily="18" charset="0"/>
              </a:rPr>
              <a:t>π</a:t>
            </a:r>
            <a:r>
              <a:rPr lang="en-GB" dirty="0">
                <a:latin typeface="Cambria Math" panose="02040503050406030204" pitchFamily="18" charset="0"/>
                <a:ea typeface="Cambria Math" panose="02040503050406030204" pitchFamily="18" charset="0"/>
              </a:rPr>
              <a:t>R</a:t>
            </a:r>
            <a:r>
              <a:rPr lang="en-GB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Approximate 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which equals exact solution as N tends to infinity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i.e. infinitely small S</a:t>
            </a:r>
            <a:r>
              <a:rPr lang="en-GB" baseline="-25000" dirty="0"/>
              <a:t>i</a:t>
            </a:r>
            <a:r>
              <a:rPr lang="en-GB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843BB7-A5DE-D6AA-7861-85911E01493C}"/>
                  </a:ext>
                </a:extLst>
              </p:cNvPr>
              <p:cNvSpPr txBox="1"/>
              <p:nvPr/>
            </p:nvSpPr>
            <p:spPr>
              <a:xfrm>
                <a:off x="6456040" y="4194086"/>
                <a:ext cx="1761444" cy="6058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𝑁𝑠𝑖𝑛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D843BB7-A5DE-D6AA-7861-85911E014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4194086"/>
                <a:ext cx="1761444" cy="605807"/>
              </a:xfrm>
              <a:prstGeom prst="rect">
                <a:avLst/>
              </a:prstGeom>
              <a:blipFill>
                <a:blip r:embed="rId3"/>
                <a:stretch>
                  <a:fillRect l="-37143" t="-114583" r="-2857" b="-1812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041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825226"/>
            <a:ext cx="7985230" cy="119873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set of partial differential </a:t>
            </a:r>
            <a:r>
              <a:rPr lang="en-US" b="1" dirty="0"/>
              <a:t>equations</a:t>
            </a:r>
            <a:r>
              <a:rPr lang="en-US" dirty="0"/>
              <a:t> that, together with the Lorentz force law, form the foundation of classical electrodynamics, classical optics, and electric circuits.</a:t>
            </a:r>
          </a:p>
        </p:txBody>
      </p:sp>
      <p:pic>
        <p:nvPicPr>
          <p:cNvPr id="1026" name="Picture 2" descr="ttp://www.antenna-theory.com/definitions/maxwellseq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1" y="3338990"/>
            <a:ext cx="4915853" cy="234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&quot;No&quot; Symbol 5"/>
          <p:cNvSpPr/>
          <p:nvPr/>
        </p:nvSpPr>
        <p:spPr>
          <a:xfrm>
            <a:off x="3423656" y="1358770"/>
            <a:ext cx="5400000" cy="5400000"/>
          </a:xfrm>
          <a:prstGeom prst="noSmoking">
            <a:avLst>
              <a:gd name="adj" fmla="val 32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6E8FEB-A07C-3E8F-5EFA-F66EAF328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eaLnBrk="1" hangingPunct="1"/>
            <a:r>
              <a:rPr lang="en-GB" altLang="x-none" dirty="0">
                <a:ea typeface="ＭＳ Ｐゴシック" charset="-128"/>
              </a:rPr>
              <a:t>Modelling of light transport in tissue:</a:t>
            </a:r>
            <a:br>
              <a:rPr lang="en-GB" altLang="x-none" dirty="0">
                <a:ea typeface="ＭＳ Ｐゴシック" charset="-128"/>
              </a:rPr>
            </a:br>
            <a:r>
              <a:rPr lang="en-GB" altLang="x-none" dirty="0">
                <a:ea typeface="ＭＳ Ｐゴシック" charset="-128"/>
              </a:rPr>
              <a:t>Maxwell’s Equation</a:t>
            </a:r>
          </a:p>
        </p:txBody>
      </p:sp>
    </p:spTree>
    <p:extLst>
      <p:ext uri="{BB962C8B-B14F-4D97-AF65-F5344CB8AC3E}">
        <p14:creationId xmlns:p14="http://schemas.microsoft.com/office/powerpoint/2010/main" val="42202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7358C-DF33-5B57-007B-53DE1C05F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9104F3-3EBE-4217-50D5-96D1112667FA}"/>
              </a:ext>
            </a:extLst>
          </p:cNvPr>
          <p:cNvSpPr txBox="1">
            <a:spLocks/>
          </p:cNvSpPr>
          <p:nvPr/>
        </p:nvSpPr>
        <p:spPr>
          <a:xfrm>
            <a:off x="998805" y="1600200"/>
            <a:ext cx="10381957" cy="7491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Treating light as photons, and thus ignoring any wave effects, the propagation of light in tissue can be well described by the RTE</a:t>
            </a:r>
          </a:p>
          <a:p>
            <a:pPr>
              <a:spcBef>
                <a:spcPct val="20000"/>
              </a:spcBef>
              <a:buClrTx/>
              <a:defRPr/>
            </a:pPr>
            <a:endParaRPr lang="en-US" sz="3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90D47-7BC0-F534-4973-013AA6DF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Radiative</a:t>
            </a:r>
            <a:r>
              <a:rPr lang="en-US" dirty="0"/>
              <a:t> Transport Equation</a:t>
            </a:r>
          </a:p>
        </p:txBody>
      </p:sp>
      <p:pic>
        <p:nvPicPr>
          <p:cNvPr id="4" name="Content Placeholder 3" descr="Screen shot 2011-10-25 at 23.43.59.png">
            <a:extLst>
              <a:ext uri="{FF2B5EF4-FFF2-40B4-BE49-F238E27FC236}">
                <a16:creationId xmlns:a16="http://schemas.microsoft.com/office/drawing/2014/main" id="{DFE15548-06FE-18FD-6F3E-0B573060C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315" b="-2315"/>
          <a:stretch>
            <a:fillRect/>
          </a:stretch>
        </p:blipFill>
        <p:spPr>
          <a:xfrm>
            <a:off x="3473547" y="2332946"/>
            <a:ext cx="4724400" cy="1154671"/>
          </a:xfrm>
        </p:spPr>
      </p:pic>
      <p:grpSp>
        <p:nvGrpSpPr>
          <p:cNvPr id="3" name="Group 7">
            <a:extLst>
              <a:ext uri="{FF2B5EF4-FFF2-40B4-BE49-F238E27FC236}">
                <a16:creationId xmlns:a16="http://schemas.microsoft.com/office/drawing/2014/main" id="{375265B9-F8FA-C008-098D-EEE045560345}"/>
              </a:ext>
            </a:extLst>
          </p:cNvPr>
          <p:cNvGrpSpPr>
            <a:grpSpLocks/>
          </p:cNvGrpSpPr>
          <p:nvPr/>
        </p:nvGrpSpPr>
        <p:grpSpPr bwMode="auto">
          <a:xfrm>
            <a:off x="2976489" y="4128868"/>
            <a:ext cx="5486400" cy="1371600"/>
            <a:chOff x="1290" y="3010"/>
            <a:chExt cx="5080" cy="1850"/>
          </a:xfrm>
        </p:grpSpPr>
        <p:sp>
          <p:nvSpPr>
            <p:cNvPr id="6" name="Oval 8">
              <a:extLst>
                <a:ext uri="{FF2B5EF4-FFF2-40B4-BE49-F238E27FC236}">
                  <a16:creationId xmlns:a16="http://schemas.microsoft.com/office/drawing/2014/main" id="{BCA54B2C-8EA8-BA99-644E-232E40193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0" y="4060"/>
              <a:ext cx="180" cy="1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0FCCC8E5-7429-A4F2-88F5-B8B400219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0" y="3929"/>
              <a:ext cx="975" cy="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1200" noProof="1">
                  <a:latin typeface="Times New Roman" panose="02020603050405020304" pitchFamily="18" charset="0"/>
                </a:rPr>
                <a:t>Source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AFB2E169-6C09-0CEC-5544-9D8ACFC64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3420"/>
              <a:ext cx="37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3D1DD24E-CE10-2345-BDF5-581E4A0FC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860"/>
              <a:ext cx="37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9D41D13A-7E2B-1516-45DD-2D69E2DB4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140"/>
              <a:ext cx="378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2BF33D08-AE48-F99B-9AD0-B2301BA7E5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0" y="3060"/>
              <a:ext cx="1977" cy="1440"/>
              <a:chOff x="2340" y="3060"/>
              <a:chExt cx="1977" cy="1440"/>
            </a:xfrm>
          </p:grpSpPr>
          <p:sp>
            <p:nvSpPr>
              <p:cNvPr id="23" name="Line 14">
                <a:extLst>
                  <a:ext uri="{FF2B5EF4-FFF2-40B4-BE49-F238E27FC236}">
                    <a16:creationId xmlns:a16="http://schemas.microsoft.com/office/drawing/2014/main" id="{90B4C7EE-9273-FEEE-0C1A-B7A48BECB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40" y="3780"/>
                <a:ext cx="360" cy="36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Line 15">
                <a:extLst>
                  <a:ext uri="{FF2B5EF4-FFF2-40B4-BE49-F238E27FC236}">
                    <a16:creationId xmlns:a16="http://schemas.microsoft.com/office/drawing/2014/main" id="{1C09B54D-6601-2729-02B3-AD4AC2B88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360" cy="1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CFC56CF8-20A2-CD8E-911A-7B9D223F0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60" y="3780"/>
                <a:ext cx="180" cy="18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687540B4-FB72-2C41-895F-07667F84D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0" y="3780"/>
                <a:ext cx="360" cy="72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B8EB8396-6F4F-B1CA-4B4C-3FFACFA53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97" y="3060"/>
                <a:ext cx="720" cy="14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444F0608-4A73-96CA-D2A8-1CA4178AA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" y="4140"/>
              <a:ext cx="1440" cy="18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D7AEB468-09EC-F2AB-ABF0-0C52BA2736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80" y="3780"/>
              <a:ext cx="540" cy="54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CEEC9394-90D7-B38F-0A2E-A6DB9DDA2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780"/>
              <a:ext cx="900" cy="72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31041BC2-0B83-2341-73A9-8381B50729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0" y="4320"/>
              <a:ext cx="360" cy="180"/>
            </a:xfrm>
            <a:prstGeom prst="line">
              <a:avLst/>
            </a:prstGeom>
            <a:noFill/>
            <a:ln w="9525">
              <a:solidFill>
                <a:srgbClr val="339966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23">
              <a:extLst>
                <a:ext uri="{FF2B5EF4-FFF2-40B4-BE49-F238E27FC236}">
                  <a16:creationId xmlns:a16="http://schemas.microsoft.com/office/drawing/2014/main" id="{F75D9CF0-06ED-B08F-1825-9CF2C80FA6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00" y="3500"/>
              <a:ext cx="360" cy="36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Line 24">
              <a:extLst>
                <a:ext uri="{FF2B5EF4-FFF2-40B4-BE49-F238E27FC236}">
                  <a16:creationId xmlns:a16="http://schemas.microsoft.com/office/drawing/2014/main" id="{691546CA-1AE9-F0F9-78EB-40702C21C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0" y="3860"/>
              <a:ext cx="720" cy="180"/>
            </a:xfrm>
            <a:prstGeom prst="line">
              <a:avLst/>
            </a:prstGeom>
            <a:noFill/>
            <a:ln w="9525">
              <a:solidFill>
                <a:srgbClr val="333333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Box 25">
              <a:extLst>
                <a:ext uri="{FF2B5EF4-FFF2-40B4-BE49-F238E27FC236}">
                  <a16:creationId xmlns:a16="http://schemas.microsoft.com/office/drawing/2014/main" id="{CF1F7BC8-863A-7C1C-473F-07F10CCC5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0" y="401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26">
              <a:extLst>
                <a:ext uri="{FF2B5EF4-FFF2-40B4-BE49-F238E27FC236}">
                  <a16:creationId xmlns:a16="http://schemas.microsoft.com/office/drawing/2014/main" id="{B6910372-CC87-028B-3EFB-740561F29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0" y="417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27">
              <a:extLst>
                <a:ext uri="{FF2B5EF4-FFF2-40B4-BE49-F238E27FC236}">
                  <a16:creationId xmlns:a16="http://schemas.microsoft.com/office/drawing/2014/main" id="{EF6C77EF-04F3-4074-2818-453B340F6C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301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28">
              <a:extLst>
                <a:ext uri="{FF2B5EF4-FFF2-40B4-BE49-F238E27FC236}">
                  <a16:creationId xmlns:a16="http://schemas.microsoft.com/office/drawing/2014/main" id="{C0C85E02-572A-2C92-3C90-897D8E2DA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0" y="3730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pic>
        <p:nvPicPr>
          <p:cNvPr id="28" name="Picture 27" descr="Screen shot 2011-10-25 at 23.44.08.png">
            <a:extLst>
              <a:ext uri="{FF2B5EF4-FFF2-40B4-BE49-F238E27FC236}">
                <a16:creationId xmlns:a16="http://schemas.microsoft.com/office/drawing/2014/main" id="{B36C5CFF-8710-D28A-B7D4-752F591DA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876" y="3489022"/>
            <a:ext cx="3328416" cy="7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29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BEDA-107A-A17E-2867-B8A2DF34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8F019A-025B-1E16-0061-C2E9AAFC144F}"/>
              </a:ext>
            </a:extLst>
          </p:cNvPr>
          <p:cNvSpPr txBox="1">
            <a:spLocks/>
          </p:cNvSpPr>
          <p:nvPr/>
        </p:nvSpPr>
        <p:spPr>
          <a:xfrm>
            <a:off x="998805" y="1600200"/>
            <a:ext cx="10381957" cy="480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Treating light as photons, and thus ignoring any wave effects, the propagation of light in tissue can be well described by the RTE</a:t>
            </a:r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ClrTx/>
              <a:buFont typeface="Arial" pitchFamily="34" charset="0"/>
              <a:buChar char="•"/>
              <a:defRPr/>
            </a:pPr>
            <a:endParaRPr lang="en-US" sz="32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Complex implementation within a numerical setting. 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use of an appropriate method for the incorporation of the angular dependence of the problem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Discrete Ordinates (</a:t>
            </a:r>
            <a:r>
              <a:rPr lang="en-US" sz="3200" dirty="0"/>
              <a:t>L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athrop, 1972; DANTSYS)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Upwind difference scheme (Klose)</a:t>
            </a: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dirty="0"/>
              <a:t>Spherical harmonics expansion (Boas, Jiang)</a:t>
            </a:r>
          </a:p>
          <a:p>
            <a:pPr marL="1257300" lvl="2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Simplified spherical harmonics (Klose, Chu)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0488EC-2AE5-0335-49D6-99D8517C3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Radiative</a:t>
            </a:r>
            <a:r>
              <a:rPr lang="en-US" dirty="0"/>
              <a:t> Transport Equation</a:t>
            </a:r>
          </a:p>
        </p:txBody>
      </p:sp>
      <p:pic>
        <p:nvPicPr>
          <p:cNvPr id="4" name="Content Placeholder 3" descr="Screen shot 2011-10-25 at 23.43.59.png">
            <a:extLst>
              <a:ext uri="{FF2B5EF4-FFF2-40B4-BE49-F238E27FC236}">
                <a16:creationId xmlns:a16="http://schemas.microsoft.com/office/drawing/2014/main" id="{8793D739-B2EC-AAF6-03FB-D33955258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2315" b="-2315"/>
          <a:stretch>
            <a:fillRect/>
          </a:stretch>
        </p:blipFill>
        <p:spPr>
          <a:xfrm>
            <a:off x="3459480" y="2121930"/>
            <a:ext cx="4724400" cy="1154671"/>
          </a:xfrm>
        </p:spPr>
      </p:pic>
      <p:sp>
        <p:nvSpPr>
          <p:cNvPr id="3" name="&quot;No&quot; Symbol 2">
            <a:extLst>
              <a:ext uri="{FF2B5EF4-FFF2-40B4-BE49-F238E27FC236}">
                <a16:creationId xmlns:a16="http://schemas.microsoft.com/office/drawing/2014/main" id="{51C14CD1-A7CF-BDBF-2F58-2F464B2549E3}"/>
              </a:ext>
            </a:extLst>
          </p:cNvPr>
          <p:cNvSpPr/>
          <p:nvPr/>
        </p:nvSpPr>
        <p:spPr>
          <a:xfrm>
            <a:off x="3423656" y="1358770"/>
            <a:ext cx="5400000" cy="5400000"/>
          </a:xfrm>
          <a:prstGeom prst="noSmoking">
            <a:avLst>
              <a:gd name="adj" fmla="val 328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 descr="Screen shot 2011-10-25 at 23.44.08.png">
            <a:extLst>
              <a:ext uri="{FF2B5EF4-FFF2-40B4-BE49-F238E27FC236}">
                <a16:creationId xmlns:a16="http://schemas.microsoft.com/office/drawing/2014/main" id="{FB8298DE-DA6F-8332-2FA2-7FB3C703D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79" y="3221736"/>
            <a:ext cx="3328416" cy="7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4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00063"/>
            <a:ext cx="7772400" cy="1143000"/>
          </a:xfrm>
        </p:spPr>
        <p:txBody>
          <a:bodyPr/>
          <a:lstStyle/>
          <a:p>
            <a:pPr eaLnBrk="1" hangingPunct="1"/>
            <a:r>
              <a:rPr lang="en-GB" dirty="0"/>
              <a:t>Diffusion Approximation</a:t>
            </a:r>
          </a:p>
        </p:txBody>
      </p:sp>
      <p:sp>
        <p:nvSpPr>
          <p:cNvPr id="2056" name="Text Box 4"/>
          <p:cNvSpPr txBox="1">
            <a:spLocks noChangeArrowheads="1"/>
          </p:cNvSpPr>
          <p:nvPr/>
        </p:nvSpPr>
        <p:spPr bwMode="auto">
          <a:xfrm>
            <a:off x="355600" y="1367258"/>
            <a:ext cx="11653519" cy="954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160" tIns="46080" rIns="92160" bIns="46080" anchor="ctr" anchorCtr="1">
            <a:spAutoFit/>
          </a:bodyPr>
          <a:lstStyle/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 dirty="0"/>
              <a:t>Light transport in tissue is turbid (scatter-dominated), modelled by </a:t>
            </a:r>
            <a:r>
              <a:rPr lang="en-GB" sz="2800" i="1" dirty="0"/>
              <a:t>diffusion equation</a:t>
            </a:r>
            <a:r>
              <a:rPr lang="en-GB" sz="2800" dirty="0"/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885950" y="2368233"/>
            <a:ext cx="1543050" cy="1744662"/>
            <a:chOff x="228" y="1601"/>
            <a:chExt cx="972" cy="1099"/>
          </a:xfrm>
        </p:grpSpPr>
        <p:graphicFrame>
          <p:nvGraphicFramePr>
            <p:cNvPr id="2054" name="Object 6"/>
            <p:cNvGraphicFramePr>
              <a:graphicFrameLocks noChangeAspect="1"/>
            </p:cNvGraphicFramePr>
            <p:nvPr/>
          </p:nvGraphicFramePr>
          <p:xfrm>
            <a:off x="240" y="1601"/>
            <a:ext cx="960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72840" imgH="393480" progId="Equation.3">
                    <p:embed/>
                  </p:oleObj>
                </mc:Choice>
                <mc:Fallback>
                  <p:oleObj name="Equation" r:id="rId2" imgW="672840" imgH="393480" progId="Equation.3">
                    <p:embed/>
                    <p:pic>
                      <p:nvPicPr>
                        <p:cNvPr id="205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601"/>
                          <a:ext cx="960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A5002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A5002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40" y="2160"/>
              <a:ext cx="864" cy="96"/>
              <a:chOff x="2720" y="1935"/>
              <a:chExt cx="852" cy="95"/>
            </a:xfrm>
          </p:grpSpPr>
          <p:sp>
            <p:nvSpPr>
              <p:cNvPr id="2082" name="Line 8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Line 9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Line 10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81" name="Text Box 11"/>
            <p:cNvSpPr txBox="1">
              <a:spLocks noChangeArrowheads="1"/>
            </p:cNvSpPr>
            <p:nvPr/>
          </p:nvSpPr>
          <p:spPr bwMode="auto">
            <a:xfrm>
              <a:off x="228" y="2254"/>
              <a:ext cx="881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algn="ctr"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Frequency</a:t>
              </a:r>
            </a:p>
            <a:p>
              <a:pPr algn="ctr"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variation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452813" y="2655572"/>
            <a:ext cx="2947988" cy="1168401"/>
            <a:chOff x="1215" y="1771"/>
            <a:chExt cx="1857" cy="736"/>
          </a:xfrm>
        </p:grpSpPr>
        <p:graphicFrame>
          <p:nvGraphicFramePr>
            <p:cNvPr id="2053" name="Object 13"/>
            <p:cNvGraphicFramePr>
              <a:graphicFrameLocks noChangeAspect="1"/>
            </p:cNvGraphicFramePr>
            <p:nvPr/>
          </p:nvGraphicFramePr>
          <p:xfrm>
            <a:off x="1215" y="1771"/>
            <a:ext cx="1841" cy="2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80800" imgH="203040" progId="Equation.3">
                    <p:embed/>
                  </p:oleObj>
                </mc:Choice>
                <mc:Fallback>
                  <p:oleObj name="Equation" r:id="rId4" imgW="1180800" imgH="203040" progId="Equation.3">
                    <p:embed/>
                    <p:pic>
                      <p:nvPicPr>
                        <p:cNvPr id="205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5" y="1771"/>
                          <a:ext cx="1841" cy="2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344" y="2160"/>
              <a:ext cx="1728" cy="96"/>
              <a:chOff x="2720" y="1935"/>
              <a:chExt cx="852" cy="95"/>
            </a:xfrm>
          </p:grpSpPr>
          <p:sp>
            <p:nvSpPr>
              <p:cNvPr id="2077" name="Line 15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Line 16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Line 17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6" name="Text Box 18"/>
            <p:cNvSpPr txBox="1">
              <a:spLocks noChangeArrowheads="1"/>
            </p:cNvSpPr>
            <p:nvPr/>
          </p:nvSpPr>
          <p:spPr bwMode="auto">
            <a:xfrm>
              <a:off x="1812" y="2255"/>
              <a:ext cx="71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diffusion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477000" y="2587307"/>
            <a:ext cx="2438400" cy="1209674"/>
            <a:chOff x="3120" y="1745"/>
            <a:chExt cx="1536" cy="762"/>
          </a:xfrm>
        </p:grpSpPr>
        <p:graphicFrame>
          <p:nvGraphicFramePr>
            <p:cNvPr id="2052" name="Object 20"/>
            <p:cNvGraphicFramePr>
              <a:graphicFrameLocks noChangeAspect="1"/>
            </p:cNvGraphicFramePr>
            <p:nvPr/>
          </p:nvGraphicFramePr>
          <p:xfrm>
            <a:off x="3120" y="1745"/>
            <a:ext cx="1536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52200" imgH="228600" progId="Equation.3">
                    <p:embed/>
                  </p:oleObj>
                </mc:Choice>
                <mc:Fallback>
                  <p:oleObj name="Equation" r:id="rId6" imgW="952200" imgH="228600" progId="Equation.3">
                    <p:embed/>
                    <p:pic>
                      <p:nvPicPr>
                        <p:cNvPr id="205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745"/>
                          <a:ext cx="1536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3312" y="2160"/>
              <a:ext cx="1296" cy="95"/>
              <a:chOff x="2720" y="1935"/>
              <a:chExt cx="852" cy="95"/>
            </a:xfrm>
          </p:grpSpPr>
          <p:sp>
            <p:nvSpPr>
              <p:cNvPr id="2072" name="Line 22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Line 23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" name="Line 24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1" name="Text Box 25"/>
            <p:cNvSpPr txBox="1">
              <a:spLocks noChangeArrowheads="1"/>
            </p:cNvSpPr>
            <p:nvPr/>
          </p:nvSpPr>
          <p:spPr bwMode="auto">
            <a:xfrm>
              <a:off x="3462" y="2255"/>
              <a:ext cx="87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absorption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8915400" y="2634933"/>
            <a:ext cx="1524000" cy="1162049"/>
            <a:chOff x="4656" y="1775"/>
            <a:chExt cx="960" cy="732"/>
          </a:xfrm>
        </p:grpSpPr>
        <p:graphicFrame>
          <p:nvGraphicFramePr>
            <p:cNvPr id="2051" name="Object 27"/>
            <p:cNvGraphicFramePr>
              <a:graphicFrameLocks noChangeAspect="1"/>
            </p:cNvGraphicFramePr>
            <p:nvPr/>
          </p:nvGraphicFramePr>
          <p:xfrm>
            <a:off x="4656" y="1775"/>
            <a:ext cx="960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640" imgH="228600" progId="Equation.3">
                    <p:embed/>
                  </p:oleObj>
                </mc:Choice>
                <mc:Fallback>
                  <p:oleObj name="Equation" r:id="rId8" imgW="647640" imgH="228600" progId="Equation.3">
                    <p:embed/>
                    <p:pic>
                      <p:nvPicPr>
                        <p:cNvPr id="205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775"/>
                          <a:ext cx="960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4848" y="2160"/>
              <a:ext cx="768" cy="95"/>
              <a:chOff x="2720" y="1935"/>
              <a:chExt cx="852" cy="95"/>
            </a:xfrm>
          </p:grpSpPr>
          <p:sp>
            <p:nvSpPr>
              <p:cNvPr id="2067" name="Line 29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Line 30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Line 31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6" name="Text Box 32"/>
            <p:cNvSpPr txBox="1">
              <a:spLocks noChangeArrowheads="1"/>
            </p:cNvSpPr>
            <p:nvPr/>
          </p:nvSpPr>
          <p:spPr bwMode="auto">
            <a:xfrm>
              <a:off x="4924" y="2255"/>
              <a:ext cx="60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source</a:t>
              </a:r>
            </a:p>
          </p:txBody>
        </p:sp>
      </p:grp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482600" y="5327650"/>
            <a:ext cx="11597640" cy="523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160" tIns="46080" rIns="92160" bIns="46080">
            <a:spAutoFit/>
          </a:bodyPr>
          <a:lstStyle/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 dirty="0"/>
              <a:t>Field </a:t>
            </a:r>
            <a:r>
              <a:rPr lang="el-GR" sz="2800" dirty="0"/>
              <a:t>Φ</a:t>
            </a:r>
            <a:r>
              <a:rPr lang="en-GB" sz="2800" dirty="0"/>
              <a:t>: photon density, </a:t>
            </a:r>
            <a:r>
              <a:rPr lang="el-GR" sz="2800" dirty="0"/>
              <a:t>μ</a:t>
            </a:r>
            <a:r>
              <a:rPr lang="en-GB" sz="2800" baseline="-25000" dirty="0"/>
              <a:t>a</a:t>
            </a:r>
            <a:r>
              <a:rPr lang="en-GB" sz="2800" dirty="0"/>
              <a:t> = Absorption Coefficient, </a:t>
            </a:r>
            <a:r>
              <a:rPr lang="el-GR" sz="2800" i="1" dirty="0"/>
              <a:t>κ</a:t>
            </a:r>
            <a:r>
              <a:rPr lang="en-US" sz="2800" i="1" dirty="0"/>
              <a:t> </a:t>
            </a:r>
            <a:r>
              <a:rPr lang="en-GB" sz="2800" dirty="0"/>
              <a:t>= 1/3(</a:t>
            </a:r>
            <a:r>
              <a:rPr lang="el-GR" sz="2800" dirty="0"/>
              <a:t>μ</a:t>
            </a:r>
            <a:r>
              <a:rPr lang="en-GB" sz="2800" baseline="-25000" dirty="0"/>
              <a:t>a</a:t>
            </a:r>
            <a:r>
              <a:rPr lang="en-GB" sz="2800" dirty="0"/>
              <a:t>+ </a:t>
            </a:r>
            <a:r>
              <a:rPr lang="el-GR" sz="2800" dirty="0"/>
              <a:t>μ</a:t>
            </a:r>
            <a:r>
              <a:rPr lang="en-GB" sz="2800" baseline="-25000" dirty="0"/>
              <a:t>s</a:t>
            </a:r>
            <a:r>
              <a:rPr lang="en-GB" sz="2800" dirty="0"/>
              <a:t>`)</a:t>
            </a:r>
          </a:p>
        </p:txBody>
      </p: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795145" y="4444525"/>
            <a:ext cx="7318375" cy="525463"/>
            <a:chOff x="208" y="3694"/>
            <a:chExt cx="4610" cy="331"/>
          </a:xfrm>
        </p:grpSpPr>
        <p:sp>
          <p:nvSpPr>
            <p:cNvPr id="2064" name="Text Box 35"/>
            <p:cNvSpPr txBox="1">
              <a:spLocks noChangeArrowheads="1"/>
            </p:cNvSpPr>
            <p:nvPr/>
          </p:nvSpPr>
          <p:spPr bwMode="auto">
            <a:xfrm>
              <a:off x="208" y="3694"/>
              <a:ext cx="212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800" dirty="0"/>
                <a:t>Boundary condition:</a:t>
              </a:r>
            </a:p>
          </p:txBody>
        </p:sp>
        <p:graphicFrame>
          <p:nvGraphicFramePr>
            <p:cNvPr id="2050" name="Object 36"/>
            <p:cNvGraphicFramePr>
              <a:graphicFrameLocks noChangeAspect="1"/>
            </p:cNvGraphicFramePr>
            <p:nvPr/>
          </p:nvGraphicFramePr>
          <p:xfrm>
            <a:off x="2498" y="3750"/>
            <a:ext cx="2320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01720" imgH="203040" progId="Equation.3">
                    <p:embed/>
                  </p:oleObj>
                </mc:Choice>
                <mc:Fallback>
                  <p:oleObj name="Equation" r:id="rId10" imgW="1701720" imgH="203040" progId="Equation.3">
                    <p:embed/>
                    <p:pic>
                      <p:nvPicPr>
                        <p:cNvPr id="205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8" y="3750"/>
                          <a:ext cx="2320" cy="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3" name="Rectangle 37"/>
          <p:cNvSpPr>
            <a:spLocks noChangeArrowheads="1"/>
          </p:cNvSpPr>
          <p:nvPr/>
        </p:nvSpPr>
        <p:spPr bwMode="auto">
          <a:xfrm>
            <a:off x="9486583" y="5811521"/>
            <a:ext cx="263084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i="1" dirty="0"/>
              <a:t>Dehghani et al, Applied Optics 2003</a:t>
            </a:r>
          </a:p>
        </p:txBody>
      </p:sp>
    </p:spTree>
    <p:extLst>
      <p:ext uri="{BB962C8B-B14F-4D97-AF65-F5344CB8AC3E}">
        <p14:creationId xmlns:p14="http://schemas.microsoft.com/office/powerpoint/2010/main" val="3323353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A4DB-1354-FDA2-3877-BD063283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Diffusion Approximation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E9761B-A276-EB5A-44C9-772AF86E3E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655" y="1600201"/>
                <a:ext cx="7181551" cy="4525963"/>
              </a:xfrm>
            </p:spPr>
            <p:txBody>
              <a:bodyPr>
                <a:normAutofit/>
              </a:bodyPr>
              <a:lstStyle/>
              <a:p>
                <a:pPr marL="50800" indent="0">
                  <a:buNone/>
                </a:pPr>
                <a:r>
                  <a:rPr lang="en-GB" dirty="0"/>
                  <a:t>Valid when medium is scatter dominated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sub>
                      <m:sup/>
                    </m:sSubSup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≪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GB" dirty="0"/>
              </a:p>
              <a:p>
                <a:pPr marL="50800" indent="0">
                  <a:buNone/>
                </a:pPr>
                <a:r>
                  <a:rPr lang="en-GB" dirty="0"/>
                  <a:t>We model ‘Reduced Scatter’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=(1−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=&lt;</m:t>
                    </m:r>
                    <m:func>
                      <m:funcPr>
                        <m:ctrl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= a</a:t>
                </a:r>
                <a:r>
                  <a:rPr lang="en-GB" dirty="0"/>
                  <a:t>verage cosine of the scattering angle</a:t>
                </a:r>
              </a:p>
              <a:p>
                <a:r>
                  <a:rPr lang="en-GB" dirty="0">
                    <a:ea typeface="Cambria Math" panose="02040503050406030204" pitchFamily="18" charset="0"/>
                  </a:rPr>
                  <a:t>g = 0.9 ‘Forward Scatter’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E9761B-A276-EB5A-44C9-772AF86E3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655" y="1600201"/>
                <a:ext cx="7181551" cy="4525963"/>
              </a:xfrm>
              <a:blipFill>
                <a:blip r:embed="rId2"/>
                <a:stretch>
                  <a:fillRect l="-12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2-Isotropic scattering and anisotropic scattering. ">
            <a:extLst>
              <a:ext uri="{FF2B5EF4-FFF2-40B4-BE49-F238E27FC236}">
                <a16:creationId xmlns:a16="http://schemas.microsoft.com/office/drawing/2014/main" id="{AC9D3E39-ED2A-EA11-5FBC-5FC750784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054" y="1759829"/>
            <a:ext cx="3732936" cy="272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47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A4DB-1354-FDA2-3877-BD063283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Diffusion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761B-A276-EB5A-44C9-772AF86E3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726" y="1248849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dirty="0"/>
              <a:t>Solution is an approximation</a:t>
            </a:r>
          </a:p>
          <a:p>
            <a:pPr lvl="1"/>
            <a:r>
              <a:rPr lang="en-GB" dirty="0"/>
              <a:t>Error tends to zero as elements get smaller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5666C-D8BF-49BC-8716-46F120BD3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625" y="2544242"/>
            <a:ext cx="4320000" cy="32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304BB5-574B-1498-6BFC-1309DC790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46" y="2545902"/>
            <a:ext cx="4320000" cy="324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6A6DEE-2803-7C2E-AC91-84A63FCB2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000" y="2542084"/>
            <a:ext cx="43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85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A4DB-1354-FDA2-3877-BD063283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Diffusion Approximation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761B-A276-EB5A-44C9-772AF86E3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12" y="1338737"/>
            <a:ext cx="11222182" cy="4351338"/>
          </a:xfrm>
        </p:spPr>
        <p:txBody>
          <a:bodyPr>
            <a:normAutofit/>
          </a:bodyPr>
          <a:lstStyle/>
          <a:p>
            <a:r>
              <a:rPr lang="en-GB" dirty="0"/>
              <a:t>The source is modelled at 1 scattering distance inside tissue: 1/</a:t>
            </a:r>
            <a:r>
              <a:rPr lang="el-GR" altLang="en-US" dirty="0"/>
              <a:t>μ</a:t>
            </a:r>
            <a:r>
              <a:rPr lang="en-GB" altLang="en-US" baseline="-25000" dirty="0"/>
              <a:t>s</a:t>
            </a:r>
            <a:r>
              <a:rPr lang="en-GB" altLang="en-US" dirty="0"/>
              <a:t>`</a:t>
            </a:r>
          </a:p>
          <a:p>
            <a:pPr lvl="1"/>
            <a:r>
              <a:rPr lang="en-GB" dirty="0"/>
              <a:t>Becomes isotropic at the surface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C0EEE-4C3F-A826-DCDB-4390A8F9B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122" y="2799002"/>
            <a:ext cx="3856033" cy="2892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F0693C-01B8-8291-EE2E-80174EA815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8826"/>
          <a:stretch/>
        </p:blipFill>
        <p:spPr>
          <a:xfrm>
            <a:off x="6083021" y="2799002"/>
            <a:ext cx="3187535" cy="19406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87FC88-E0B8-5D67-FE18-AAE0DAEF5009}"/>
              </a:ext>
            </a:extLst>
          </p:cNvPr>
          <p:cNvSpPr/>
          <p:nvPr/>
        </p:nvSpPr>
        <p:spPr>
          <a:xfrm>
            <a:off x="3061301" y="3012483"/>
            <a:ext cx="720080" cy="600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D75C7D-6EC1-914B-7F91-ADF80796C71F}"/>
              </a:ext>
            </a:extLst>
          </p:cNvPr>
          <p:cNvCxnSpPr/>
          <p:nvPr/>
        </p:nvCxnSpPr>
        <p:spPr>
          <a:xfrm flipV="1">
            <a:off x="3781381" y="2900554"/>
            <a:ext cx="2700300" cy="12347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97EC19-C797-76AD-7FE7-1A24460BAA25}"/>
              </a:ext>
            </a:extLst>
          </p:cNvPr>
          <p:cNvCxnSpPr>
            <a:cxnSpLocks/>
          </p:cNvCxnSpPr>
          <p:nvPr/>
        </p:nvCxnSpPr>
        <p:spPr>
          <a:xfrm>
            <a:off x="3781381" y="3613417"/>
            <a:ext cx="2700300" cy="53573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6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3140-3DA1-AA2A-2656-4EE0030C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F25-C5F5-3B71-C7DF-2C5D7320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14756</TotalTime>
  <Words>773</Words>
  <Application>Microsoft Macintosh PowerPoint</Application>
  <PresentationFormat>Widescreen</PresentationFormat>
  <Paragraphs>148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ＭＳ Ｐゴシック</vt:lpstr>
      <vt:lpstr>Aptos</vt:lpstr>
      <vt:lpstr>Aptos Display</vt:lpstr>
      <vt:lpstr>Arial</vt:lpstr>
      <vt:lpstr>Cambria Math</vt:lpstr>
      <vt:lpstr>Garamond</vt:lpstr>
      <vt:lpstr>Symbol</vt:lpstr>
      <vt:lpstr>Times New Roman</vt:lpstr>
      <vt:lpstr>Office Theme</vt:lpstr>
      <vt:lpstr>Equation</vt:lpstr>
      <vt:lpstr>Simulation-Driven fNIRS using NIRFASTer: Modeling Hemodynamic Responses, Realistic Noise, and Diffuse Optical Tomography</vt:lpstr>
      <vt:lpstr>Introduction to tissue optics &amp; course overview </vt:lpstr>
      <vt:lpstr>Models of Light Propagation</vt:lpstr>
      <vt:lpstr>Analytical Models</vt:lpstr>
      <vt:lpstr>Analytical Models</vt:lpstr>
      <vt:lpstr>Analytical Models in fNIRS</vt:lpstr>
      <vt:lpstr>Analytical Models</vt:lpstr>
      <vt:lpstr>Stochastic Models</vt:lpstr>
      <vt:lpstr>Numerical Models</vt:lpstr>
      <vt:lpstr>PowerPoint Presentation</vt:lpstr>
      <vt:lpstr>Modelling of light transport in tissue: Maxwell’s Equation</vt:lpstr>
      <vt:lpstr>Radiative Transport Equation</vt:lpstr>
      <vt:lpstr>Radiative Transport Equation</vt:lpstr>
      <vt:lpstr>Diffusion Approximation</vt:lpstr>
      <vt:lpstr>Diffusion Approximation</vt:lpstr>
      <vt:lpstr>Diffusion Approximation</vt:lpstr>
      <vt:lpstr>Diffusion Approximation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Rino Zheng</dc:creator>
  <cp:lastModifiedBy>Hamid Dehghani (Computer Science)</cp:lastModifiedBy>
  <cp:revision>98</cp:revision>
  <dcterms:created xsi:type="dcterms:W3CDTF">2025-01-11T13:11:44Z</dcterms:created>
  <dcterms:modified xsi:type="dcterms:W3CDTF">2026-10-14T01:07:20Z</dcterms:modified>
</cp:coreProperties>
</file>