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5" r:id="rId2"/>
    <p:sldId id="264" r:id="rId3"/>
    <p:sldId id="284" r:id="rId4"/>
    <p:sldId id="285" r:id="rId5"/>
    <p:sldId id="266" r:id="rId6"/>
    <p:sldId id="267" r:id="rId7"/>
    <p:sldId id="268" r:id="rId8"/>
    <p:sldId id="286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MO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98BEA1-A03A-4677-A3B2-9FE9B0F728D4}" type="datetime1">
              <a:rPr lang="en-US" altLang="zh-MO" smtClean="0"/>
              <a:t>10/13/26</a:t>
            </a:fld>
            <a:endParaRPr lang="en-US"/>
          </a:p>
        </p:txBody>
      </p:sp>
      <p:sp>
        <p:nvSpPr>
          <p:cNvPr id="5" name="Text Placeholder 7"/>
          <p:cNvSpPr>
            <a:spLocks noGrp="1"/>
          </p:cNvSpPr>
          <p:nvPr>
            <p:ph idx="1"/>
          </p:nvPr>
        </p:nvSpPr>
        <p:spPr>
          <a:xfrm>
            <a:off x="838200" y="3659218"/>
            <a:ext cx="10515600" cy="1467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MO"/>
              <a:t>Click to edit Master text styles</a:t>
            </a:r>
          </a:p>
          <a:p>
            <a:pPr lvl="1"/>
            <a:r>
              <a:rPr lang="en-US" altLang="zh-MO"/>
              <a:t>Second level</a:t>
            </a:r>
          </a:p>
          <a:p>
            <a:pPr lvl="2"/>
            <a:r>
              <a:rPr lang="en-US" altLang="zh-MO"/>
              <a:t>Third level</a:t>
            </a:r>
          </a:p>
          <a:p>
            <a:pPr lvl="3"/>
            <a:r>
              <a:rPr lang="en-US" altLang="zh-MO"/>
              <a:t>Fourth level</a:t>
            </a:r>
          </a:p>
          <a:p>
            <a:pPr lvl="4"/>
            <a:r>
              <a:rPr lang="en-US" altLang="zh-MO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283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9969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altLang="zh-MO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838200" y="6551447"/>
            <a:ext cx="2743200" cy="365125"/>
          </a:xfrm>
        </p:spPr>
        <p:txBody>
          <a:bodyPr/>
          <a:lstStyle/>
          <a:p>
            <a:fld id="{ADA87837-82C5-4C5D-8494-65D33FD1D739}" type="datetime1">
              <a:rPr lang="en-US" altLang="zh-MO" smtClean="0"/>
              <a:t>10/13/26</a:t>
            </a:fld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idx="1"/>
          </p:nvPr>
        </p:nvSpPr>
        <p:spPr>
          <a:xfrm>
            <a:off x="838200" y="2594919"/>
            <a:ext cx="10515600" cy="3582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MO"/>
              <a:t>Click to edit Master text styles</a:t>
            </a:r>
          </a:p>
          <a:p>
            <a:pPr lvl="1"/>
            <a:r>
              <a:rPr lang="en-US" altLang="zh-MO"/>
              <a:t>Second level</a:t>
            </a:r>
          </a:p>
          <a:p>
            <a:pPr lvl="2"/>
            <a:r>
              <a:rPr lang="en-US" altLang="zh-MO"/>
              <a:t>Third level</a:t>
            </a:r>
          </a:p>
          <a:p>
            <a:pPr lvl="3"/>
            <a:r>
              <a:rPr lang="en-US" altLang="zh-MO"/>
              <a:t>Fourth level</a:t>
            </a:r>
          </a:p>
          <a:p>
            <a:pPr lvl="4"/>
            <a:r>
              <a:rPr lang="en-US" altLang="zh-MO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00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6199" y="6063095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0A50CF25-F9B6-EA4B-991F-E50888CA6F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2937"/>
            <a:ext cx="10515600" cy="1013469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altLang="zh-MO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>
          <a:xfrm>
            <a:off x="838200" y="1548428"/>
            <a:ext cx="10515600" cy="445520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MO"/>
              <a:t>Click to edit Master text styles</a:t>
            </a:r>
          </a:p>
          <a:p>
            <a:pPr lvl="1"/>
            <a:r>
              <a:rPr lang="en-US" altLang="zh-MO"/>
              <a:t>Second level</a:t>
            </a:r>
          </a:p>
          <a:p>
            <a:pPr lvl="2"/>
            <a:r>
              <a:rPr lang="en-US" altLang="zh-MO"/>
              <a:t>Third level</a:t>
            </a:r>
          </a:p>
          <a:p>
            <a:pPr lvl="3"/>
            <a:r>
              <a:rPr lang="en-US" altLang="zh-MO"/>
              <a:t>Fourth level</a:t>
            </a:r>
          </a:p>
          <a:p>
            <a:pPr lvl="4"/>
            <a:r>
              <a:rPr lang="en-US" altLang="zh-MO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550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838200" y="3667919"/>
            <a:ext cx="10515600" cy="1426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MO"/>
              <a:t>Click to edit Master text styles</a:t>
            </a:r>
          </a:p>
          <a:p>
            <a:pPr lvl="1"/>
            <a:r>
              <a:rPr lang="en-US" altLang="zh-MO"/>
              <a:t>Second level</a:t>
            </a:r>
          </a:p>
          <a:p>
            <a:pPr lvl="2"/>
            <a:r>
              <a:rPr lang="en-US" altLang="zh-MO"/>
              <a:t>Third level</a:t>
            </a:r>
          </a:p>
          <a:p>
            <a:pPr lvl="3"/>
            <a:r>
              <a:rPr lang="en-US" altLang="zh-MO"/>
              <a:t>Fourth level</a:t>
            </a:r>
          </a:p>
          <a:p>
            <a:pPr lvl="4"/>
            <a:r>
              <a:rPr lang="en-US" altLang="zh-MO"/>
              <a:t>Fifth level</a:t>
            </a:r>
            <a:endParaRPr lang="en-US" dirty="0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838200" y="2569389"/>
            <a:ext cx="10515600" cy="1013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MO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>
          <a:xfrm>
            <a:off x="838200" y="652256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C9F5E-6ECF-4D65-98DF-E0C9023CD65A}" type="datetime1">
              <a:rPr lang="en-US" altLang="zh-MO" smtClean="0"/>
              <a:t>10/13/26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57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13.png"/><Relationship Id="rId4" Type="http://schemas.openxmlformats.org/officeDocument/2006/relationships/image" Target="../media/image12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8B2F7B-F6BA-7614-9ED9-7716292601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CF25-F9B6-EA4B-991F-E50888CA6F8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8CE177-6BD9-9897-C40E-39477F849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MO" dirty="0"/>
              <a:t>The NIRFAST family</a:t>
            </a:r>
            <a:endParaRPr lang="zh-MO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89D4E-9BC0-0250-CA18-5A875A38F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6" y="1304483"/>
            <a:ext cx="3251688" cy="9259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A18429-557D-54C6-6470-F9B658251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6" y="2378931"/>
            <a:ext cx="3436460" cy="7070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32B9AC-D688-39FE-F4BD-C3CAA8CB2EC1}"/>
              </a:ext>
            </a:extLst>
          </p:cNvPr>
          <p:cNvSpPr txBox="1"/>
          <p:nvPr/>
        </p:nvSpPr>
        <p:spPr>
          <a:xfrm>
            <a:off x="5337916" y="1900135"/>
            <a:ext cx="10807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2001-2018</a:t>
            </a:r>
          </a:p>
        </p:txBody>
      </p:sp>
      <p:pic>
        <p:nvPicPr>
          <p:cNvPr id="8" name="Picture 2" descr="Hamid Dehghani">
            <a:extLst>
              <a:ext uri="{FF2B5EF4-FFF2-40B4-BE49-F238E27FC236}">
                <a16:creationId xmlns:a16="http://schemas.microsoft.com/office/drawing/2014/main" id="{0CDD9A5C-FA69-90D9-B2BF-1BF2E9EC1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58" y="1757993"/>
            <a:ext cx="944933" cy="94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NIRFASTer">
            <a:extLst>
              <a:ext uri="{FF2B5EF4-FFF2-40B4-BE49-F238E27FC236}">
                <a16:creationId xmlns:a16="http://schemas.microsoft.com/office/drawing/2014/main" id="{49696F91-C02C-E0E3-0F1D-8A7DCC265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585" y="3746469"/>
            <a:ext cx="2670430" cy="1736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CC030145-60D8-4B30-C664-F622289FC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777176" y="4261098"/>
            <a:ext cx="992295" cy="85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D5BCBB-1ED0-F223-D20F-4A96518DE3E0}"/>
              </a:ext>
            </a:extLst>
          </p:cNvPr>
          <p:cNvSpPr txBox="1"/>
          <p:nvPr/>
        </p:nvSpPr>
        <p:spPr>
          <a:xfrm>
            <a:off x="591085" y="2732442"/>
            <a:ext cx="13644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Prof. Hamid Dehghani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4F3BE-8F02-E150-C6EE-85D702D0A90E}"/>
              </a:ext>
            </a:extLst>
          </p:cNvPr>
          <p:cNvSpPr txBox="1"/>
          <p:nvPr/>
        </p:nvSpPr>
        <p:spPr>
          <a:xfrm>
            <a:off x="502920" y="5281718"/>
            <a:ext cx="1540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Dr. Stanisław Wojtkiewicz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DC51AF-49F5-0D3B-6E03-9E48DB19B0D1}"/>
              </a:ext>
            </a:extLst>
          </p:cNvPr>
          <p:cNvSpPr txBox="1"/>
          <p:nvPr/>
        </p:nvSpPr>
        <p:spPr>
          <a:xfrm>
            <a:off x="5337916" y="4424457"/>
            <a:ext cx="10807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2018-2025</a:t>
            </a:r>
          </a:p>
        </p:txBody>
      </p:sp>
      <p:sp>
        <p:nvSpPr>
          <p:cNvPr id="14" name="Down Arrow 10">
            <a:extLst>
              <a:ext uri="{FF2B5EF4-FFF2-40B4-BE49-F238E27FC236}">
                <a16:creationId xmlns:a16="http://schemas.microsoft.com/office/drawing/2014/main" id="{B1F5F2FB-98AE-698C-E0A1-DF3B129DFD23}"/>
              </a:ext>
            </a:extLst>
          </p:cNvPr>
          <p:cNvSpPr/>
          <p:nvPr/>
        </p:nvSpPr>
        <p:spPr>
          <a:xfrm>
            <a:off x="2359536" y="3336351"/>
            <a:ext cx="1457924" cy="242987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88336FA2-7636-6AE0-B575-885862A4B59C}"/>
              </a:ext>
            </a:extLst>
          </p:cNvPr>
          <p:cNvSpPr/>
          <p:nvPr/>
        </p:nvSpPr>
        <p:spPr>
          <a:xfrm>
            <a:off x="3844866" y="3278801"/>
            <a:ext cx="1790434" cy="2973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GPU acceleration</a:t>
            </a:r>
          </a:p>
        </p:txBody>
      </p:sp>
      <p:sp>
        <p:nvSpPr>
          <p:cNvPr id="16" name="Right Bracket 15">
            <a:extLst>
              <a:ext uri="{FF2B5EF4-FFF2-40B4-BE49-F238E27FC236}">
                <a16:creationId xmlns:a16="http://schemas.microsoft.com/office/drawing/2014/main" id="{01B5A15A-FF34-56C9-6EDF-5694BE6EBCB3}"/>
              </a:ext>
            </a:extLst>
          </p:cNvPr>
          <p:cNvSpPr/>
          <p:nvPr/>
        </p:nvSpPr>
        <p:spPr>
          <a:xfrm>
            <a:off x="6366843" y="1418029"/>
            <a:ext cx="103636" cy="4031020"/>
          </a:xfrm>
          <a:prstGeom prst="righ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0">
            <a:extLst>
              <a:ext uri="{FF2B5EF4-FFF2-40B4-BE49-F238E27FC236}">
                <a16:creationId xmlns:a16="http://schemas.microsoft.com/office/drawing/2014/main" id="{E6EFA20C-66DF-6541-8EE0-B8BAC1A06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560" y="2990542"/>
            <a:ext cx="1123994" cy="84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F1DE4AA-8EF1-89BF-2440-EAEB3BF9CD13}"/>
              </a:ext>
            </a:extLst>
          </p:cNvPr>
          <p:cNvSpPr txBox="1"/>
          <p:nvPr/>
        </p:nvSpPr>
        <p:spPr>
          <a:xfrm>
            <a:off x="7481270" y="1463997"/>
            <a:ext cx="2972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NIRFASTer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sz="20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urious</a:t>
            </a: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9DB7A235-5D46-5CF6-EA15-FBFE2BCDA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5584" y="1302849"/>
            <a:ext cx="768258" cy="84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E56020-5A12-3D0C-751A-7F6EE08DBDCC}"/>
              </a:ext>
            </a:extLst>
          </p:cNvPr>
          <p:cNvSpPr txBox="1"/>
          <p:nvPr/>
        </p:nvSpPr>
        <p:spPr>
          <a:xfrm>
            <a:off x="7583967" y="1888105"/>
            <a:ext cx="2554610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Even faster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Improved applicability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Improved stability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40CEDC-7BF7-27E7-495F-7CFD5118AA14}"/>
              </a:ext>
            </a:extLst>
          </p:cNvPr>
          <p:cNvSpPr txBox="1"/>
          <p:nvPr/>
        </p:nvSpPr>
        <p:spPr>
          <a:xfrm>
            <a:off x="7583967" y="3278801"/>
            <a:ext cx="3830857" cy="8803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Algorithms adapted from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NIRFASTer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Updated for better performance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DC8FEE1-085F-F88B-E97E-0C5941572BB2}"/>
              </a:ext>
            </a:extLst>
          </p:cNvPr>
          <p:cNvSpPr/>
          <p:nvPr/>
        </p:nvSpPr>
        <p:spPr>
          <a:xfrm>
            <a:off x="8150666" y="4254085"/>
            <a:ext cx="2634802" cy="53284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MO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More efficient algorithm</a:t>
            </a:r>
            <a:endParaRPr kumimoji="0" lang="zh-MO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CC74468-FB8B-78B0-7365-A5B47B498655}"/>
              </a:ext>
            </a:extLst>
          </p:cNvPr>
          <p:cNvSpPr/>
          <p:nvPr/>
        </p:nvSpPr>
        <p:spPr>
          <a:xfrm>
            <a:off x="8150666" y="5127582"/>
            <a:ext cx="2634802" cy="53284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MO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More parallelization</a:t>
            </a:r>
            <a:endParaRPr kumimoji="0" lang="zh-MO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675D28-D025-979D-00EE-ECBD675B26EF}"/>
              </a:ext>
            </a:extLst>
          </p:cNvPr>
          <p:cNvSpPr txBox="1"/>
          <p:nvPr/>
        </p:nvSpPr>
        <p:spPr>
          <a:xfrm>
            <a:off x="9330118" y="472156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M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+</a:t>
            </a:r>
            <a:endParaRPr kumimoji="0" lang="zh-MO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599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2" grpId="0" animBg="1"/>
      <p:bldP spid="23" grpId="0" animBg="1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1E1027-1C41-CBC1-08DC-AC8E39C6B4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CF25-F9B6-EA4B-991F-E50888CA6F8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9AB82B-CDD4-3E15-0A80-314A17E2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MO" dirty="0"/>
              <a:t>New, versatile Python package: </a:t>
            </a:r>
            <a:r>
              <a:rPr lang="en-US" altLang="zh-MO" dirty="0" err="1"/>
              <a:t>NIRFASTerFF</a:t>
            </a:r>
            <a:endParaRPr lang="zh-MO" altLang="en-US" dirty="0"/>
          </a:p>
        </p:txBody>
      </p:sp>
      <p:pic>
        <p:nvPicPr>
          <p:cNvPr id="6" name="Picture 2" descr="QR Code Image">
            <a:extLst>
              <a:ext uri="{FF2B5EF4-FFF2-40B4-BE49-F238E27FC236}">
                <a16:creationId xmlns:a16="http://schemas.microsoft.com/office/drawing/2014/main" id="{E8FE6C5C-2E65-E106-150F-D151BCC2C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973" y="330371"/>
            <a:ext cx="1442720" cy="144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CCB3E7BF-3F66-3E41-DB05-4C78C2E267DF}"/>
              </a:ext>
            </a:extLst>
          </p:cNvPr>
          <p:cNvSpPr/>
          <p:nvPr/>
        </p:nvSpPr>
        <p:spPr>
          <a:xfrm>
            <a:off x="5274568" y="1895525"/>
            <a:ext cx="1068932" cy="46679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rgbClr val="007838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mesh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BE0148B7-7C48-223F-620E-55758C30599A}"/>
              </a:ext>
            </a:extLst>
          </p:cNvPr>
          <p:cNvSpPr/>
          <p:nvPr/>
        </p:nvSpPr>
        <p:spPr>
          <a:xfrm>
            <a:off x="3790074" y="2719389"/>
            <a:ext cx="1166926" cy="46679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7838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standard</a:t>
            </a: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28E798EA-6BAD-8BFF-BFF9-4E16C9476572}"/>
              </a:ext>
            </a:extLst>
          </p:cNvPr>
          <p:cNvSpPr/>
          <p:nvPr/>
        </p:nvSpPr>
        <p:spPr>
          <a:xfrm>
            <a:off x="5141112" y="2719389"/>
            <a:ext cx="1335845" cy="46679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7838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fluorescence</a:t>
            </a:r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507547FA-E44F-F2B7-D8B0-7296769D0726}"/>
              </a:ext>
            </a:extLst>
          </p:cNvPr>
          <p:cNvSpPr/>
          <p:nvPr/>
        </p:nvSpPr>
        <p:spPr>
          <a:xfrm>
            <a:off x="6661069" y="2719389"/>
            <a:ext cx="1166926" cy="46679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7838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DCS</a:t>
            </a:r>
          </a:p>
        </p:txBody>
      </p:sp>
      <p:sp>
        <p:nvSpPr>
          <p:cNvPr id="24" name="Rounded Rectangle 62">
            <a:extLst>
              <a:ext uri="{FF2B5EF4-FFF2-40B4-BE49-F238E27FC236}">
                <a16:creationId xmlns:a16="http://schemas.microsoft.com/office/drawing/2014/main" id="{E118440E-0B83-0D02-9D52-0E5DFE134BCB}"/>
              </a:ext>
            </a:extLst>
          </p:cNvPr>
          <p:cNvSpPr/>
          <p:nvPr/>
        </p:nvSpPr>
        <p:spPr>
          <a:xfrm>
            <a:off x="6661069" y="1195438"/>
            <a:ext cx="1166926" cy="46679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7838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</a:t>
            </a:r>
          </a:p>
        </p:txBody>
      </p:sp>
      <p:sp>
        <p:nvSpPr>
          <p:cNvPr id="25" name="Rounded Rectangle 1023">
            <a:extLst>
              <a:ext uri="{FF2B5EF4-FFF2-40B4-BE49-F238E27FC236}">
                <a16:creationId xmlns:a16="http://schemas.microsoft.com/office/drawing/2014/main" id="{BA032752-944F-205F-822E-A47B07836E70}"/>
              </a:ext>
            </a:extLst>
          </p:cNvPr>
          <p:cNvSpPr/>
          <p:nvPr/>
        </p:nvSpPr>
        <p:spPr>
          <a:xfrm>
            <a:off x="3411610" y="1166993"/>
            <a:ext cx="1274422" cy="525247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7838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Segmented volume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6BD5D4-F606-BE1F-43DE-1FD06168EDDF}"/>
              </a:ext>
            </a:extLst>
          </p:cNvPr>
          <p:cNvCxnSpPr>
            <a:stCxn id="24" idx="1"/>
          </p:cNvCxnSpPr>
          <p:nvPr/>
        </p:nvCxnSpPr>
        <p:spPr>
          <a:xfrm flipH="1">
            <a:off x="6135781" y="1428834"/>
            <a:ext cx="525288" cy="466691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FB09CDA-E924-F7FE-DE30-83CC5E915A92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4686032" y="1429617"/>
            <a:ext cx="844258" cy="465908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A93091B-1CDA-0234-438C-6BBDEE18CA54}"/>
              </a:ext>
            </a:extLst>
          </p:cNvPr>
          <p:cNvSpPr txBox="1"/>
          <p:nvPr/>
        </p:nvSpPr>
        <p:spPr>
          <a:xfrm>
            <a:off x="4861461" y="1380830"/>
            <a:ext cx="9893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CGAL </a:t>
            </a:r>
            <a:r>
              <a:rPr kumimoji="0" lang="en-US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mesher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0BC97A-5438-997D-9A13-D0B9AEFE1800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4373537" y="2300708"/>
            <a:ext cx="824296" cy="418681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0D51612-9DAD-58C2-F838-F16A206D80F7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5809035" y="2421993"/>
            <a:ext cx="0" cy="297396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1B54BBE-C145-22BE-9B13-F11EFA8A7A3B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6427499" y="2298604"/>
            <a:ext cx="817033" cy="420785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2C367BA-858C-FDF2-4B81-C6B8888B64EA}"/>
              </a:ext>
            </a:extLst>
          </p:cNvPr>
          <p:cNvSpPr txBox="1"/>
          <p:nvPr/>
        </p:nvSpPr>
        <p:spPr>
          <a:xfrm>
            <a:off x="4722814" y="1952693"/>
            <a:ext cx="551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FEM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08E9642-F0CE-7B58-4006-D58695D59A28}"/>
              </a:ext>
            </a:extLst>
          </p:cNvPr>
          <p:cNvSpPr/>
          <p:nvPr/>
        </p:nvSpPr>
        <p:spPr>
          <a:xfrm>
            <a:off x="5551467" y="3308522"/>
            <a:ext cx="876032" cy="8760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85D23D1-31C8-A733-30E6-D0C8E6D5269E}"/>
              </a:ext>
            </a:extLst>
          </p:cNvPr>
          <p:cNvSpPr/>
          <p:nvPr/>
        </p:nvSpPr>
        <p:spPr>
          <a:xfrm>
            <a:off x="5762191" y="3660213"/>
            <a:ext cx="172649" cy="172649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un 34">
            <a:extLst>
              <a:ext uri="{FF2B5EF4-FFF2-40B4-BE49-F238E27FC236}">
                <a16:creationId xmlns:a16="http://schemas.microsoft.com/office/drawing/2014/main" id="{E11E476C-AB8B-07E5-6669-EBF707E06699}"/>
              </a:ext>
            </a:extLst>
          </p:cNvPr>
          <p:cNvSpPr/>
          <p:nvPr/>
        </p:nvSpPr>
        <p:spPr>
          <a:xfrm>
            <a:off x="5694510" y="3582053"/>
            <a:ext cx="308008" cy="308008"/>
          </a:xfrm>
          <a:prstGeom prst="su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C5992CC-CF7C-63A4-4AB4-AE952A6FE1CE}"/>
              </a:ext>
            </a:extLst>
          </p:cNvPr>
          <p:cNvSpPr/>
          <p:nvPr/>
        </p:nvSpPr>
        <p:spPr>
          <a:xfrm>
            <a:off x="3935182" y="3308522"/>
            <a:ext cx="876032" cy="876032"/>
          </a:xfrm>
          <a:prstGeom prst="ellipse">
            <a:avLst/>
          </a:prstGeom>
          <a:gradFill flip="none" rotWithShape="1">
            <a:gsLst>
              <a:gs pos="56000">
                <a:schemeClr val="bg2">
                  <a:lumMod val="20000"/>
                  <a:lumOff val="80000"/>
                </a:schemeClr>
              </a:gs>
              <a:gs pos="19000">
                <a:schemeClr val="bg1"/>
              </a:gs>
              <a:gs pos="100000">
                <a:srgbClr val="C00000"/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68641E3-1E41-E1E4-426F-AA4BB601C0D9}"/>
              </a:ext>
            </a:extLst>
          </p:cNvPr>
          <p:cNvSpPr/>
          <p:nvPr/>
        </p:nvSpPr>
        <p:spPr>
          <a:xfrm>
            <a:off x="3931725" y="3311459"/>
            <a:ext cx="876032" cy="8760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ight Arrow 20">
            <a:extLst>
              <a:ext uri="{FF2B5EF4-FFF2-40B4-BE49-F238E27FC236}">
                <a16:creationId xmlns:a16="http://schemas.microsoft.com/office/drawing/2014/main" id="{501B36C3-9175-7014-6C29-F19C829FAFBF}"/>
              </a:ext>
            </a:extLst>
          </p:cNvPr>
          <p:cNvSpPr/>
          <p:nvPr/>
        </p:nvSpPr>
        <p:spPr>
          <a:xfrm>
            <a:off x="3588774" y="3770477"/>
            <a:ext cx="282186" cy="63944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ight Arrow 21">
            <a:extLst>
              <a:ext uri="{FF2B5EF4-FFF2-40B4-BE49-F238E27FC236}">
                <a16:creationId xmlns:a16="http://schemas.microsoft.com/office/drawing/2014/main" id="{685E9B44-31C4-EA4A-9AE3-3233C5AE617C}"/>
              </a:ext>
            </a:extLst>
          </p:cNvPr>
          <p:cNvSpPr/>
          <p:nvPr/>
        </p:nvSpPr>
        <p:spPr>
          <a:xfrm>
            <a:off x="5195728" y="3754404"/>
            <a:ext cx="282186" cy="63944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FC4031-9A74-143B-6C93-3E482D8D96ED}"/>
              </a:ext>
            </a:extLst>
          </p:cNvPr>
          <p:cNvSpPr/>
          <p:nvPr/>
        </p:nvSpPr>
        <p:spPr>
          <a:xfrm>
            <a:off x="6869296" y="3740354"/>
            <a:ext cx="1086756" cy="28774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ight Arrow 23">
            <a:extLst>
              <a:ext uri="{FF2B5EF4-FFF2-40B4-BE49-F238E27FC236}">
                <a16:creationId xmlns:a16="http://schemas.microsoft.com/office/drawing/2014/main" id="{E685BCD8-6112-94A9-5D2F-C9B221C2422B}"/>
              </a:ext>
            </a:extLst>
          </p:cNvPr>
          <p:cNvSpPr/>
          <p:nvPr/>
        </p:nvSpPr>
        <p:spPr>
          <a:xfrm rot="5400000">
            <a:off x="6994057" y="3567289"/>
            <a:ext cx="282186" cy="63944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ight Arrow 24">
            <a:extLst>
              <a:ext uri="{FF2B5EF4-FFF2-40B4-BE49-F238E27FC236}">
                <a16:creationId xmlns:a16="http://schemas.microsoft.com/office/drawing/2014/main" id="{3D6F8791-D468-EFE1-6FBF-512E10FC5C57}"/>
              </a:ext>
            </a:extLst>
          </p:cNvPr>
          <p:cNvSpPr/>
          <p:nvPr/>
        </p:nvSpPr>
        <p:spPr>
          <a:xfrm rot="16200000" flipV="1">
            <a:off x="7415323" y="3567289"/>
            <a:ext cx="282186" cy="63944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7E5A8DE-90AE-8EEB-0A1E-F701397F554E}"/>
                  </a:ext>
                </a:extLst>
              </p:cNvPr>
              <p:cNvSpPr txBox="1"/>
              <p:nvPr/>
            </p:nvSpPr>
            <p:spPr>
              <a:xfrm>
                <a:off x="7300632" y="3245909"/>
                <a:ext cx="134536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e>
                      <m:sub>
                        <m: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𝑜𝑢𝑡</m:t>
                        </m:r>
                      </m:sub>
                    </m:sSub>
                    <m:d>
                      <m:dPr>
                        <m:ctrlP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kumimoji="0" lang="en-GB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en-GB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GB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e>
                      <m:sub>
                        <m:r>
                          <a:rPr kumimoji="0" lang="en-GB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𝑜𝑢𝑡</m:t>
                        </m:r>
                      </m:sub>
                    </m:sSub>
                    <m:d>
                      <m:dPr>
                        <m:ctrlPr>
                          <a:rPr kumimoji="0" lang="en-GB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GB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GB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𝜏</m:t>
                        </m:r>
                      </m:e>
                    </m:d>
                  </m:oMath>
                </a14:m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&gt;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7E5A8DE-90AE-8EEB-0A1E-F701397F5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632" y="3245909"/>
                <a:ext cx="1345368" cy="184666"/>
              </a:xfrm>
              <a:prstGeom prst="rect">
                <a:avLst/>
              </a:prstGeom>
              <a:blipFill>
                <a:blip r:embed="rId3"/>
                <a:stretch>
                  <a:fillRect l="-7273" t="-25806" r="-5909" b="-48387"/>
                </a:stretch>
              </a:blipFill>
            </p:spPr>
            <p:txBody>
              <a:bodyPr/>
              <a:lstStyle/>
              <a:p>
                <a:r>
                  <a:rPr lang="zh-MO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0FB4350-E60A-9707-CA12-29AE5FF80D58}"/>
              </a:ext>
            </a:extLst>
          </p:cNvPr>
          <p:cNvCxnSpPr/>
          <p:nvPr/>
        </p:nvCxnSpPr>
        <p:spPr>
          <a:xfrm>
            <a:off x="7095865" y="3955453"/>
            <a:ext cx="6135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E30454A-F286-FF33-36BA-D4565FDCB355}"/>
              </a:ext>
            </a:extLst>
          </p:cNvPr>
          <p:cNvSpPr txBox="1"/>
          <p:nvPr/>
        </p:nvSpPr>
        <p:spPr>
          <a:xfrm>
            <a:off x="7226293" y="3726963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flow</a:t>
            </a:r>
          </a:p>
        </p:txBody>
      </p:sp>
      <p:sp>
        <p:nvSpPr>
          <p:cNvPr id="49" name="Freeform 30">
            <a:extLst>
              <a:ext uri="{FF2B5EF4-FFF2-40B4-BE49-F238E27FC236}">
                <a16:creationId xmlns:a16="http://schemas.microsoft.com/office/drawing/2014/main" id="{EDE4F08C-CF5E-1772-D678-5636B7E458FF}"/>
              </a:ext>
            </a:extLst>
          </p:cNvPr>
          <p:cNvSpPr/>
          <p:nvPr/>
        </p:nvSpPr>
        <p:spPr>
          <a:xfrm>
            <a:off x="8035482" y="3518038"/>
            <a:ext cx="351692" cy="383665"/>
          </a:xfrm>
          <a:custGeom>
            <a:avLst/>
            <a:gdLst>
              <a:gd name="connsiteX0" fmla="*/ 351692 w 351692"/>
              <a:gd name="connsiteY0" fmla="*/ 0 h 383665"/>
              <a:gd name="connsiteX1" fmla="*/ 204621 w 351692"/>
              <a:gd name="connsiteY1" fmla="*/ 300537 h 383665"/>
              <a:gd name="connsiteX2" fmla="*/ 0 w 351692"/>
              <a:gd name="connsiteY2" fmla="*/ 383665 h 383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1692" h="383665">
                <a:moveTo>
                  <a:pt x="351692" y="0"/>
                </a:moveTo>
                <a:cubicBezTo>
                  <a:pt x="307464" y="118296"/>
                  <a:pt x="263236" y="236593"/>
                  <a:pt x="204621" y="300537"/>
                </a:cubicBezTo>
                <a:cubicBezTo>
                  <a:pt x="146006" y="364481"/>
                  <a:pt x="73003" y="374073"/>
                  <a:pt x="0" y="383665"/>
                </a:cubicBezTo>
              </a:path>
            </a:pathLst>
          </a:custGeom>
          <a:noFill/>
          <a:ln>
            <a:prstDash val="sys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9CF1FFF-4D0C-F772-1C09-624CA8AF2B9D}"/>
              </a:ext>
            </a:extLst>
          </p:cNvPr>
          <p:cNvSpPr/>
          <p:nvPr/>
        </p:nvSpPr>
        <p:spPr>
          <a:xfrm>
            <a:off x="4718598" y="4490207"/>
            <a:ext cx="1591743" cy="56626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MO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Fluence</a:t>
            </a:r>
            <a:endParaRPr kumimoji="0" lang="zh-MO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22917C5-239A-1096-5F99-D875DD08A6CD}"/>
              </a:ext>
            </a:extLst>
          </p:cNvPr>
          <p:cNvSpPr/>
          <p:nvPr/>
        </p:nvSpPr>
        <p:spPr>
          <a:xfrm>
            <a:off x="2134224" y="4148892"/>
            <a:ext cx="1591743" cy="56626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MO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TPSF</a:t>
            </a:r>
            <a:endParaRPr kumimoji="0" lang="zh-MO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C0B1F33-3514-1885-F003-C776EA52E8A3}"/>
              </a:ext>
            </a:extLst>
          </p:cNvPr>
          <p:cNvSpPr/>
          <p:nvPr/>
        </p:nvSpPr>
        <p:spPr>
          <a:xfrm>
            <a:off x="857250" y="2583839"/>
            <a:ext cx="1591743" cy="56626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MO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Moments</a:t>
            </a:r>
            <a:endParaRPr kumimoji="0" lang="zh-MO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1619D0F-03C3-F2BA-E387-29127870FBD7}"/>
              </a:ext>
            </a:extLst>
          </p:cNvPr>
          <p:cNvCxnSpPr>
            <a:cxnSpLocks/>
          </p:cNvCxnSpPr>
          <p:nvPr/>
        </p:nvCxnSpPr>
        <p:spPr>
          <a:xfrm>
            <a:off x="6579595" y="2659713"/>
            <a:ext cx="0" cy="2636187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9657521-44C7-3C47-425D-F397168B8AF5}"/>
              </a:ext>
            </a:extLst>
          </p:cNvPr>
          <p:cNvSpPr txBox="1"/>
          <p:nvPr/>
        </p:nvSpPr>
        <p:spPr>
          <a:xfrm>
            <a:off x="5114879" y="5045671"/>
            <a:ext cx="89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MO" sz="16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Intensity</a:t>
            </a:r>
            <a:endParaRPr kumimoji="0" lang="zh-MO" altLang="en-US" sz="1600" b="0" i="1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9576D4-1F08-5FD9-CFD7-B8D558629DCD}"/>
              </a:ext>
            </a:extLst>
          </p:cNvPr>
          <p:cNvSpPr txBox="1"/>
          <p:nvPr/>
        </p:nvSpPr>
        <p:spPr>
          <a:xfrm>
            <a:off x="710001" y="6210201"/>
            <a:ext cx="3956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M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TPSF: temporal point spreading function</a:t>
            </a:r>
            <a:endParaRPr kumimoji="0" lang="zh-MO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58" name="Picture 57" descr="output_W4qMZ6.gif">
            <a:extLst>
              <a:ext uri="{FF2B5EF4-FFF2-40B4-BE49-F238E27FC236}">
                <a16:creationId xmlns:a16="http://schemas.microsoft.com/office/drawing/2014/main" id="{E9B0CCB1-B33F-7E86-D790-ADCC6A06962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70" t="7203" r="13284" b="14762"/>
          <a:stretch/>
        </p:blipFill>
        <p:spPr>
          <a:xfrm>
            <a:off x="2448993" y="4741393"/>
            <a:ext cx="1066586" cy="906809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01A94023-1E65-A521-2A15-F1624585F9D4}"/>
              </a:ext>
            </a:extLst>
          </p:cNvPr>
          <p:cNvSpPr txBox="1"/>
          <p:nvPr/>
        </p:nvSpPr>
        <p:spPr>
          <a:xfrm>
            <a:off x="857250" y="3182584"/>
            <a:ext cx="1632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MO" sz="16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Direct calculation</a:t>
            </a:r>
            <a:endParaRPr kumimoji="0" lang="zh-MO" altLang="en-US" sz="1600" b="0" i="1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5EC7266-0F41-36CF-BD95-54BCF4C3AD93}"/>
              </a:ext>
            </a:extLst>
          </p:cNvPr>
          <p:cNvSpPr txBox="1"/>
          <p:nvPr/>
        </p:nvSpPr>
        <p:spPr>
          <a:xfrm>
            <a:off x="8465844" y="1718772"/>
            <a:ext cx="3657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github.com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milabuob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nirfaster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-FF</a:t>
            </a:r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7219BC40-7416-DABC-521C-E1B38280AEB8}"/>
              </a:ext>
            </a:extLst>
          </p:cNvPr>
          <p:cNvSpPr/>
          <p:nvPr/>
        </p:nvSpPr>
        <p:spPr>
          <a:xfrm>
            <a:off x="9608910" y="4544727"/>
            <a:ext cx="1268275" cy="33243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Linux</a:t>
            </a:r>
          </a:p>
        </p:txBody>
      </p:sp>
      <p:sp>
        <p:nvSpPr>
          <p:cNvPr id="64" name="Rounded Rectangle 6">
            <a:extLst>
              <a:ext uri="{FF2B5EF4-FFF2-40B4-BE49-F238E27FC236}">
                <a16:creationId xmlns:a16="http://schemas.microsoft.com/office/drawing/2014/main" id="{ACAEF1D1-8BF4-A264-956A-1A2AC80A3CA3}"/>
              </a:ext>
            </a:extLst>
          </p:cNvPr>
          <p:cNvSpPr/>
          <p:nvPr/>
        </p:nvSpPr>
        <p:spPr>
          <a:xfrm>
            <a:off x="9608910" y="4931330"/>
            <a:ext cx="1268275" cy="33243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macOS</a:t>
            </a:r>
          </a:p>
        </p:txBody>
      </p:sp>
      <p:sp>
        <p:nvSpPr>
          <p:cNvPr id="65" name="Rounded Rectangle 7">
            <a:extLst>
              <a:ext uri="{FF2B5EF4-FFF2-40B4-BE49-F238E27FC236}">
                <a16:creationId xmlns:a16="http://schemas.microsoft.com/office/drawing/2014/main" id="{07319B0B-2640-08EC-BB4A-21B312F1DA6E}"/>
              </a:ext>
            </a:extLst>
          </p:cNvPr>
          <p:cNvSpPr/>
          <p:nvPr/>
        </p:nvSpPr>
        <p:spPr>
          <a:xfrm>
            <a:off x="9624562" y="5324099"/>
            <a:ext cx="1268275" cy="33243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5D4373-EEBB-E93E-A6A1-5BFC0CE8F4CD}"/>
              </a:ext>
            </a:extLst>
          </p:cNvPr>
          <p:cNvSpPr txBox="1"/>
          <p:nvPr/>
        </p:nvSpPr>
        <p:spPr>
          <a:xfrm>
            <a:off x="9415672" y="2409651"/>
            <a:ext cx="1492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Acceleration</a:t>
            </a:r>
          </a:p>
        </p:txBody>
      </p:sp>
      <p:sp>
        <p:nvSpPr>
          <p:cNvPr id="67" name="Rounded Rectangle 56">
            <a:extLst>
              <a:ext uri="{FF2B5EF4-FFF2-40B4-BE49-F238E27FC236}">
                <a16:creationId xmlns:a16="http://schemas.microsoft.com/office/drawing/2014/main" id="{5A002814-A251-500B-A579-5BE2EC6577C7}"/>
              </a:ext>
            </a:extLst>
          </p:cNvPr>
          <p:cNvSpPr/>
          <p:nvPr/>
        </p:nvSpPr>
        <p:spPr>
          <a:xfrm>
            <a:off x="9322348" y="2791296"/>
            <a:ext cx="1777645" cy="33243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CPU: OpenMP</a:t>
            </a:r>
          </a:p>
        </p:txBody>
      </p:sp>
      <p:sp>
        <p:nvSpPr>
          <p:cNvPr id="68" name="Rounded Rectangle 57">
            <a:extLst>
              <a:ext uri="{FF2B5EF4-FFF2-40B4-BE49-F238E27FC236}">
                <a16:creationId xmlns:a16="http://schemas.microsoft.com/office/drawing/2014/main" id="{9EC95232-BF7B-E0BF-865C-E4671F1D08C9}"/>
              </a:ext>
            </a:extLst>
          </p:cNvPr>
          <p:cNvSpPr/>
          <p:nvPr/>
        </p:nvSpPr>
        <p:spPr>
          <a:xfrm>
            <a:off x="9322347" y="3219958"/>
            <a:ext cx="1777645" cy="33243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GPU: CUDA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E74FCA1-C2B8-7216-D63B-B0F1314A02AD}"/>
              </a:ext>
            </a:extLst>
          </p:cNvPr>
          <p:cNvSpPr txBox="1"/>
          <p:nvPr/>
        </p:nvSpPr>
        <p:spPr>
          <a:xfrm>
            <a:off x="9322347" y="3585469"/>
            <a:ext cx="1927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C++ implementation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01EE36-9632-73C5-8C0B-93D168640882}"/>
              </a:ext>
            </a:extLst>
          </p:cNvPr>
          <p:cNvSpPr txBox="1"/>
          <p:nvPr/>
        </p:nvSpPr>
        <p:spPr>
          <a:xfrm>
            <a:off x="9424986" y="4164939"/>
            <a:ext cx="1739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Cross-platform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2CAF6C24-F199-9458-CCF3-66E6E4CAFDA8}"/>
              </a:ext>
            </a:extLst>
          </p:cNvPr>
          <p:cNvSpPr/>
          <p:nvPr/>
        </p:nvSpPr>
        <p:spPr>
          <a:xfrm>
            <a:off x="5744912" y="5580615"/>
            <a:ext cx="1591743" cy="56626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MO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Sensitivity matrix</a:t>
            </a:r>
            <a:endParaRPr kumimoji="0" lang="zh-MO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A6A5A3-4867-BD49-9755-E243F6985AB1}"/>
              </a:ext>
            </a:extLst>
          </p:cNvPr>
          <p:cNvSpPr txBox="1"/>
          <p:nvPr/>
        </p:nvSpPr>
        <p:spPr>
          <a:xfrm>
            <a:off x="6171828" y="6135787"/>
            <a:ext cx="7435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MO" sz="16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In DOT</a:t>
            </a:r>
            <a:endParaRPr kumimoji="0" lang="zh-MO" altLang="en-US" sz="1600" b="0" i="1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480E0D8-C9DB-70EA-0C87-00AB273C9D09}"/>
              </a:ext>
            </a:extLst>
          </p:cNvPr>
          <p:cNvGrpSpPr/>
          <p:nvPr/>
        </p:nvGrpSpPr>
        <p:grpSpPr>
          <a:xfrm>
            <a:off x="1090268" y="4756910"/>
            <a:ext cx="1194527" cy="1164664"/>
            <a:chOff x="3837586" y="4972526"/>
            <a:chExt cx="871153" cy="849374"/>
          </a:xfrm>
        </p:grpSpPr>
        <p:pic>
          <p:nvPicPr>
            <p:cNvPr id="5" name="Picture 4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FC481BC7-5DD5-DAAB-7E86-B06C80591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l="14081" t="13415" r="11502" b="12745"/>
            <a:stretch>
              <a:fillRect/>
            </a:stretch>
          </p:blipFill>
          <p:spPr>
            <a:xfrm>
              <a:off x="3850374" y="4994699"/>
              <a:ext cx="858365" cy="638772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1CE3C0B-D97D-CDA3-073E-82412BCCD8E9}"/>
                </a:ext>
              </a:extLst>
            </p:cNvPr>
            <p:cNvCxnSpPr/>
            <p:nvPr/>
          </p:nvCxnSpPr>
          <p:spPr>
            <a:xfrm flipV="1">
              <a:off x="3837586" y="4972526"/>
              <a:ext cx="0" cy="6737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D3897D4-F96E-31F9-F2A6-8C48C70C52A7}"/>
                </a:ext>
              </a:extLst>
            </p:cNvPr>
            <p:cNvCxnSpPr>
              <a:cxnSpLocks/>
            </p:cNvCxnSpPr>
            <p:nvPr/>
          </p:nvCxnSpPr>
          <p:spPr>
            <a:xfrm>
              <a:off x="3837586" y="5646259"/>
              <a:ext cx="87115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7DE4844-56E2-07B1-5B50-8B953BB74285}"/>
                </a:ext>
              </a:extLst>
            </p:cNvPr>
            <p:cNvSpPr txBox="1"/>
            <p:nvPr/>
          </p:nvSpPr>
          <p:spPr>
            <a:xfrm>
              <a:off x="4022051" y="5606456"/>
              <a:ext cx="37542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time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6E1808-8605-C3AA-DE4F-B23B4024D1D9}"/>
              </a:ext>
            </a:extLst>
          </p:cNvPr>
          <p:cNvCxnSpPr>
            <a:cxnSpLocks/>
          </p:cNvCxnSpPr>
          <p:nvPr/>
        </p:nvCxnSpPr>
        <p:spPr>
          <a:xfrm flipV="1">
            <a:off x="1925411" y="4969784"/>
            <a:ext cx="626186" cy="2152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5025FB-D4C5-2AF7-E749-87D3B4EC0B07}"/>
                  </a:ext>
                </a:extLst>
              </p:cNvPr>
              <p:cNvSpPr txBox="1"/>
              <p:nvPr/>
            </p:nvSpPr>
            <p:spPr>
              <a:xfrm>
                <a:off x="1090268" y="3507031"/>
                <a:ext cx="958019" cy="466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kumimoji="0" lang="en-GB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GB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en-US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kumimoji="0" lang="en-GB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GB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0" lang="en-GB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p>
                          </m:sSup>
                          <m:r>
                            <a:rPr kumimoji="0" lang="en-GB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  <m:d>
                            <m:dPr>
                              <m:ctrlPr>
                                <a:rPr kumimoji="0" lang="en-GB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r>
                            <a:rPr kumimoji="0" lang="en-GB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5025FB-D4C5-2AF7-E749-87D3B4EC0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268" y="3507031"/>
                <a:ext cx="958019" cy="466153"/>
              </a:xfrm>
              <a:prstGeom prst="rect">
                <a:avLst/>
              </a:prstGeom>
              <a:blipFill>
                <a:blip r:embed="rId7"/>
                <a:stretch>
                  <a:fillRect l="-77070" t="-189610" r="-32484" b="-275325"/>
                </a:stretch>
              </a:blipFill>
            </p:spPr>
            <p:txBody>
              <a:bodyPr/>
              <a:lstStyle/>
              <a:p>
                <a:r>
                  <a:rPr lang="zh-MO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61F3DB91-214F-D370-1599-1114423A55A6}"/>
              </a:ext>
            </a:extLst>
          </p:cNvPr>
          <p:cNvSpPr txBox="1"/>
          <p:nvPr/>
        </p:nvSpPr>
        <p:spPr>
          <a:xfrm>
            <a:off x="752687" y="5097547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MO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新細明體" panose="02020500000000000000" pitchFamily="18" charset="-120"/>
                <a:cs typeface="Times" panose="02020603050405020304" pitchFamily="18" charset="0"/>
              </a:rPr>
              <a:t>I(t)</a:t>
            </a:r>
            <a:endParaRPr kumimoji="0" lang="zh-MO" altLang="en-US" sz="1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新細明體" panose="02020500000000000000" pitchFamily="18" charset="-120"/>
              <a:cs typeface="Times" panose="02020603050405020304" pitchFamily="18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811063-2CFA-EAF8-BD86-CBEB20E1E2CE}"/>
              </a:ext>
            </a:extLst>
          </p:cNvPr>
          <p:cNvCxnSpPr/>
          <p:nvPr/>
        </p:nvCxnSpPr>
        <p:spPr>
          <a:xfrm flipV="1">
            <a:off x="1407792" y="4148892"/>
            <a:ext cx="40007" cy="3958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7D15C95-C717-74EC-4798-1AC18E6E5276}"/>
              </a:ext>
            </a:extLst>
          </p:cNvPr>
          <p:cNvSpPr txBox="1"/>
          <p:nvPr/>
        </p:nvSpPr>
        <p:spPr>
          <a:xfrm>
            <a:off x="1264385" y="4188413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MO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X</a:t>
            </a:r>
            <a:endParaRPr kumimoji="0" lang="zh-MO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26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8" grpId="0"/>
      <p:bldP spid="32" grpId="0"/>
      <p:bldP spid="33" grpId="0" animBg="1"/>
      <p:bldP spid="34" grpId="0" animBg="1"/>
      <p:bldP spid="35" grpId="0" animBg="1"/>
      <p:bldP spid="36" grpId="0" animBg="1"/>
      <p:bldP spid="37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8" grpId="0"/>
      <p:bldP spid="49" grpId="0" animBg="1"/>
      <p:bldP spid="50" grpId="0" animBg="1"/>
      <p:bldP spid="51" grpId="0" animBg="1"/>
      <p:bldP spid="52" grpId="0" animBg="1"/>
      <p:bldP spid="56" grpId="0"/>
      <p:bldP spid="57" grpId="0"/>
      <p:bldP spid="60" grpId="0"/>
      <p:bldP spid="63" grpId="0" animBg="1"/>
      <p:bldP spid="64" grpId="0" animBg="1"/>
      <p:bldP spid="65" grpId="0" animBg="1"/>
      <p:bldP spid="66" grpId="0"/>
      <p:bldP spid="67" grpId="0" animBg="1"/>
      <p:bldP spid="68" grpId="0" animBg="1"/>
      <p:bldP spid="69" grpId="0"/>
      <p:bldP spid="70" grpId="0"/>
      <p:bldP spid="73" grpId="0" animBg="1"/>
      <p:bldP spid="74" grpId="0"/>
      <p:bldP spid="15" grpId="0"/>
      <p:bldP spid="38" grpId="0"/>
      <p:bldP spid="5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40C586-1289-F854-554F-CAFE360DA6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CF25-F9B6-EA4B-991F-E50888CA6F8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F07239-6A61-16B9-F940-6633A5FB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MO" dirty="0"/>
              <a:t>Old solver and its limitations</a:t>
            </a:r>
            <a:endParaRPr lang="zh-MO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F3CACC-8DAB-9EB5-1327-9D5932299E60}"/>
                  </a:ext>
                </a:extLst>
              </p:cNvPr>
              <p:cNvSpPr txBox="1"/>
              <p:nvPr/>
            </p:nvSpPr>
            <p:spPr>
              <a:xfrm>
                <a:off x="1838955" y="1669075"/>
                <a:ext cx="15881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GB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r>
                        <m:rPr>
                          <m:sty m:val="p"/>
                        </m:rPr>
                        <a:rPr kumimoji="0" lang="el-GR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Φ</m:t>
                      </m:r>
                      <m:r>
                        <a:rPr kumimoji="0" lang="en-GB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GB" sz="3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𝑄</m:t>
                      </m:r>
                    </m:oMath>
                  </m:oMathPara>
                </a14:m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F3CACC-8DAB-9EB5-1327-9D5932299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955" y="1669075"/>
                <a:ext cx="158819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MO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DF1E1BF-5BED-7228-C26D-7CDC338F9B8E}"/>
              </a:ext>
            </a:extLst>
          </p:cNvPr>
          <p:cNvSpPr txBox="1"/>
          <p:nvPr/>
        </p:nvSpPr>
        <p:spPr>
          <a:xfrm>
            <a:off x="3900410" y="1186248"/>
            <a:ext cx="3126259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Symmetric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Sparse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 large to solve directly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FFA9F4-5798-650D-1E49-86DF3BB0CF46}"/>
              </a:ext>
            </a:extLst>
          </p:cNvPr>
          <p:cNvSpPr txBox="1"/>
          <p:nvPr/>
        </p:nvSpPr>
        <p:spPr>
          <a:xfrm>
            <a:off x="7747686" y="1691284"/>
            <a:ext cx="1664045" cy="369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Iterative solvers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BFB30B01-BDB7-752C-4AE8-09BF1A4EA209}"/>
              </a:ext>
            </a:extLst>
          </p:cNvPr>
          <p:cNvSpPr/>
          <p:nvPr/>
        </p:nvSpPr>
        <p:spPr>
          <a:xfrm>
            <a:off x="3583459" y="1458097"/>
            <a:ext cx="160638" cy="914400"/>
          </a:xfrm>
          <a:prstGeom prst="leftBrac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ight Arrow 9">
            <a:extLst>
              <a:ext uri="{FF2B5EF4-FFF2-40B4-BE49-F238E27FC236}">
                <a16:creationId xmlns:a16="http://schemas.microsoft.com/office/drawing/2014/main" id="{ED982703-7BC1-9586-4F45-858CA30516F5}"/>
              </a:ext>
            </a:extLst>
          </p:cNvPr>
          <p:cNvSpPr/>
          <p:nvPr/>
        </p:nvSpPr>
        <p:spPr>
          <a:xfrm>
            <a:off x="7078259" y="1563128"/>
            <a:ext cx="308918" cy="704335"/>
          </a:xfrm>
          <a:prstGeom prst="rightArrow">
            <a:avLst/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EE3D92-EE74-98CA-F146-E502AF84E165}"/>
              </a:ext>
            </a:extLst>
          </p:cNvPr>
          <p:cNvSpPr txBox="1"/>
          <p:nvPr/>
        </p:nvSpPr>
        <p:spPr>
          <a:xfrm>
            <a:off x="2122945" y="5671752"/>
            <a:ext cx="33405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BiCGStab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biconjugate gradient stabilized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PCG: preconditioned conjugate gradient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FSAI: factorized sparse approximate inverse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C8FCED64-CC23-B3F6-E5B3-138146713494}"/>
              </a:ext>
            </a:extLst>
          </p:cNvPr>
          <p:cNvSpPr/>
          <p:nvPr/>
        </p:nvSpPr>
        <p:spPr>
          <a:xfrm>
            <a:off x="3427146" y="4873827"/>
            <a:ext cx="1791730" cy="630195"/>
          </a:xfrm>
          <a:prstGeom prst="roundRect">
            <a:avLst/>
          </a:prstGeom>
          <a:solidFill>
            <a:srgbClr val="0057BF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BiCGStab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FSAI</a:t>
            </a:r>
          </a:p>
        </p:txBody>
      </p:sp>
      <p:sp>
        <p:nvSpPr>
          <p:cNvPr id="26" name="Rounded Rectangle 12">
            <a:extLst>
              <a:ext uri="{FF2B5EF4-FFF2-40B4-BE49-F238E27FC236}">
                <a16:creationId xmlns:a16="http://schemas.microsoft.com/office/drawing/2014/main" id="{22EB3BB7-C435-0175-96E5-67E05A95DDB4}"/>
              </a:ext>
            </a:extLst>
          </p:cNvPr>
          <p:cNvSpPr/>
          <p:nvPr/>
        </p:nvSpPr>
        <p:spPr>
          <a:xfrm>
            <a:off x="3865811" y="4297723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BC0D36BB-E8F3-2BB0-6DDB-234CFB7AF82A}"/>
              </a:ext>
            </a:extLst>
          </p:cNvPr>
          <p:cNvSpPr/>
          <p:nvPr/>
        </p:nvSpPr>
        <p:spPr>
          <a:xfrm>
            <a:off x="3865811" y="3721619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28" name="Rounded Rectangle 14">
            <a:extLst>
              <a:ext uri="{FF2B5EF4-FFF2-40B4-BE49-F238E27FC236}">
                <a16:creationId xmlns:a16="http://schemas.microsoft.com/office/drawing/2014/main" id="{7B6DFE1A-B6CC-570D-F0EB-6C2ED34557E5}"/>
              </a:ext>
            </a:extLst>
          </p:cNvPr>
          <p:cNvSpPr/>
          <p:nvPr/>
        </p:nvSpPr>
        <p:spPr>
          <a:xfrm>
            <a:off x="3865811" y="2979748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07028A-6125-5368-9871-394B9032235B}"/>
              </a:ext>
            </a:extLst>
          </p:cNvPr>
          <p:cNvSpPr txBox="1"/>
          <p:nvPr/>
        </p:nvSpPr>
        <p:spPr>
          <a:xfrm>
            <a:off x="4151329" y="331361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8D5F1FA-F63D-BEF2-3471-8C54EE7BE961}"/>
              </a:ext>
            </a:extLst>
          </p:cNvPr>
          <p:cNvCxnSpPr/>
          <p:nvPr/>
        </p:nvCxnSpPr>
        <p:spPr>
          <a:xfrm>
            <a:off x="3637211" y="2979748"/>
            <a:ext cx="0" cy="168310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stealth" w="lg" len="lg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CE23778-C403-1A94-44F5-A28491A94FDA}"/>
              </a:ext>
            </a:extLst>
          </p:cNvPr>
          <p:cNvSpPr txBox="1"/>
          <p:nvPr/>
        </p:nvSpPr>
        <p:spPr>
          <a:xfrm>
            <a:off x="2193515" y="3821298"/>
            <a:ext cx="1133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NIRFASTer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279E07-21FB-A4ED-9586-7E9180C77F5B}"/>
              </a:ext>
            </a:extLst>
          </p:cNvPr>
          <p:cNvSpPr txBox="1"/>
          <p:nvPr/>
        </p:nvSpPr>
        <p:spPr>
          <a:xfrm>
            <a:off x="5646170" y="3366980"/>
            <a:ext cx="6072598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Computational load of one source is low for modern GPUs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Communication overhead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efficient PCG algorithm suffices when system is real</a:t>
            </a:r>
          </a:p>
        </p:txBody>
      </p:sp>
    </p:spTree>
    <p:extLst>
      <p:ext uri="{BB962C8B-B14F-4D97-AF65-F5344CB8AC3E}">
        <p14:creationId xmlns:p14="http://schemas.microsoft.com/office/powerpoint/2010/main" val="57267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 animBg="1"/>
      <p:bldP spid="29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D9CD29-E6DA-163A-D206-6004F32E77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CF25-F9B6-EA4B-991F-E50888CA6F8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82CCB0-E609-5897-0C3A-78574D95D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MO" dirty="0"/>
              <a:t>Why faster? The new solvers</a:t>
            </a:r>
            <a:endParaRPr lang="zh-MO" altLang="en-US" dirty="0"/>
          </a:p>
        </p:txBody>
      </p:sp>
      <p:sp>
        <p:nvSpPr>
          <p:cNvPr id="58" name="Pentagon 54">
            <a:extLst>
              <a:ext uri="{FF2B5EF4-FFF2-40B4-BE49-F238E27FC236}">
                <a16:creationId xmlns:a16="http://schemas.microsoft.com/office/drawing/2014/main" id="{C68095A6-10CF-7E50-85BD-9B72047306F0}"/>
              </a:ext>
            </a:extLst>
          </p:cNvPr>
          <p:cNvSpPr/>
          <p:nvPr/>
        </p:nvSpPr>
        <p:spPr>
          <a:xfrm rot="5400000">
            <a:off x="9131207" y="3255771"/>
            <a:ext cx="2055182" cy="1227727"/>
          </a:xfrm>
          <a:prstGeom prst="homePlate">
            <a:avLst>
              <a:gd name="adj" fmla="val 8711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Pentagon 53">
            <a:extLst>
              <a:ext uri="{FF2B5EF4-FFF2-40B4-BE49-F238E27FC236}">
                <a16:creationId xmlns:a16="http://schemas.microsoft.com/office/drawing/2014/main" id="{ACCC5FC9-9711-0047-0F7A-39ECD753FF9C}"/>
              </a:ext>
            </a:extLst>
          </p:cNvPr>
          <p:cNvSpPr/>
          <p:nvPr/>
        </p:nvSpPr>
        <p:spPr>
          <a:xfrm rot="5400000">
            <a:off x="7046630" y="3255772"/>
            <a:ext cx="2055182" cy="1227725"/>
          </a:xfrm>
          <a:prstGeom prst="homePlate">
            <a:avLst>
              <a:gd name="adj" fmla="val 8711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Pentagon 25">
            <a:extLst>
              <a:ext uri="{FF2B5EF4-FFF2-40B4-BE49-F238E27FC236}">
                <a16:creationId xmlns:a16="http://schemas.microsoft.com/office/drawing/2014/main" id="{5A63FFCA-ED0D-9DAB-BD3E-65DA2F4003FC}"/>
              </a:ext>
            </a:extLst>
          </p:cNvPr>
          <p:cNvSpPr/>
          <p:nvPr/>
        </p:nvSpPr>
        <p:spPr>
          <a:xfrm rot="5400000">
            <a:off x="451479" y="2705780"/>
            <a:ext cx="2591160" cy="1791730"/>
          </a:xfrm>
          <a:prstGeom prst="homePlate">
            <a:avLst>
              <a:gd name="adj" fmla="val 8711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ounded Rectangle 4">
            <a:extLst>
              <a:ext uri="{FF2B5EF4-FFF2-40B4-BE49-F238E27FC236}">
                <a16:creationId xmlns:a16="http://schemas.microsoft.com/office/drawing/2014/main" id="{483C5D16-C24A-A6C5-F8F3-AD9A4438B8AE}"/>
              </a:ext>
            </a:extLst>
          </p:cNvPr>
          <p:cNvSpPr/>
          <p:nvPr/>
        </p:nvSpPr>
        <p:spPr>
          <a:xfrm>
            <a:off x="851194" y="4916417"/>
            <a:ext cx="1791730" cy="630195"/>
          </a:xfrm>
          <a:prstGeom prst="roundRect">
            <a:avLst/>
          </a:prstGeom>
          <a:solidFill>
            <a:srgbClr val="0057BF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BiCGStab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FSAI</a:t>
            </a:r>
          </a:p>
        </p:txBody>
      </p:sp>
      <p:sp>
        <p:nvSpPr>
          <p:cNvPr id="62" name="Rounded Rectangle 6">
            <a:extLst>
              <a:ext uri="{FF2B5EF4-FFF2-40B4-BE49-F238E27FC236}">
                <a16:creationId xmlns:a16="http://schemas.microsoft.com/office/drawing/2014/main" id="{718F7615-AC06-9D61-9207-6832910B7131}"/>
              </a:ext>
            </a:extLst>
          </p:cNvPr>
          <p:cNvSpPr/>
          <p:nvPr/>
        </p:nvSpPr>
        <p:spPr>
          <a:xfrm rot="5400000">
            <a:off x="746587" y="4055443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63" name="Rounded Rectangle 7">
            <a:extLst>
              <a:ext uri="{FF2B5EF4-FFF2-40B4-BE49-F238E27FC236}">
                <a16:creationId xmlns:a16="http://schemas.microsoft.com/office/drawing/2014/main" id="{0B8DA25A-3BDF-04A4-16B6-1F6018DBC7BA}"/>
              </a:ext>
            </a:extLst>
          </p:cNvPr>
          <p:cNvSpPr/>
          <p:nvPr/>
        </p:nvSpPr>
        <p:spPr>
          <a:xfrm rot="5400000">
            <a:off x="1224913" y="4055444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64" name="Rounded Rectangle 8">
            <a:extLst>
              <a:ext uri="{FF2B5EF4-FFF2-40B4-BE49-F238E27FC236}">
                <a16:creationId xmlns:a16="http://schemas.microsoft.com/office/drawing/2014/main" id="{1DEC80AB-3C6F-2A6D-A71B-50C17B4CA389}"/>
              </a:ext>
            </a:extLst>
          </p:cNvPr>
          <p:cNvSpPr/>
          <p:nvPr/>
        </p:nvSpPr>
        <p:spPr>
          <a:xfrm rot="5400000">
            <a:off x="1851911" y="4048175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9CD31D-53BA-6946-8F67-0AB3C998C33C}"/>
              </a:ext>
            </a:extLst>
          </p:cNvPr>
          <p:cNvSpPr txBox="1"/>
          <p:nvPr/>
        </p:nvSpPr>
        <p:spPr>
          <a:xfrm rot="5400000">
            <a:off x="1868483" y="406850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66" name="Rounded Rectangle 10">
            <a:extLst>
              <a:ext uri="{FF2B5EF4-FFF2-40B4-BE49-F238E27FC236}">
                <a16:creationId xmlns:a16="http://schemas.microsoft.com/office/drawing/2014/main" id="{7AA90D11-A2E4-A203-3B38-E73E0B90C5A5}"/>
              </a:ext>
            </a:extLst>
          </p:cNvPr>
          <p:cNvSpPr/>
          <p:nvPr/>
        </p:nvSpPr>
        <p:spPr>
          <a:xfrm>
            <a:off x="2955443" y="4916416"/>
            <a:ext cx="1791730" cy="630195"/>
          </a:xfrm>
          <a:prstGeom prst="roundRect">
            <a:avLst/>
          </a:prstGeom>
          <a:solidFill>
            <a:srgbClr val="0057BF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PCG + FSAI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A1A7CCA-CC70-FE93-6158-8FFE3201A2EF}"/>
              </a:ext>
            </a:extLst>
          </p:cNvPr>
          <p:cNvSpPr txBox="1"/>
          <p:nvPr/>
        </p:nvSpPr>
        <p:spPr>
          <a:xfrm>
            <a:off x="851194" y="1595130"/>
            <a:ext cx="1960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FD problems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Complex numbers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5838C8-2B20-E8F7-C437-971B27094FBC}"/>
              </a:ext>
            </a:extLst>
          </p:cNvPr>
          <p:cNvSpPr txBox="1"/>
          <p:nvPr/>
        </p:nvSpPr>
        <p:spPr>
          <a:xfrm>
            <a:off x="2992709" y="1595131"/>
            <a:ext cx="1608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Others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Real numbers</a:t>
            </a:r>
          </a:p>
        </p:txBody>
      </p:sp>
      <p:sp>
        <p:nvSpPr>
          <p:cNvPr id="69" name="Rounded Rectangle 20">
            <a:extLst>
              <a:ext uri="{FF2B5EF4-FFF2-40B4-BE49-F238E27FC236}">
                <a16:creationId xmlns:a16="http://schemas.microsoft.com/office/drawing/2014/main" id="{6AF38FF0-50DB-95B6-2543-FDFA392A3324}"/>
              </a:ext>
            </a:extLst>
          </p:cNvPr>
          <p:cNvSpPr/>
          <p:nvPr/>
        </p:nvSpPr>
        <p:spPr>
          <a:xfrm rot="5400000">
            <a:off x="746587" y="3023402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17</a:t>
            </a:r>
          </a:p>
        </p:txBody>
      </p:sp>
      <p:sp>
        <p:nvSpPr>
          <p:cNvPr id="70" name="Rounded Rectangle 21">
            <a:extLst>
              <a:ext uri="{FF2B5EF4-FFF2-40B4-BE49-F238E27FC236}">
                <a16:creationId xmlns:a16="http://schemas.microsoft.com/office/drawing/2014/main" id="{6E79C391-EF87-A7B1-9434-4A10304911C4}"/>
              </a:ext>
            </a:extLst>
          </p:cNvPr>
          <p:cNvSpPr/>
          <p:nvPr/>
        </p:nvSpPr>
        <p:spPr>
          <a:xfrm rot="5400000">
            <a:off x="1224913" y="3023403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18</a:t>
            </a:r>
          </a:p>
        </p:txBody>
      </p:sp>
      <p:sp>
        <p:nvSpPr>
          <p:cNvPr id="71" name="Rounded Rectangle 22">
            <a:extLst>
              <a:ext uri="{FF2B5EF4-FFF2-40B4-BE49-F238E27FC236}">
                <a16:creationId xmlns:a16="http://schemas.microsoft.com/office/drawing/2014/main" id="{7C9A287C-8902-8494-46F7-425B5896EB7A}"/>
              </a:ext>
            </a:extLst>
          </p:cNvPr>
          <p:cNvSpPr/>
          <p:nvPr/>
        </p:nvSpPr>
        <p:spPr>
          <a:xfrm rot="5400000">
            <a:off x="1851911" y="3016134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32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554104-4A78-37A0-1D57-C29D957449FB}"/>
              </a:ext>
            </a:extLst>
          </p:cNvPr>
          <p:cNvSpPr txBox="1"/>
          <p:nvPr/>
        </p:nvSpPr>
        <p:spPr>
          <a:xfrm rot="5400000">
            <a:off x="1868483" y="303646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5F86CA0-E2BD-B82A-9306-ADE7243545F5}"/>
              </a:ext>
            </a:extLst>
          </p:cNvPr>
          <p:cNvSpPr txBox="1"/>
          <p:nvPr/>
        </p:nvSpPr>
        <p:spPr>
          <a:xfrm>
            <a:off x="1521312" y="227265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90CCDE2-E579-A9E2-AD83-EA60C94F052E}"/>
              </a:ext>
            </a:extLst>
          </p:cNvPr>
          <p:cNvSpPr/>
          <p:nvPr/>
        </p:nvSpPr>
        <p:spPr>
          <a:xfrm>
            <a:off x="939978" y="3743490"/>
            <a:ext cx="1604996" cy="992162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5BEC4BE-C0A2-730B-B4AF-8B6DA1CCD2B8}"/>
              </a:ext>
            </a:extLst>
          </p:cNvPr>
          <p:cNvSpPr/>
          <p:nvPr/>
        </p:nvSpPr>
        <p:spPr>
          <a:xfrm>
            <a:off x="939978" y="2699085"/>
            <a:ext cx="1604996" cy="992162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Pentagon 29">
            <a:extLst>
              <a:ext uri="{FF2B5EF4-FFF2-40B4-BE49-F238E27FC236}">
                <a16:creationId xmlns:a16="http://schemas.microsoft.com/office/drawing/2014/main" id="{1C090AD2-EB78-B90E-FD6F-7C41B74DFE83}"/>
              </a:ext>
            </a:extLst>
          </p:cNvPr>
          <p:cNvSpPr/>
          <p:nvPr/>
        </p:nvSpPr>
        <p:spPr>
          <a:xfrm rot="5400000">
            <a:off x="2555728" y="2714711"/>
            <a:ext cx="2591160" cy="1791730"/>
          </a:xfrm>
          <a:prstGeom prst="homePlate">
            <a:avLst>
              <a:gd name="adj" fmla="val 8711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ounded Rectangle 30">
            <a:extLst>
              <a:ext uri="{FF2B5EF4-FFF2-40B4-BE49-F238E27FC236}">
                <a16:creationId xmlns:a16="http://schemas.microsoft.com/office/drawing/2014/main" id="{C1C032B1-B3A4-A2A5-1E0C-D590F0C1FD78}"/>
              </a:ext>
            </a:extLst>
          </p:cNvPr>
          <p:cNvSpPr/>
          <p:nvPr/>
        </p:nvSpPr>
        <p:spPr>
          <a:xfrm rot="5400000">
            <a:off x="2850836" y="4064374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78" name="Rounded Rectangle 31">
            <a:extLst>
              <a:ext uri="{FF2B5EF4-FFF2-40B4-BE49-F238E27FC236}">
                <a16:creationId xmlns:a16="http://schemas.microsoft.com/office/drawing/2014/main" id="{F660BFB3-F163-44D0-87EF-B8C7BF20B8C0}"/>
              </a:ext>
            </a:extLst>
          </p:cNvPr>
          <p:cNvSpPr/>
          <p:nvPr/>
        </p:nvSpPr>
        <p:spPr>
          <a:xfrm rot="5400000">
            <a:off x="3329162" y="4064375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79" name="Rounded Rectangle 32">
            <a:extLst>
              <a:ext uri="{FF2B5EF4-FFF2-40B4-BE49-F238E27FC236}">
                <a16:creationId xmlns:a16="http://schemas.microsoft.com/office/drawing/2014/main" id="{54F425F2-DA5D-77EF-DF45-F695CE67543D}"/>
              </a:ext>
            </a:extLst>
          </p:cNvPr>
          <p:cNvSpPr/>
          <p:nvPr/>
        </p:nvSpPr>
        <p:spPr>
          <a:xfrm rot="5400000">
            <a:off x="3956160" y="4057106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40A93F-BE5B-DE86-9C48-3D1D517AFDA1}"/>
              </a:ext>
            </a:extLst>
          </p:cNvPr>
          <p:cNvSpPr txBox="1"/>
          <p:nvPr/>
        </p:nvSpPr>
        <p:spPr>
          <a:xfrm rot="5400000">
            <a:off x="3972732" y="407743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81" name="Rounded Rectangle 34">
            <a:extLst>
              <a:ext uri="{FF2B5EF4-FFF2-40B4-BE49-F238E27FC236}">
                <a16:creationId xmlns:a16="http://schemas.microsoft.com/office/drawing/2014/main" id="{E66AF7BB-EB13-1B9F-557D-082D5EF48557}"/>
              </a:ext>
            </a:extLst>
          </p:cNvPr>
          <p:cNvSpPr/>
          <p:nvPr/>
        </p:nvSpPr>
        <p:spPr>
          <a:xfrm rot="5400000">
            <a:off x="2850836" y="3032333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17</a:t>
            </a:r>
          </a:p>
        </p:txBody>
      </p:sp>
      <p:sp>
        <p:nvSpPr>
          <p:cNvPr id="82" name="Rounded Rectangle 35">
            <a:extLst>
              <a:ext uri="{FF2B5EF4-FFF2-40B4-BE49-F238E27FC236}">
                <a16:creationId xmlns:a16="http://schemas.microsoft.com/office/drawing/2014/main" id="{EA99EBD9-AD1E-387D-F43F-3ACB15D2225B}"/>
              </a:ext>
            </a:extLst>
          </p:cNvPr>
          <p:cNvSpPr/>
          <p:nvPr/>
        </p:nvSpPr>
        <p:spPr>
          <a:xfrm rot="5400000">
            <a:off x="3329162" y="3032334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18</a:t>
            </a:r>
          </a:p>
        </p:txBody>
      </p:sp>
      <p:sp>
        <p:nvSpPr>
          <p:cNvPr id="83" name="Rounded Rectangle 36">
            <a:extLst>
              <a:ext uri="{FF2B5EF4-FFF2-40B4-BE49-F238E27FC236}">
                <a16:creationId xmlns:a16="http://schemas.microsoft.com/office/drawing/2014/main" id="{7230E57D-DD02-CBC5-DCCF-5E8A27914C83}"/>
              </a:ext>
            </a:extLst>
          </p:cNvPr>
          <p:cNvSpPr/>
          <p:nvPr/>
        </p:nvSpPr>
        <p:spPr>
          <a:xfrm rot="5400000">
            <a:off x="3956160" y="3025065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32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D578243-BC91-85B1-9152-65EF4904D279}"/>
              </a:ext>
            </a:extLst>
          </p:cNvPr>
          <p:cNvSpPr txBox="1"/>
          <p:nvPr/>
        </p:nvSpPr>
        <p:spPr>
          <a:xfrm rot="5400000">
            <a:off x="3972732" y="304539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304309A-E3FE-3982-8B6F-E63A830551F9}"/>
              </a:ext>
            </a:extLst>
          </p:cNvPr>
          <p:cNvSpPr txBox="1"/>
          <p:nvPr/>
        </p:nvSpPr>
        <p:spPr>
          <a:xfrm>
            <a:off x="3625561" y="228158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7A91084-5973-2F82-5D22-176C5EB7E35A}"/>
              </a:ext>
            </a:extLst>
          </p:cNvPr>
          <p:cNvSpPr/>
          <p:nvPr/>
        </p:nvSpPr>
        <p:spPr>
          <a:xfrm>
            <a:off x="3044227" y="3752421"/>
            <a:ext cx="1604996" cy="992162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D2D7274-111E-2024-A6B1-0094702E466B}"/>
              </a:ext>
            </a:extLst>
          </p:cNvPr>
          <p:cNvSpPr/>
          <p:nvPr/>
        </p:nvSpPr>
        <p:spPr>
          <a:xfrm>
            <a:off x="3044227" y="2708016"/>
            <a:ext cx="1604996" cy="992162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Rounded Rectangle 41">
            <a:extLst>
              <a:ext uri="{FF2B5EF4-FFF2-40B4-BE49-F238E27FC236}">
                <a16:creationId xmlns:a16="http://schemas.microsoft.com/office/drawing/2014/main" id="{BDD1E8DB-30EA-836A-A0BB-3861D7C2EF3C}"/>
              </a:ext>
            </a:extLst>
          </p:cNvPr>
          <p:cNvSpPr/>
          <p:nvPr/>
        </p:nvSpPr>
        <p:spPr>
          <a:xfrm>
            <a:off x="7174818" y="4919343"/>
            <a:ext cx="1791730" cy="630195"/>
          </a:xfrm>
          <a:prstGeom prst="roundRect">
            <a:avLst/>
          </a:prstGeom>
          <a:solidFill>
            <a:srgbClr val="0057BF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BiCGStab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FSAI</a:t>
            </a:r>
          </a:p>
        </p:txBody>
      </p:sp>
      <p:sp>
        <p:nvSpPr>
          <p:cNvPr id="89" name="Rounded Rectangle 42">
            <a:extLst>
              <a:ext uri="{FF2B5EF4-FFF2-40B4-BE49-F238E27FC236}">
                <a16:creationId xmlns:a16="http://schemas.microsoft.com/office/drawing/2014/main" id="{35685C19-1A23-D057-70E0-78F78FC37036}"/>
              </a:ext>
            </a:extLst>
          </p:cNvPr>
          <p:cNvSpPr/>
          <p:nvPr/>
        </p:nvSpPr>
        <p:spPr>
          <a:xfrm>
            <a:off x="7613483" y="4343239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90" name="Rounded Rectangle 43">
            <a:extLst>
              <a:ext uri="{FF2B5EF4-FFF2-40B4-BE49-F238E27FC236}">
                <a16:creationId xmlns:a16="http://schemas.microsoft.com/office/drawing/2014/main" id="{EC1A56C2-F99E-5225-3C41-D26889D35D1E}"/>
              </a:ext>
            </a:extLst>
          </p:cNvPr>
          <p:cNvSpPr/>
          <p:nvPr/>
        </p:nvSpPr>
        <p:spPr>
          <a:xfrm>
            <a:off x="7613483" y="3767135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91" name="Rounded Rectangle 44">
            <a:extLst>
              <a:ext uri="{FF2B5EF4-FFF2-40B4-BE49-F238E27FC236}">
                <a16:creationId xmlns:a16="http://schemas.microsoft.com/office/drawing/2014/main" id="{E673D3B7-2688-116B-C39B-F17CC0229F5D}"/>
              </a:ext>
            </a:extLst>
          </p:cNvPr>
          <p:cNvSpPr/>
          <p:nvPr/>
        </p:nvSpPr>
        <p:spPr>
          <a:xfrm>
            <a:off x="7613483" y="3025264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0DB05EF-C5D4-EFDB-9E8D-78659B85E68F}"/>
              </a:ext>
            </a:extLst>
          </p:cNvPr>
          <p:cNvSpPr txBox="1"/>
          <p:nvPr/>
        </p:nvSpPr>
        <p:spPr>
          <a:xfrm>
            <a:off x="7899001" y="335913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93" name="Rounded Rectangle 47">
            <a:extLst>
              <a:ext uri="{FF2B5EF4-FFF2-40B4-BE49-F238E27FC236}">
                <a16:creationId xmlns:a16="http://schemas.microsoft.com/office/drawing/2014/main" id="{6F1A884E-41F8-2789-0DBF-AE51A26546FC}"/>
              </a:ext>
            </a:extLst>
          </p:cNvPr>
          <p:cNvSpPr/>
          <p:nvPr/>
        </p:nvSpPr>
        <p:spPr>
          <a:xfrm>
            <a:off x="9252066" y="4919343"/>
            <a:ext cx="1791730" cy="630195"/>
          </a:xfrm>
          <a:prstGeom prst="roundRect">
            <a:avLst/>
          </a:prstGeom>
          <a:solidFill>
            <a:srgbClr val="0057BF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PCG + FSAI</a:t>
            </a:r>
          </a:p>
        </p:txBody>
      </p:sp>
      <p:sp>
        <p:nvSpPr>
          <p:cNvPr id="94" name="Rounded Rectangle 48">
            <a:extLst>
              <a:ext uri="{FF2B5EF4-FFF2-40B4-BE49-F238E27FC236}">
                <a16:creationId xmlns:a16="http://schemas.microsoft.com/office/drawing/2014/main" id="{8647D547-3D4F-988B-100C-81BD3C794415}"/>
              </a:ext>
            </a:extLst>
          </p:cNvPr>
          <p:cNvSpPr/>
          <p:nvPr/>
        </p:nvSpPr>
        <p:spPr>
          <a:xfrm>
            <a:off x="9690731" y="4343239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95" name="Rounded Rectangle 49">
            <a:extLst>
              <a:ext uri="{FF2B5EF4-FFF2-40B4-BE49-F238E27FC236}">
                <a16:creationId xmlns:a16="http://schemas.microsoft.com/office/drawing/2014/main" id="{97036470-8249-C91B-AEED-78D3B3516BA1}"/>
              </a:ext>
            </a:extLst>
          </p:cNvPr>
          <p:cNvSpPr/>
          <p:nvPr/>
        </p:nvSpPr>
        <p:spPr>
          <a:xfrm>
            <a:off x="9690731" y="3767135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96" name="Rounded Rectangle 50">
            <a:extLst>
              <a:ext uri="{FF2B5EF4-FFF2-40B4-BE49-F238E27FC236}">
                <a16:creationId xmlns:a16="http://schemas.microsoft.com/office/drawing/2014/main" id="{553EA85B-F7F1-8F42-EDF5-6811B08C35FE}"/>
              </a:ext>
            </a:extLst>
          </p:cNvPr>
          <p:cNvSpPr/>
          <p:nvPr/>
        </p:nvSpPr>
        <p:spPr>
          <a:xfrm>
            <a:off x="9690731" y="3025264"/>
            <a:ext cx="914400" cy="365125"/>
          </a:xfrm>
          <a:prstGeom prst="roundRect">
            <a:avLst/>
          </a:prstGeom>
          <a:solidFill>
            <a:srgbClr val="C20019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n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F035B3F-5559-D94F-F13F-91D5E27D1702}"/>
              </a:ext>
            </a:extLst>
          </p:cNvPr>
          <p:cNvSpPr txBox="1"/>
          <p:nvPr/>
        </p:nvSpPr>
        <p:spPr>
          <a:xfrm>
            <a:off x="9976249" y="335913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2E88A15-03DD-B446-0105-F0558105F8FC}"/>
              </a:ext>
            </a:extLst>
          </p:cNvPr>
          <p:cNvSpPr/>
          <p:nvPr/>
        </p:nvSpPr>
        <p:spPr>
          <a:xfrm>
            <a:off x="2329859" y="1127541"/>
            <a:ext cx="872347" cy="362127"/>
          </a:xfrm>
          <a:prstGeom prst="rect">
            <a:avLst/>
          </a:prstGeom>
          <a:solidFill>
            <a:srgbClr val="007838">
              <a:lumMod val="20000"/>
              <a:lumOff val="80000"/>
            </a:srgbClr>
          </a:solidFill>
          <a:ln w="12700" cap="flat" cmpd="sng" algn="ctr">
            <a:solidFill>
              <a:srgbClr val="007838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GPU</a:t>
            </a:r>
          </a:p>
        </p:txBody>
      </p:sp>
      <p:sp>
        <p:nvSpPr>
          <p:cNvPr id="99" name="Decision 56">
            <a:extLst>
              <a:ext uri="{FF2B5EF4-FFF2-40B4-BE49-F238E27FC236}">
                <a16:creationId xmlns:a16="http://schemas.microsoft.com/office/drawing/2014/main" id="{06E901E2-541E-C304-0B21-468BB031060F}"/>
              </a:ext>
            </a:extLst>
          </p:cNvPr>
          <p:cNvSpPr/>
          <p:nvPr/>
        </p:nvSpPr>
        <p:spPr>
          <a:xfrm>
            <a:off x="5208795" y="3390389"/>
            <a:ext cx="1249555" cy="511553"/>
          </a:xfrm>
          <a:prstGeom prst="flowChartDecision">
            <a:avLst/>
          </a:prstGeom>
          <a:solidFill>
            <a:srgbClr val="C59A00">
              <a:lumMod val="20000"/>
              <a:lumOff val="80000"/>
            </a:srgbClr>
          </a:solidFill>
          <a:ln w="12700" cap="flat" cmpd="sng" algn="ctr">
            <a:solidFill>
              <a:srgbClr val="007838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 fail</a:t>
            </a:r>
          </a:p>
        </p:txBody>
      </p:sp>
      <p:sp>
        <p:nvSpPr>
          <p:cNvPr id="100" name="Rounded Rectangle 57">
            <a:extLst>
              <a:ext uri="{FF2B5EF4-FFF2-40B4-BE49-F238E27FC236}">
                <a16:creationId xmlns:a16="http://schemas.microsoft.com/office/drawing/2014/main" id="{8BF615FC-3BFC-5495-56F7-78CC57586FE7}"/>
              </a:ext>
            </a:extLst>
          </p:cNvPr>
          <p:cNvSpPr/>
          <p:nvPr/>
        </p:nvSpPr>
        <p:spPr>
          <a:xfrm>
            <a:off x="658624" y="1621574"/>
            <a:ext cx="4269271" cy="4043869"/>
          </a:xfrm>
          <a:prstGeom prst="roundRect">
            <a:avLst>
              <a:gd name="adj" fmla="val 5292"/>
            </a:avLst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A47CC3B-9CB1-A54A-280B-4CA0D80E6C16}"/>
              </a:ext>
            </a:extLst>
          </p:cNvPr>
          <p:cNvCxnSpPr>
            <a:cxnSpLocks/>
            <a:stCxn id="100" idx="3"/>
            <a:endCxn id="99" idx="1"/>
          </p:cNvCxnSpPr>
          <p:nvPr/>
        </p:nvCxnSpPr>
        <p:spPr>
          <a:xfrm>
            <a:off x="4927895" y="3643509"/>
            <a:ext cx="280900" cy="2657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2" name="Rounded Rectangle 61">
            <a:extLst>
              <a:ext uri="{FF2B5EF4-FFF2-40B4-BE49-F238E27FC236}">
                <a16:creationId xmlns:a16="http://schemas.microsoft.com/office/drawing/2014/main" id="{8F2E1258-C884-CBB6-3142-59C714E41CD6}"/>
              </a:ext>
            </a:extLst>
          </p:cNvPr>
          <p:cNvSpPr/>
          <p:nvPr/>
        </p:nvSpPr>
        <p:spPr>
          <a:xfrm>
            <a:off x="6957762" y="2570552"/>
            <a:ext cx="4269271" cy="3094891"/>
          </a:xfrm>
          <a:prstGeom prst="roundRect">
            <a:avLst>
              <a:gd name="adj" fmla="val 5292"/>
            </a:avLst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F54EDA7-2CDA-8571-5D34-89C73FEA6E2F}"/>
              </a:ext>
            </a:extLst>
          </p:cNvPr>
          <p:cNvSpPr/>
          <p:nvPr/>
        </p:nvSpPr>
        <p:spPr>
          <a:xfrm>
            <a:off x="7360483" y="2064057"/>
            <a:ext cx="872347" cy="362127"/>
          </a:xfrm>
          <a:prstGeom prst="rect">
            <a:avLst/>
          </a:prstGeom>
          <a:solidFill>
            <a:srgbClr val="007838">
              <a:lumMod val="20000"/>
              <a:lumOff val="80000"/>
            </a:srgbClr>
          </a:solidFill>
          <a:ln w="12700" cap="flat" cmpd="sng" algn="ctr">
            <a:solidFill>
              <a:srgbClr val="007838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GPU</a:t>
            </a:r>
          </a:p>
        </p:txBody>
      </p:sp>
      <p:sp>
        <p:nvSpPr>
          <p:cNvPr id="104" name="Decision 64">
            <a:extLst>
              <a:ext uri="{FF2B5EF4-FFF2-40B4-BE49-F238E27FC236}">
                <a16:creationId xmlns:a16="http://schemas.microsoft.com/office/drawing/2014/main" id="{A52A0468-1EAB-9907-5655-349AC429B6FC}"/>
              </a:ext>
            </a:extLst>
          </p:cNvPr>
          <p:cNvSpPr/>
          <p:nvPr/>
        </p:nvSpPr>
        <p:spPr>
          <a:xfrm>
            <a:off x="8469424" y="1992414"/>
            <a:ext cx="1249555" cy="511553"/>
          </a:xfrm>
          <a:prstGeom prst="flowChartDecision">
            <a:avLst/>
          </a:prstGeom>
          <a:solidFill>
            <a:srgbClr val="C59A00">
              <a:lumMod val="20000"/>
              <a:lumOff val="80000"/>
            </a:srgbClr>
          </a:solidFill>
          <a:ln w="12700" cap="flat" cmpd="sng" algn="ctr">
            <a:solidFill>
              <a:srgbClr val="007838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 fail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D128145-9E84-199C-1DC7-68EB25E75EA7}"/>
              </a:ext>
            </a:extLst>
          </p:cNvPr>
          <p:cNvSpPr/>
          <p:nvPr/>
        </p:nvSpPr>
        <p:spPr>
          <a:xfrm>
            <a:off x="9955573" y="2064057"/>
            <a:ext cx="872347" cy="362127"/>
          </a:xfrm>
          <a:prstGeom prst="rect">
            <a:avLst/>
          </a:prstGeom>
          <a:solidFill>
            <a:srgbClr val="007838">
              <a:lumMod val="20000"/>
              <a:lumOff val="80000"/>
            </a:srgbClr>
          </a:solidFill>
          <a:ln w="12700" cap="flat" cmpd="sng" algn="ctr">
            <a:solidFill>
              <a:srgbClr val="007838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CPU</a:t>
            </a:r>
          </a:p>
        </p:txBody>
      </p:sp>
      <p:cxnSp>
        <p:nvCxnSpPr>
          <p:cNvPr id="106" name="Curved Connector 67">
            <a:extLst>
              <a:ext uri="{FF2B5EF4-FFF2-40B4-BE49-F238E27FC236}">
                <a16:creationId xmlns:a16="http://schemas.microsoft.com/office/drawing/2014/main" id="{21C03F41-DEE2-09B9-EF8B-7A25FABC3BCB}"/>
              </a:ext>
            </a:extLst>
          </p:cNvPr>
          <p:cNvCxnSpPr>
            <a:stCxn id="99" idx="3"/>
            <a:endCxn id="103" idx="1"/>
          </p:cNvCxnSpPr>
          <p:nvPr/>
        </p:nvCxnSpPr>
        <p:spPr>
          <a:xfrm flipV="1">
            <a:off x="6458350" y="2245121"/>
            <a:ext cx="902133" cy="1401045"/>
          </a:xfrm>
          <a:prstGeom prst="curvedConnector3">
            <a:avLst>
              <a:gd name="adj1" fmla="val 32279"/>
            </a:avLst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0A2573F0-7B04-3F3F-623A-A8D1CF34DC41}"/>
              </a:ext>
            </a:extLst>
          </p:cNvPr>
          <p:cNvCxnSpPr>
            <a:cxnSpLocks/>
            <a:stCxn id="103" idx="3"/>
            <a:endCxn id="104" idx="1"/>
          </p:cNvCxnSpPr>
          <p:nvPr/>
        </p:nvCxnSpPr>
        <p:spPr>
          <a:xfrm>
            <a:off x="8232830" y="2245121"/>
            <a:ext cx="236594" cy="307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C0FC17E-DA1A-0AB6-7E0E-07DC807234BB}"/>
              </a:ext>
            </a:extLst>
          </p:cNvPr>
          <p:cNvCxnSpPr>
            <a:cxnSpLocks/>
            <a:stCxn id="104" idx="3"/>
            <a:endCxn id="105" idx="1"/>
          </p:cNvCxnSpPr>
          <p:nvPr/>
        </p:nvCxnSpPr>
        <p:spPr>
          <a:xfrm flipV="1">
            <a:off x="9718979" y="2245121"/>
            <a:ext cx="236594" cy="307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C340CB1-16D6-99F2-4953-3F0D77C52486}"/>
              </a:ext>
            </a:extLst>
          </p:cNvPr>
          <p:cNvSpPr txBox="1"/>
          <p:nvPr/>
        </p:nvSpPr>
        <p:spPr>
          <a:xfrm>
            <a:off x="5097019" y="1092077"/>
            <a:ext cx="2767296" cy="8803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efficient algorithm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Increased parallelization</a:t>
            </a:r>
          </a:p>
        </p:txBody>
      </p:sp>
      <p:sp>
        <p:nvSpPr>
          <p:cNvPr id="110" name="Freeform 77">
            <a:extLst>
              <a:ext uri="{FF2B5EF4-FFF2-40B4-BE49-F238E27FC236}">
                <a16:creationId xmlns:a16="http://schemas.microsoft.com/office/drawing/2014/main" id="{D5AB913B-8C55-9192-4A4F-837133B471DB}"/>
              </a:ext>
            </a:extLst>
          </p:cNvPr>
          <p:cNvSpPr/>
          <p:nvPr/>
        </p:nvSpPr>
        <p:spPr>
          <a:xfrm>
            <a:off x="7021057" y="1956689"/>
            <a:ext cx="4098814" cy="3644810"/>
          </a:xfrm>
          <a:custGeom>
            <a:avLst/>
            <a:gdLst>
              <a:gd name="connsiteX0" fmla="*/ 2807144 w 4098814"/>
              <a:gd name="connsiteY0" fmla="*/ 51155 h 3632022"/>
              <a:gd name="connsiteX1" fmla="*/ 2807144 w 4098814"/>
              <a:gd name="connsiteY1" fmla="*/ 728962 h 3632022"/>
              <a:gd name="connsiteX2" fmla="*/ 0 w 4098814"/>
              <a:gd name="connsiteY2" fmla="*/ 728962 h 3632022"/>
              <a:gd name="connsiteX3" fmla="*/ 0 w 4098814"/>
              <a:gd name="connsiteY3" fmla="*/ 3632022 h 3632022"/>
              <a:gd name="connsiteX4" fmla="*/ 4098814 w 4098814"/>
              <a:gd name="connsiteY4" fmla="*/ 3632022 h 3632022"/>
              <a:gd name="connsiteX5" fmla="*/ 4098814 w 4098814"/>
              <a:gd name="connsiteY5" fmla="*/ 0 h 3632022"/>
              <a:gd name="connsiteX6" fmla="*/ 2807144 w 4098814"/>
              <a:gd name="connsiteY6" fmla="*/ 51155 h 3632022"/>
              <a:gd name="connsiteX0" fmla="*/ 2800749 w 4098814"/>
              <a:gd name="connsiteY0" fmla="*/ 0 h 3638416"/>
              <a:gd name="connsiteX1" fmla="*/ 2807144 w 4098814"/>
              <a:gd name="connsiteY1" fmla="*/ 735356 h 3638416"/>
              <a:gd name="connsiteX2" fmla="*/ 0 w 4098814"/>
              <a:gd name="connsiteY2" fmla="*/ 735356 h 3638416"/>
              <a:gd name="connsiteX3" fmla="*/ 0 w 4098814"/>
              <a:gd name="connsiteY3" fmla="*/ 3638416 h 3638416"/>
              <a:gd name="connsiteX4" fmla="*/ 4098814 w 4098814"/>
              <a:gd name="connsiteY4" fmla="*/ 3638416 h 3638416"/>
              <a:gd name="connsiteX5" fmla="*/ 4098814 w 4098814"/>
              <a:gd name="connsiteY5" fmla="*/ 6394 h 3638416"/>
              <a:gd name="connsiteX6" fmla="*/ 2800749 w 4098814"/>
              <a:gd name="connsiteY6" fmla="*/ 0 h 3638416"/>
              <a:gd name="connsiteX0" fmla="*/ 2819932 w 4098814"/>
              <a:gd name="connsiteY0" fmla="*/ 1 h 3632022"/>
              <a:gd name="connsiteX1" fmla="*/ 2807144 w 4098814"/>
              <a:gd name="connsiteY1" fmla="*/ 728962 h 3632022"/>
              <a:gd name="connsiteX2" fmla="*/ 0 w 4098814"/>
              <a:gd name="connsiteY2" fmla="*/ 728962 h 3632022"/>
              <a:gd name="connsiteX3" fmla="*/ 0 w 4098814"/>
              <a:gd name="connsiteY3" fmla="*/ 3632022 h 3632022"/>
              <a:gd name="connsiteX4" fmla="*/ 4098814 w 4098814"/>
              <a:gd name="connsiteY4" fmla="*/ 3632022 h 3632022"/>
              <a:gd name="connsiteX5" fmla="*/ 4098814 w 4098814"/>
              <a:gd name="connsiteY5" fmla="*/ 0 h 3632022"/>
              <a:gd name="connsiteX6" fmla="*/ 2819932 w 4098814"/>
              <a:gd name="connsiteY6" fmla="*/ 1 h 3632022"/>
              <a:gd name="connsiteX0" fmla="*/ 2800749 w 4098814"/>
              <a:gd name="connsiteY0" fmla="*/ 6395 h 3632022"/>
              <a:gd name="connsiteX1" fmla="*/ 2807144 w 4098814"/>
              <a:gd name="connsiteY1" fmla="*/ 728962 h 3632022"/>
              <a:gd name="connsiteX2" fmla="*/ 0 w 4098814"/>
              <a:gd name="connsiteY2" fmla="*/ 728962 h 3632022"/>
              <a:gd name="connsiteX3" fmla="*/ 0 w 4098814"/>
              <a:gd name="connsiteY3" fmla="*/ 3632022 h 3632022"/>
              <a:gd name="connsiteX4" fmla="*/ 4098814 w 4098814"/>
              <a:gd name="connsiteY4" fmla="*/ 3632022 h 3632022"/>
              <a:gd name="connsiteX5" fmla="*/ 4098814 w 4098814"/>
              <a:gd name="connsiteY5" fmla="*/ 0 h 3632022"/>
              <a:gd name="connsiteX6" fmla="*/ 2800749 w 4098814"/>
              <a:gd name="connsiteY6" fmla="*/ 6395 h 3632022"/>
              <a:gd name="connsiteX0" fmla="*/ 2807143 w 4098814"/>
              <a:gd name="connsiteY0" fmla="*/ 0 h 3644810"/>
              <a:gd name="connsiteX1" fmla="*/ 2807144 w 4098814"/>
              <a:gd name="connsiteY1" fmla="*/ 741750 h 3644810"/>
              <a:gd name="connsiteX2" fmla="*/ 0 w 4098814"/>
              <a:gd name="connsiteY2" fmla="*/ 741750 h 3644810"/>
              <a:gd name="connsiteX3" fmla="*/ 0 w 4098814"/>
              <a:gd name="connsiteY3" fmla="*/ 3644810 h 3644810"/>
              <a:gd name="connsiteX4" fmla="*/ 4098814 w 4098814"/>
              <a:gd name="connsiteY4" fmla="*/ 3644810 h 3644810"/>
              <a:gd name="connsiteX5" fmla="*/ 4098814 w 4098814"/>
              <a:gd name="connsiteY5" fmla="*/ 12788 h 3644810"/>
              <a:gd name="connsiteX6" fmla="*/ 2807143 w 4098814"/>
              <a:gd name="connsiteY6" fmla="*/ 0 h 364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98814" h="3644810">
                <a:moveTo>
                  <a:pt x="2807143" y="0"/>
                </a:moveTo>
                <a:cubicBezTo>
                  <a:pt x="2809275" y="245119"/>
                  <a:pt x="2805012" y="496631"/>
                  <a:pt x="2807144" y="741750"/>
                </a:cubicBezTo>
                <a:lnTo>
                  <a:pt x="0" y="741750"/>
                </a:lnTo>
                <a:lnTo>
                  <a:pt x="0" y="3644810"/>
                </a:lnTo>
                <a:lnTo>
                  <a:pt x="4098814" y="3644810"/>
                </a:lnTo>
                <a:lnTo>
                  <a:pt x="4098814" y="12788"/>
                </a:lnTo>
                <a:lnTo>
                  <a:pt x="2807143" y="0"/>
                </a:lnTo>
                <a:close/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155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/>
      <p:bldP spid="66" grpId="0" animBg="1"/>
      <p:bldP spid="67" grpId="0"/>
      <p:bldP spid="68" grpId="0"/>
      <p:bldP spid="69" grpId="0" animBg="1"/>
      <p:bldP spid="70" grpId="0" animBg="1"/>
      <p:bldP spid="71" grpId="0" animBg="1"/>
      <p:bldP spid="72" grpId="0"/>
      <p:bldP spid="73" grpId="0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/>
      <p:bldP spid="81" grpId="0" animBg="1"/>
      <p:bldP spid="82" grpId="0" animBg="1"/>
      <p:bldP spid="83" grpId="0" animBg="1"/>
      <p:bldP spid="84" grpId="0"/>
      <p:bldP spid="85" grpId="0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/>
      <p:bldP spid="93" grpId="0" animBg="1"/>
      <p:bldP spid="94" grpId="0" animBg="1"/>
      <p:bldP spid="95" grpId="0" animBg="1"/>
      <p:bldP spid="96" grpId="0" animBg="1"/>
      <p:bldP spid="97" grpId="0"/>
      <p:bldP spid="98" grpId="0" animBg="1"/>
      <p:bldP spid="99" grpId="0" animBg="1"/>
      <p:bldP spid="100" grpId="0" animBg="1"/>
      <p:bldP spid="102" grpId="0" animBg="1"/>
      <p:bldP spid="102" grpId="1" animBg="1"/>
      <p:bldP spid="103" grpId="0" animBg="1"/>
      <p:bldP spid="104" grpId="0" animBg="1"/>
      <p:bldP spid="105" grpId="0" animBg="1"/>
      <p:bldP spid="1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3A90D1B-3602-6104-B275-F08E86763BBA}"/>
              </a:ext>
            </a:extLst>
          </p:cNvPr>
          <p:cNvSpPr/>
          <p:nvPr/>
        </p:nvSpPr>
        <p:spPr>
          <a:xfrm>
            <a:off x="8173616" y="5674347"/>
            <a:ext cx="3803296" cy="819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MO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476256-E74F-005A-5715-6BF181EB20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CF25-F9B6-EA4B-991F-E50888CA6F8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70F5F9-0DF4-0CD8-21F8-1C793AE55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MO" dirty="0"/>
              <a:t>Benchmarking against the old </a:t>
            </a:r>
            <a:r>
              <a:rPr lang="en-US" altLang="zh-MO" dirty="0" err="1"/>
              <a:t>NIRFASTer</a:t>
            </a:r>
            <a:endParaRPr lang="zh-MO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A14FEF9-A3EF-E929-192D-CDA7C7C8B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7427" y="174474"/>
            <a:ext cx="1160684" cy="203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6AE241-ACE1-3DBD-AB90-EB790778AB6F}"/>
              </a:ext>
            </a:extLst>
          </p:cNvPr>
          <p:cNvSpPr txBox="1"/>
          <p:nvPr/>
        </p:nvSpPr>
        <p:spPr>
          <a:xfrm>
            <a:off x="838200" y="6120443"/>
            <a:ext cx="2335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Doulgerakis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 et al., JBO, 2017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97410-C5E1-9A3D-5069-FB11796F5EAD}"/>
              </a:ext>
            </a:extLst>
          </p:cNvPr>
          <p:cNvSpPr txBox="1"/>
          <p:nvPr/>
        </p:nvSpPr>
        <p:spPr>
          <a:xfrm>
            <a:off x="1133689" y="1042382"/>
            <a:ext cx="5617243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Same head model -&gt; 13 meshes with 50k – 600k nodes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158 sources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GPU: NVIDIA Tesla V100; CPU: Intel Core i7-13700K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EA24816-91F4-6EF0-BC86-5058A1DAC4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6036" y="2467370"/>
            <a:ext cx="6839324" cy="3205932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67D3060-A760-8923-A87E-D3B65B4261EF}"/>
              </a:ext>
            </a:extLst>
          </p:cNvPr>
          <p:cNvCxnSpPr/>
          <p:nvPr/>
        </p:nvCxnSpPr>
        <p:spPr>
          <a:xfrm>
            <a:off x="799875" y="3416525"/>
            <a:ext cx="0" cy="106231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CFDA6B3-CF90-F950-D6DF-90FD830F2D52}"/>
              </a:ext>
            </a:extLst>
          </p:cNvPr>
          <p:cNvSpPr txBox="1"/>
          <p:nvPr/>
        </p:nvSpPr>
        <p:spPr>
          <a:xfrm rot="16200000">
            <a:off x="233021" y="3788450"/>
            <a:ext cx="764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better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80CD07C-1B1B-9141-4A12-E7AF0CEA85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45360" y="2369105"/>
            <a:ext cx="4131552" cy="330524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9EBB9BF-6075-E59E-2D7D-DD761450AFDD}"/>
              </a:ext>
            </a:extLst>
          </p:cNvPr>
          <p:cNvSpPr txBox="1"/>
          <p:nvPr/>
        </p:nvSpPr>
        <p:spPr>
          <a:xfrm>
            <a:off x="1028195" y="5586902"/>
            <a:ext cx="3801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Faster algorithm + more parallelization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867E2C-7449-0CB9-1DFC-1899154C45CC}"/>
              </a:ext>
            </a:extLst>
          </p:cNvPr>
          <p:cNvSpPr txBox="1"/>
          <p:nvPr/>
        </p:nvSpPr>
        <p:spPr>
          <a:xfrm>
            <a:off x="5239434" y="5586902"/>
            <a:ext cx="2064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parallelization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CFA52-6CB5-B7B7-A449-B2D13B7B65A3}"/>
              </a:ext>
            </a:extLst>
          </p:cNvPr>
          <p:cNvSpPr txBox="1"/>
          <p:nvPr/>
        </p:nvSpPr>
        <p:spPr>
          <a:xfrm>
            <a:off x="9355817" y="5586902"/>
            <a:ext cx="1713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Faster </a:t>
            </a:r>
            <a:r>
              <a:rPr kumimoji="0" lang="en-US" altLang="zh-M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algorithm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80C813-48AC-48D3-E2C4-8D485AC940BA}"/>
              </a:ext>
            </a:extLst>
          </p:cNvPr>
          <p:cNvSpPr txBox="1"/>
          <p:nvPr/>
        </p:nvSpPr>
        <p:spPr>
          <a:xfrm>
            <a:off x="4305971" y="2304398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GPU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68E87A-482E-EA78-19B8-E17185C8C6F5}"/>
              </a:ext>
            </a:extLst>
          </p:cNvPr>
          <p:cNvSpPr txBox="1"/>
          <p:nvPr/>
        </p:nvSpPr>
        <p:spPr>
          <a:xfrm>
            <a:off x="9745875" y="2304398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CPU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055F14-F68C-C3B1-37EB-EC31CBE83D60}"/>
              </a:ext>
            </a:extLst>
          </p:cNvPr>
          <p:cNvSpPr txBox="1"/>
          <p:nvPr/>
        </p:nvSpPr>
        <p:spPr>
          <a:xfrm>
            <a:off x="1741169" y="3590928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35-45%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76894F-AC75-925E-CD35-A2574F2E81BB}"/>
              </a:ext>
            </a:extLst>
          </p:cNvPr>
          <p:cNvSpPr txBox="1"/>
          <p:nvPr/>
        </p:nvSpPr>
        <p:spPr>
          <a:xfrm>
            <a:off x="5268772" y="3573666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25-37%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D12E83-CC1C-7D2F-617C-A5AB784FE135}"/>
              </a:ext>
            </a:extLst>
          </p:cNvPr>
          <p:cNvSpPr txBox="1"/>
          <p:nvPr/>
        </p:nvSpPr>
        <p:spPr>
          <a:xfrm>
            <a:off x="8843411" y="3590928"/>
            <a:ext cx="115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 to 20%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FB3856-39C5-0B4F-F6DE-9CCE298A04E0}"/>
              </a:ext>
            </a:extLst>
          </p:cNvPr>
          <p:cNvSpPr txBox="1"/>
          <p:nvPr/>
        </p:nvSpPr>
        <p:spPr>
          <a:xfrm>
            <a:off x="3810128" y="6120443"/>
            <a:ext cx="1745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Cao et al., JBO, 2025</a:t>
            </a:r>
          </a:p>
        </p:txBody>
      </p:sp>
    </p:spTree>
    <p:extLst>
      <p:ext uri="{BB962C8B-B14F-4D97-AF65-F5344CB8AC3E}">
        <p14:creationId xmlns:p14="http://schemas.microsoft.com/office/powerpoint/2010/main" val="33779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D65973-8DD7-20AD-CED7-B33461B804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CF25-F9B6-EA4B-991F-E50888CA6F8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852233-F048-19CF-E76B-C3498B85C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MO" dirty="0"/>
              <a:t>Extensive tutorials and API documentation</a:t>
            </a:r>
            <a:endParaRPr lang="zh-MO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22EC9-32DB-9733-E2C9-DCA93E3305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783"/>
          <a:stretch>
            <a:fillRect/>
          </a:stretch>
        </p:blipFill>
        <p:spPr>
          <a:xfrm>
            <a:off x="1447799" y="1306406"/>
            <a:ext cx="3658919" cy="41938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1F62B6-5119-B3ED-96E5-451162EEB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66874"/>
            <a:ext cx="4507978" cy="452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6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8D3F74-BA6D-5295-ED00-7E5E3C774F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CF25-F9B6-EA4B-991F-E50888CA6F8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BCE82B-B5CD-F753-B3F8-C18FA4B32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MO" dirty="0"/>
              <a:t>Extensive tutorials and API documentation</a:t>
            </a:r>
            <a:endParaRPr lang="zh-MO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0FF86-D4CE-9EBA-6E84-87C7008113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530"/>
          <a:stretch>
            <a:fillRect/>
          </a:stretch>
        </p:blipFill>
        <p:spPr>
          <a:xfrm>
            <a:off x="838200" y="1922194"/>
            <a:ext cx="5427414" cy="33292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468831-15CE-304A-2ED8-34F5E20E29ED}"/>
              </a:ext>
            </a:extLst>
          </p:cNvPr>
          <p:cNvSpPr txBox="1"/>
          <p:nvPr/>
        </p:nvSpPr>
        <p:spPr>
          <a:xfrm>
            <a:off x="2604313" y="143099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564EC-6F33-F030-51D2-786EA850F154}"/>
              </a:ext>
            </a:extLst>
          </p:cNvPr>
          <p:cNvSpPr txBox="1"/>
          <p:nvPr/>
        </p:nvSpPr>
        <p:spPr>
          <a:xfrm>
            <a:off x="8932794" y="1430993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pdf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866DBC-6456-935B-4686-D78E8F09B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370" y="1430993"/>
            <a:ext cx="4270498" cy="47476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7B8A6D-4EE9-FBDF-9271-68B0F22B9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125" y="1923792"/>
            <a:ext cx="4838801" cy="338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77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09C4202-4B73-7500-6803-03B12F07CC27}"/>
              </a:ext>
            </a:extLst>
          </p:cNvPr>
          <p:cNvSpPr/>
          <p:nvPr/>
        </p:nvSpPr>
        <p:spPr>
          <a:xfrm>
            <a:off x="8173616" y="5674347"/>
            <a:ext cx="3803296" cy="819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MO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46A626-9594-0786-BD51-CA7CE2D1C3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CF25-F9B6-EA4B-991F-E50888CA6F8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A90502-A386-4313-9C90-F9F229061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MO" dirty="0"/>
              <a:t>A “live” coding demo</a:t>
            </a:r>
            <a:endParaRPr lang="zh-MO" altLang="en-US" dirty="0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73A77E7D-0F23-075A-0F10-C5FF685F9D06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623472-9D1B-A446-A7F2-400E6A349AD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E11D49-6160-0E97-642E-75063ECA3E09}"/>
              </a:ext>
            </a:extLst>
          </p:cNvPr>
          <p:cNvSpPr txBox="1"/>
          <p:nvPr/>
        </p:nvSpPr>
        <p:spPr>
          <a:xfrm>
            <a:off x="638609" y="1331259"/>
            <a:ext cx="3246402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Head mesh with ~688k nodes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 sources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Desktop PC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Intel Core i7-1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700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NVIDIA </a:t>
            </a:r>
            <a:r>
              <a:rPr lang="en-US" kern="0" dirty="0">
                <a:solidFill>
                  <a:srgbClr val="000000"/>
                </a:solidFill>
                <a:latin typeface="Calibri" panose="020F0502020204030204"/>
              </a:rPr>
              <a:t>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TX 5060Ti GPU</a:t>
            </a:r>
          </a:p>
        </p:txBody>
      </p:sp>
      <p:sp>
        <p:nvSpPr>
          <p:cNvPr id="19" name="Rounded Rectangle 5">
            <a:extLst>
              <a:ext uri="{FF2B5EF4-FFF2-40B4-BE49-F238E27FC236}">
                <a16:creationId xmlns:a16="http://schemas.microsoft.com/office/drawing/2014/main" id="{FF384C3C-EDFF-15D0-A882-88A5F56B66EB}"/>
              </a:ext>
            </a:extLst>
          </p:cNvPr>
          <p:cNvSpPr/>
          <p:nvPr/>
        </p:nvSpPr>
        <p:spPr>
          <a:xfrm>
            <a:off x="2344652" y="3804307"/>
            <a:ext cx="1600200" cy="40341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7838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Load mesh</a:t>
            </a:r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D7713E12-3D36-AC8C-DFE9-FFC2B7568701}"/>
              </a:ext>
            </a:extLst>
          </p:cNvPr>
          <p:cNvSpPr/>
          <p:nvPr/>
        </p:nvSpPr>
        <p:spPr>
          <a:xfrm>
            <a:off x="2344652" y="4405589"/>
            <a:ext cx="1600200" cy="40341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7838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CW fluence</a:t>
            </a:r>
          </a:p>
        </p:txBody>
      </p:sp>
      <p:sp>
        <p:nvSpPr>
          <p:cNvPr id="21" name="Rounded Rectangle 7">
            <a:extLst>
              <a:ext uri="{FF2B5EF4-FFF2-40B4-BE49-F238E27FC236}">
                <a16:creationId xmlns:a16="http://schemas.microsoft.com/office/drawing/2014/main" id="{C6720016-6D59-2154-B259-AD92681857BA}"/>
              </a:ext>
            </a:extLst>
          </p:cNvPr>
          <p:cNvSpPr/>
          <p:nvPr/>
        </p:nvSpPr>
        <p:spPr>
          <a:xfrm>
            <a:off x="2344652" y="5037313"/>
            <a:ext cx="1600200" cy="40341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7838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Plot data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8653B5-BC8D-992B-25A4-3E897BEAB562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3144752" y="4207719"/>
            <a:ext cx="0" cy="19787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41694E-9A65-6EEE-9486-BEC18476ACD9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3144752" y="4809001"/>
            <a:ext cx="0" cy="22831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24" name="Picture 2">
            <a:extLst>
              <a:ext uri="{FF2B5EF4-FFF2-40B4-BE49-F238E27FC236}">
                <a16:creationId xmlns:a16="http://schemas.microsoft.com/office/drawing/2014/main" id="{7F366378-4547-9304-841E-0988A4EBFE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23761" t="16373" r="21151" b="12546"/>
          <a:stretch>
            <a:fillRect/>
          </a:stretch>
        </p:blipFill>
        <p:spPr bwMode="auto">
          <a:xfrm>
            <a:off x="351060" y="3653053"/>
            <a:ext cx="1936140" cy="187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8C0EBD-5CE1-963A-A2E6-724F165C32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3405"/>
          <a:stretch>
            <a:fillRect/>
          </a:stretch>
        </p:blipFill>
        <p:spPr>
          <a:xfrm>
            <a:off x="5943600" y="305513"/>
            <a:ext cx="4891992" cy="5555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D2157E-0505-662F-7701-8E54FB8EE4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71" b="51999"/>
          <a:stretch>
            <a:fillRect/>
          </a:stretch>
        </p:blipFill>
        <p:spPr>
          <a:xfrm>
            <a:off x="5941404" y="956910"/>
            <a:ext cx="4891992" cy="1038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2F0D55-1B2B-503B-8774-F0C09365BD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376" b="30763"/>
          <a:stretch>
            <a:fillRect/>
          </a:stretch>
        </p:blipFill>
        <p:spPr>
          <a:xfrm>
            <a:off x="5941404" y="2091512"/>
            <a:ext cx="4891992" cy="6983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E87265-3386-825A-19D0-4CA57A454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410" b="8729"/>
          <a:stretch>
            <a:fillRect/>
          </a:stretch>
        </p:blipFill>
        <p:spPr>
          <a:xfrm>
            <a:off x="5941404" y="2941295"/>
            <a:ext cx="4891992" cy="6983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6597DF-9C88-6E5F-DF74-09BE2ADB35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444"/>
          <a:stretch>
            <a:fillRect/>
          </a:stretch>
        </p:blipFill>
        <p:spPr>
          <a:xfrm>
            <a:off x="5941404" y="3712834"/>
            <a:ext cx="4891992" cy="252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4B1DA9-909A-52A2-816B-9C7955EF31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166" t="27495" r="30253" b="2882"/>
          <a:stretch>
            <a:fillRect/>
          </a:stretch>
        </p:blipFill>
        <p:spPr>
          <a:xfrm>
            <a:off x="6885412" y="4141649"/>
            <a:ext cx="2161837" cy="203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4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7C54D4-5A7B-1472-1950-A8E36D3B96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CF25-F9B6-EA4B-991F-E50888CA6F8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995731-5C07-621B-1D12-D0D8B585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MO" dirty="0"/>
              <a:t>Computational engine for other DOT toolkits</a:t>
            </a:r>
            <a:endParaRPr lang="zh-MO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E76604-EA78-E102-032F-BA573953F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94" y="1925246"/>
            <a:ext cx="4675348" cy="3200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9C28AF-DA2F-801E-54D0-166F075C3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527" y="1919194"/>
            <a:ext cx="5117628" cy="32069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B172E6-B63F-361C-F2B0-828C148E167F}"/>
              </a:ext>
            </a:extLst>
          </p:cNvPr>
          <p:cNvSpPr txBox="1"/>
          <p:nvPr/>
        </p:nvSpPr>
        <p:spPr>
          <a:xfrm>
            <a:off x="2468221" y="1306406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Cedalion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TU Berlin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69A95B-AA9D-925B-60AF-7300E5E59BB6}"/>
              </a:ext>
            </a:extLst>
          </p:cNvPr>
          <p:cNvSpPr txBox="1"/>
          <p:nvPr/>
        </p:nvSpPr>
        <p:spPr>
          <a:xfrm>
            <a:off x="7896248" y="1306406"/>
            <a:ext cx="227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NeuroDOT_Py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WUSTL</a:t>
            </a:r>
          </a:p>
        </p:txBody>
      </p:sp>
    </p:spTree>
    <p:extLst>
      <p:ext uri="{BB962C8B-B14F-4D97-AF65-F5344CB8AC3E}">
        <p14:creationId xmlns:p14="http://schemas.microsoft.com/office/powerpoint/2010/main" val="146005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M-TemplateF" id="{2DB6A005-ABCC-46B6-9527-1A96F1EC8FBB}" vid="{FFF25A30-57C8-4C1E-B3BC-D1F977C21E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386</Words>
  <Application>Microsoft Macintosh PowerPoint</Application>
  <PresentationFormat>Widescreen</PresentationFormat>
  <Paragraphs>148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Times</vt:lpstr>
      <vt:lpstr>Arial</vt:lpstr>
      <vt:lpstr>Calibri</vt:lpstr>
      <vt:lpstr>Calibri Light</vt:lpstr>
      <vt:lpstr>Cambria Math</vt:lpstr>
      <vt:lpstr>Times New Roman</vt:lpstr>
      <vt:lpstr>1_Office Theme</vt:lpstr>
      <vt:lpstr>The NIRFAST family</vt:lpstr>
      <vt:lpstr>New, versatile Python package: NIRFASTerFF</vt:lpstr>
      <vt:lpstr>Old solver and its limitations</vt:lpstr>
      <vt:lpstr>Why faster? The new solvers</vt:lpstr>
      <vt:lpstr>Benchmarking against the old NIRFASTer</vt:lpstr>
      <vt:lpstr>Extensive tutorials and API documentation</vt:lpstr>
      <vt:lpstr>Extensive tutorials and API documentation</vt:lpstr>
      <vt:lpstr>A “live” coding demo</vt:lpstr>
      <vt:lpstr>Computational engine for other DOT toolkits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jiamingc</dc:creator>
  <cp:lastModifiedBy>jiamingc</cp:lastModifiedBy>
  <cp:revision>3</cp:revision>
  <dcterms:created xsi:type="dcterms:W3CDTF">2026-10-13T09:24:43Z</dcterms:created>
  <dcterms:modified xsi:type="dcterms:W3CDTF">2026-10-14T04:42:24Z</dcterms:modified>
</cp:coreProperties>
</file>