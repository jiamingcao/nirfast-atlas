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365" r:id="rId3"/>
    <p:sldId id="366" r:id="rId4"/>
    <p:sldId id="368" r:id="rId5"/>
    <p:sldId id="662" r:id="rId6"/>
    <p:sldId id="474" r:id="rId7"/>
    <p:sldId id="419" r:id="rId8"/>
    <p:sldId id="459" r:id="rId9"/>
    <p:sldId id="566" r:id="rId10"/>
    <p:sldId id="424" r:id="rId11"/>
    <p:sldId id="567" r:id="rId12"/>
    <p:sldId id="661" r:id="rId13"/>
    <p:sldId id="66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8ABDAF-CA91-9511-FBB9-B001F5BA1CEA}" name="Robin Dale (PhD School of Computer Sci FT)" initials="RD" userId="S::rbd079@student.bham.ac.uk::66f06dfd-099f-4024-a589-019b660d1331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DA0B9"/>
    <a:srgbClr val="554167"/>
    <a:srgbClr val="7EA6E0"/>
    <a:srgbClr val="EA6B66"/>
    <a:srgbClr val="E30513"/>
    <a:srgbClr val="2581C4"/>
    <a:srgbClr val="C59A00"/>
    <a:srgbClr val="B8A63A"/>
    <a:srgbClr val="ABA447"/>
    <a:srgbClr val="CC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248" autoAdjust="0"/>
    <p:restoredTop sz="88537" autoAdjust="0"/>
  </p:normalViewPr>
  <p:slideViewPr>
    <p:cSldViewPr snapToGrid="0">
      <p:cViewPr varScale="1">
        <p:scale>
          <a:sx n="99" d="100"/>
          <a:sy n="99" d="100"/>
        </p:scale>
        <p:origin x="2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6FC20C3-D2A0-4D39-833C-1FEF107D604E}" type="doc">
      <dgm:prSet loTypeId="urn:microsoft.com/office/officeart/2005/8/layout/process1" loCatId="process" qsTypeId="urn:microsoft.com/office/officeart/2005/8/quickstyle/3d1" qsCatId="3D" csTypeId="urn:microsoft.com/office/officeart/2005/8/colors/accent2_2" csCatId="accent2" phldr="1"/>
      <dgm:spPr/>
      <dgm:t>
        <a:bodyPr/>
        <a:lstStyle/>
        <a:p>
          <a:endParaRPr lang="en-GB"/>
        </a:p>
      </dgm:t>
    </dgm:pt>
    <dgm:pt modelId="{C8972FBC-80C4-4CD8-87E8-0C28455A4252}">
      <dgm:prSet phldrT="[文本]"/>
      <dgm:spPr/>
      <dgm:t>
        <a:bodyPr/>
        <a:lstStyle/>
        <a:p>
          <a:r>
            <a:rPr lang="en-US" altLang="zh-CN" dirty="0"/>
            <a:t>MRI scans</a:t>
          </a:r>
          <a:endParaRPr lang="en-GB" dirty="0"/>
        </a:p>
      </dgm:t>
    </dgm:pt>
    <dgm:pt modelId="{51779321-4E3F-4785-8607-27C81117FF3D}" type="parTrans" cxnId="{952C5794-6650-4499-897C-FC8A7272C96F}">
      <dgm:prSet/>
      <dgm:spPr/>
      <dgm:t>
        <a:bodyPr/>
        <a:lstStyle/>
        <a:p>
          <a:endParaRPr lang="en-GB"/>
        </a:p>
      </dgm:t>
    </dgm:pt>
    <dgm:pt modelId="{3904133F-4687-4271-8723-312FFFC9B2C9}" type="sibTrans" cxnId="{952C5794-6650-4499-897C-FC8A7272C96F}">
      <dgm:prSet/>
      <dgm:spPr/>
      <dgm:t>
        <a:bodyPr/>
        <a:lstStyle/>
        <a:p>
          <a:endParaRPr lang="en-GB"/>
        </a:p>
      </dgm:t>
    </dgm:pt>
    <dgm:pt modelId="{626AD6F2-100B-47E8-8C74-1B6C5603B6D1}">
      <dgm:prSet phldrT="[文本]"/>
      <dgm:spPr>
        <a:solidFill>
          <a:srgbClr val="00B050"/>
        </a:solidFill>
      </dgm:spPr>
      <dgm:t>
        <a:bodyPr/>
        <a:lstStyle/>
        <a:p>
          <a:r>
            <a:rPr lang="en-US" altLang="zh-CN" dirty="0"/>
            <a:t>SPM</a:t>
          </a:r>
          <a:endParaRPr lang="en-GB" dirty="0"/>
        </a:p>
      </dgm:t>
    </dgm:pt>
    <dgm:pt modelId="{3D5EF385-3B53-4DB3-9957-FAFDB3AC2C75}" type="parTrans" cxnId="{4EEF3C08-C6C6-46CE-AF31-DBE620C39274}">
      <dgm:prSet/>
      <dgm:spPr/>
      <dgm:t>
        <a:bodyPr/>
        <a:lstStyle/>
        <a:p>
          <a:endParaRPr lang="en-GB"/>
        </a:p>
      </dgm:t>
    </dgm:pt>
    <dgm:pt modelId="{8D15121A-6B84-4E59-9B1D-15D4F69AF75F}" type="sibTrans" cxnId="{4EEF3C08-C6C6-46CE-AF31-DBE620C39274}">
      <dgm:prSet/>
      <dgm:spPr/>
      <dgm:t>
        <a:bodyPr/>
        <a:lstStyle/>
        <a:p>
          <a:endParaRPr lang="en-GB"/>
        </a:p>
      </dgm:t>
    </dgm:pt>
    <dgm:pt modelId="{D29EDD77-6F03-47A0-BD45-DFA28EAF963D}">
      <dgm:prSet phldrT="[文本]"/>
      <dgm:spPr/>
      <dgm:t>
        <a:bodyPr/>
        <a:lstStyle/>
        <a:p>
          <a:r>
            <a:rPr lang="en-US" altLang="zh-CN" dirty="0"/>
            <a:t>Segmented </a:t>
          </a:r>
        </a:p>
        <a:p>
          <a:r>
            <a:rPr lang="en-US" altLang="zh-CN" dirty="0"/>
            <a:t>scans</a:t>
          </a:r>
          <a:endParaRPr lang="en-GB" dirty="0"/>
        </a:p>
      </dgm:t>
    </dgm:pt>
    <dgm:pt modelId="{BD43626C-C7C3-42A2-8AD0-89D51A31B9F7}" type="sibTrans" cxnId="{D1E841CE-5C97-4A8A-870C-55B7F0AD783C}">
      <dgm:prSet/>
      <dgm:spPr/>
      <dgm:t>
        <a:bodyPr/>
        <a:lstStyle/>
        <a:p>
          <a:endParaRPr lang="en-GB"/>
        </a:p>
      </dgm:t>
    </dgm:pt>
    <dgm:pt modelId="{C8BA9855-5C71-4ACC-9B96-92E449A4DA43}" type="parTrans" cxnId="{D1E841CE-5C97-4A8A-870C-55B7F0AD783C}">
      <dgm:prSet/>
      <dgm:spPr/>
      <dgm:t>
        <a:bodyPr/>
        <a:lstStyle/>
        <a:p>
          <a:endParaRPr lang="en-GB"/>
        </a:p>
      </dgm:t>
    </dgm:pt>
    <dgm:pt modelId="{D6282901-F179-4480-894E-C58C0F1D6098}">
      <dgm:prSet phldrT="[文本]"/>
      <dgm:spPr>
        <a:solidFill>
          <a:srgbClr val="00B050"/>
        </a:solidFill>
      </dgm:spPr>
      <dgm:t>
        <a:bodyPr/>
        <a:lstStyle/>
        <a:p>
          <a:r>
            <a:rPr lang="en-US" altLang="zh-CN" dirty="0"/>
            <a:t>NIRFAST-Slicer</a:t>
          </a:r>
          <a:endParaRPr lang="en-GB" dirty="0"/>
        </a:p>
      </dgm:t>
    </dgm:pt>
    <dgm:pt modelId="{243D8B19-1FF4-416F-BF00-2BF14B214F55}" type="parTrans" cxnId="{BE78EE86-B056-47BF-95FE-869C17A753AB}">
      <dgm:prSet/>
      <dgm:spPr/>
      <dgm:t>
        <a:bodyPr/>
        <a:lstStyle/>
        <a:p>
          <a:endParaRPr lang="en-GB"/>
        </a:p>
      </dgm:t>
    </dgm:pt>
    <dgm:pt modelId="{AF9530C8-1460-42E7-93CF-0F813DB626FD}" type="sibTrans" cxnId="{BE78EE86-B056-47BF-95FE-869C17A753AB}">
      <dgm:prSet/>
      <dgm:spPr/>
      <dgm:t>
        <a:bodyPr/>
        <a:lstStyle/>
        <a:p>
          <a:endParaRPr lang="en-GB"/>
        </a:p>
      </dgm:t>
    </dgm:pt>
    <dgm:pt modelId="{A08C0E3E-5B25-454D-A377-9D12CDDA5FAD}">
      <dgm:prSet phldrT="[文本]"/>
      <dgm:spPr/>
      <dgm:t>
        <a:bodyPr/>
        <a:lstStyle/>
        <a:p>
          <a:r>
            <a:rPr lang="en-US" altLang="zh-CN" dirty="0"/>
            <a:t>Masks</a:t>
          </a:r>
          <a:endParaRPr lang="en-GB" dirty="0"/>
        </a:p>
      </dgm:t>
    </dgm:pt>
    <dgm:pt modelId="{5282F5C1-1ED5-4628-8EE4-B36AF5F7AF64}" type="parTrans" cxnId="{0BBDCA68-D339-44F8-9BC4-C1321C3D1634}">
      <dgm:prSet/>
      <dgm:spPr/>
      <dgm:t>
        <a:bodyPr/>
        <a:lstStyle/>
        <a:p>
          <a:endParaRPr lang="en-GB"/>
        </a:p>
      </dgm:t>
    </dgm:pt>
    <dgm:pt modelId="{62861AF5-FD6E-4320-BB3E-F76504FE6C62}" type="sibTrans" cxnId="{0BBDCA68-D339-44F8-9BC4-C1321C3D1634}">
      <dgm:prSet/>
      <dgm:spPr/>
      <dgm:t>
        <a:bodyPr/>
        <a:lstStyle/>
        <a:p>
          <a:endParaRPr lang="en-GB"/>
        </a:p>
      </dgm:t>
    </dgm:pt>
    <dgm:pt modelId="{948C8F9F-A20D-4B64-AAB0-1D1B0056A173}">
      <dgm:prSet phldrT="[文本]"/>
      <dgm:spPr>
        <a:solidFill>
          <a:srgbClr val="00B050"/>
        </a:solidFill>
      </dgm:spPr>
      <dgm:t>
        <a:bodyPr/>
        <a:lstStyle/>
        <a:p>
          <a:r>
            <a:rPr lang="en-US" altLang="zh-CN" dirty="0"/>
            <a:t>NIRFAST</a:t>
          </a:r>
          <a:endParaRPr lang="en-GB" dirty="0"/>
        </a:p>
      </dgm:t>
    </dgm:pt>
    <dgm:pt modelId="{95692EF2-F5BB-436B-AC70-69A7D89BC5D5}" type="parTrans" cxnId="{6B2FC149-B188-4AC1-A70C-F0110F9060BD}">
      <dgm:prSet/>
      <dgm:spPr/>
      <dgm:t>
        <a:bodyPr/>
        <a:lstStyle/>
        <a:p>
          <a:endParaRPr lang="en-GB"/>
        </a:p>
      </dgm:t>
    </dgm:pt>
    <dgm:pt modelId="{ABEF3A46-7563-4258-BD89-5C370D8C828E}" type="sibTrans" cxnId="{6B2FC149-B188-4AC1-A70C-F0110F9060BD}">
      <dgm:prSet/>
      <dgm:spPr/>
      <dgm:t>
        <a:bodyPr/>
        <a:lstStyle/>
        <a:p>
          <a:endParaRPr lang="en-GB"/>
        </a:p>
      </dgm:t>
    </dgm:pt>
    <dgm:pt modelId="{ED475990-398A-454E-B74D-CF479F64D630}">
      <dgm:prSet phldrT="[文本]"/>
      <dgm:spPr/>
      <dgm:t>
        <a:bodyPr/>
        <a:lstStyle/>
        <a:p>
          <a:r>
            <a:rPr lang="en-US" altLang="zh-CN" dirty="0"/>
            <a:t>Volume Mesh</a:t>
          </a:r>
          <a:endParaRPr lang="en-GB" dirty="0"/>
        </a:p>
      </dgm:t>
    </dgm:pt>
    <dgm:pt modelId="{43C2AA8C-EC28-40ED-9ED5-9069B908066F}" type="parTrans" cxnId="{454BA1EC-974A-4EB2-BA08-35B4836DABD0}">
      <dgm:prSet/>
      <dgm:spPr/>
      <dgm:t>
        <a:bodyPr/>
        <a:lstStyle/>
        <a:p>
          <a:endParaRPr lang="en-GB"/>
        </a:p>
      </dgm:t>
    </dgm:pt>
    <dgm:pt modelId="{92D0E3E6-4361-45CD-9BA8-A883CC82805A}" type="sibTrans" cxnId="{454BA1EC-974A-4EB2-BA08-35B4836DABD0}">
      <dgm:prSet/>
      <dgm:spPr/>
      <dgm:t>
        <a:bodyPr/>
        <a:lstStyle/>
        <a:p>
          <a:endParaRPr lang="en-GB"/>
        </a:p>
      </dgm:t>
    </dgm:pt>
    <dgm:pt modelId="{7DFCBBF0-F0E4-4D5F-B12C-59CD1213715A}" type="pres">
      <dgm:prSet presAssocID="{16FC20C3-D2A0-4D39-833C-1FEF107D604E}" presName="Name0" presStyleCnt="0">
        <dgm:presLayoutVars>
          <dgm:dir/>
          <dgm:resizeHandles val="exact"/>
        </dgm:presLayoutVars>
      </dgm:prSet>
      <dgm:spPr/>
    </dgm:pt>
    <dgm:pt modelId="{A3959B95-94E7-484F-A7A6-6D9A275822AE}" type="pres">
      <dgm:prSet presAssocID="{C8972FBC-80C4-4CD8-87E8-0C28455A4252}" presName="node" presStyleLbl="node1" presStyleIdx="0" presStyleCnt="7" custLinFactNeighborX="33217" custLinFactNeighborY="-74803">
        <dgm:presLayoutVars>
          <dgm:bulletEnabled val="1"/>
        </dgm:presLayoutVars>
      </dgm:prSet>
      <dgm:spPr/>
    </dgm:pt>
    <dgm:pt modelId="{22801009-1C83-49F6-AC8F-F2CE51D2D452}" type="pres">
      <dgm:prSet presAssocID="{3904133F-4687-4271-8723-312FFFC9B2C9}" presName="sibTrans" presStyleLbl="sibTrans2D1" presStyleIdx="0" presStyleCnt="6"/>
      <dgm:spPr/>
    </dgm:pt>
    <dgm:pt modelId="{5775A553-915D-4EDC-85A1-085C05CAE041}" type="pres">
      <dgm:prSet presAssocID="{3904133F-4687-4271-8723-312FFFC9B2C9}" presName="connectorText" presStyleLbl="sibTrans2D1" presStyleIdx="0" presStyleCnt="6"/>
      <dgm:spPr/>
    </dgm:pt>
    <dgm:pt modelId="{2DF309D6-C09E-44A4-AA18-A9853A82F353}" type="pres">
      <dgm:prSet presAssocID="{626AD6F2-100B-47E8-8C74-1B6C5603B6D1}" presName="node" presStyleLbl="node1" presStyleIdx="1" presStyleCnt="7" custLinFactNeighborX="14236" custLinFactNeighborY="-76882">
        <dgm:presLayoutVars>
          <dgm:bulletEnabled val="1"/>
        </dgm:presLayoutVars>
      </dgm:prSet>
      <dgm:spPr/>
    </dgm:pt>
    <dgm:pt modelId="{5C908951-243A-44E7-8825-63648DD773C7}" type="pres">
      <dgm:prSet presAssocID="{8D15121A-6B84-4E59-9B1D-15D4F69AF75F}" presName="sibTrans" presStyleLbl="sibTrans2D1" presStyleIdx="1" presStyleCnt="6"/>
      <dgm:spPr/>
    </dgm:pt>
    <dgm:pt modelId="{680694F8-E65D-45BF-B3BD-67EE956F6A66}" type="pres">
      <dgm:prSet presAssocID="{8D15121A-6B84-4E59-9B1D-15D4F69AF75F}" presName="connectorText" presStyleLbl="sibTrans2D1" presStyleIdx="1" presStyleCnt="6"/>
      <dgm:spPr/>
    </dgm:pt>
    <dgm:pt modelId="{313257E2-3727-43B4-BD21-2C7DB74608F1}" type="pres">
      <dgm:prSet presAssocID="{D29EDD77-6F03-47A0-BD45-DFA28EAF963D}" presName="node" presStyleLbl="node1" presStyleIdx="2" presStyleCnt="7" custScaleX="135473" custScaleY="98179" custLinFactNeighborX="-295" custLinFactNeighborY="-86476">
        <dgm:presLayoutVars>
          <dgm:bulletEnabled val="1"/>
        </dgm:presLayoutVars>
      </dgm:prSet>
      <dgm:spPr/>
    </dgm:pt>
    <dgm:pt modelId="{85E6308F-45CD-4BDE-8B9B-E9A96597A896}" type="pres">
      <dgm:prSet presAssocID="{BD43626C-C7C3-42A2-8AD0-89D51A31B9F7}" presName="sibTrans" presStyleLbl="sibTrans2D1" presStyleIdx="2" presStyleCnt="6"/>
      <dgm:spPr/>
    </dgm:pt>
    <dgm:pt modelId="{8FB9F3E7-9C03-404C-A168-AB9616B4D7B3}" type="pres">
      <dgm:prSet presAssocID="{BD43626C-C7C3-42A2-8AD0-89D51A31B9F7}" presName="connectorText" presStyleLbl="sibTrans2D1" presStyleIdx="2" presStyleCnt="6"/>
      <dgm:spPr/>
    </dgm:pt>
    <dgm:pt modelId="{B9BB5C14-57DB-472B-8665-64E7C9DDD893}" type="pres">
      <dgm:prSet presAssocID="{D6282901-F179-4480-894E-C58C0F1D6098}" presName="node" presStyleLbl="node1" presStyleIdx="3" presStyleCnt="7" custLinFactNeighborX="17650" custLinFactNeighborY="-86477">
        <dgm:presLayoutVars>
          <dgm:bulletEnabled val="1"/>
        </dgm:presLayoutVars>
      </dgm:prSet>
      <dgm:spPr/>
    </dgm:pt>
    <dgm:pt modelId="{0EF7FCCC-1E32-468B-B287-F9005704106C}" type="pres">
      <dgm:prSet presAssocID="{AF9530C8-1460-42E7-93CF-0F813DB626FD}" presName="sibTrans" presStyleLbl="sibTrans2D1" presStyleIdx="3" presStyleCnt="6"/>
      <dgm:spPr/>
    </dgm:pt>
    <dgm:pt modelId="{65B7E296-B22C-4148-A548-D2EB42453638}" type="pres">
      <dgm:prSet presAssocID="{AF9530C8-1460-42E7-93CF-0F813DB626FD}" presName="connectorText" presStyleLbl="sibTrans2D1" presStyleIdx="3" presStyleCnt="6"/>
      <dgm:spPr/>
    </dgm:pt>
    <dgm:pt modelId="{79B40E57-7979-4B1E-B2C7-9B149F0A43A6}" type="pres">
      <dgm:prSet presAssocID="{A08C0E3E-5B25-454D-A377-9D12CDDA5FAD}" presName="node" presStyleLbl="node1" presStyleIdx="4" presStyleCnt="7" custLinFactNeighborX="16898" custLinFactNeighborY="-86476">
        <dgm:presLayoutVars>
          <dgm:bulletEnabled val="1"/>
        </dgm:presLayoutVars>
      </dgm:prSet>
      <dgm:spPr/>
    </dgm:pt>
    <dgm:pt modelId="{55E38448-B259-42F0-912A-EE0B322E6179}" type="pres">
      <dgm:prSet presAssocID="{62861AF5-FD6E-4320-BB3E-F76504FE6C62}" presName="sibTrans" presStyleLbl="sibTrans2D1" presStyleIdx="4" presStyleCnt="6"/>
      <dgm:spPr/>
    </dgm:pt>
    <dgm:pt modelId="{8DD7D308-3D2E-42CD-8FB1-1A766F8D0750}" type="pres">
      <dgm:prSet presAssocID="{62861AF5-FD6E-4320-BB3E-F76504FE6C62}" presName="connectorText" presStyleLbl="sibTrans2D1" presStyleIdx="4" presStyleCnt="6"/>
      <dgm:spPr/>
    </dgm:pt>
    <dgm:pt modelId="{BD165FE3-73D4-40E5-AAB6-B82EBF5CF416}" type="pres">
      <dgm:prSet presAssocID="{948C8F9F-A20D-4B64-AAB0-1D1B0056A173}" presName="node" presStyleLbl="node1" presStyleIdx="5" presStyleCnt="7" custLinFactNeighborX="21064" custLinFactNeighborY="-76882">
        <dgm:presLayoutVars>
          <dgm:bulletEnabled val="1"/>
        </dgm:presLayoutVars>
      </dgm:prSet>
      <dgm:spPr/>
    </dgm:pt>
    <dgm:pt modelId="{16BC774F-71D5-48B4-9D18-BC2F42E1BE7A}" type="pres">
      <dgm:prSet presAssocID="{ABEF3A46-7563-4258-BD89-5C370D8C828E}" presName="sibTrans" presStyleLbl="sibTrans2D1" presStyleIdx="5" presStyleCnt="6"/>
      <dgm:spPr/>
    </dgm:pt>
    <dgm:pt modelId="{E52C7E08-8EFA-461D-BC0B-A9245BFA702C}" type="pres">
      <dgm:prSet presAssocID="{ABEF3A46-7563-4258-BD89-5C370D8C828E}" presName="connectorText" presStyleLbl="sibTrans2D1" presStyleIdx="5" presStyleCnt="6"/>
      <dgm:spPr/>
    </dgm:pt>
    <dgm:pt modelId="{5B7DBDCD-E346-444B-B9C6-127241302F48}" type="pres">
      <dgm:prSet presAssocID="{ED475990-398A-454E-B74D-CF479F64D630}" presName="node" presStyleLbl="node1" presStyleIdx="6" presStyleCnt="7" custLinFactNeighborX="660" custLinFactNeighborY="-86476">
        <dgm:presLayoutVars>
          <dgm:bulletEnabled val="1"/>
        </dgm:presLayoutVars>
      </dgm:prSet>
      <dgm:spPr/>
    </dgm:pt>
  </dgm:ptLst>
  <dgm:cxnLst>
    <dgm:cxn modelId="{2E091901-0514-064D-9700-FB475A52430B}" type="presOf" srcId="{A08C0E3E-5B25-454D-A377-9D12CDDA5FAD}" destId="{79B40E57-7979-4B1E-B2C7-9B149F0A43A6}" srcOrd="0" destOrd="0" presId="urn:microsoft.com/office/officeart/2005/8/layout/process1"/>
    <dgm:cxn modelId="{8A768803-15FB-394C-A1AE-E0A2C0FF98EA}" type="presOf" srcId="{8D15121A-6B84-4E59-9B1D-15D4F69AF75F}" destId="{680694F8-E65D-45BF-B3BD-67EE956F6A66}" srcOrd="1" destOrd="0" presId="urn:microsoft.com/office/officeart/2005/8/layout/process1"/>
    <dgm:cxn modelId="{4EEF3C08-C6C6-46CE-AF31-DBE620C39274}" srcId="{16FC20C3-D2A0-4D39-833C-1FEF107D604E}" destId="{626AD6F2-100B-47E8-8C74-1B6C5603B6D1}" srcOrd="1" destOrd="0" parTransId="{3D5EF385-3B53-4DB3-9957-FAFDB3AC2C75}" sibTransId="{8D15121A-6B84-4E59-9B1D-15D4F69AF75F}"/>
    <dgm:cxn modelId="{164F7717-A25B-564C-9E83-35F8B6E1E1B7}" type="presOf" srcId="{AF9530C8-1460-42E7-93CF-0F813DB626FD}" destId="{0EF7FCCC-1E32-468B-B287-F9005704106C}" srcOrd="0" destOrd="0" presId="urn:microsoft.com/office/officeart/2005/8/layout/process1"/>
    <dgm:cxn modelId="{D9520B19-C898-7F40-AA8D-F107CBE2351F}" type="presOf" srcId="{62861AF5-FD6E-4320-BB3E-F76504FE6C62}" destId="{55E38448-B259-42F0-912A-EE0B322E6179}" srcOrd="0" destOrd="0" presId="urn:microsoft.com/office/officeart/2005/8/layout/process1"/>
    <dgm:cxn modelId="{790AF51F-F56D-C742-B08C-304DC42B48CA}" type="presOf" srcId="{3904133F-4687-4271-8723-312FFFC9B2C9}" destId="{5775A553-915D-4EDC-85A1-085C05CAE041}" srcOrd="1" destOrd="0" presId="urn:microsoft.com/office/officeart/2005/8/layout/process1"/>
    <dgm:cxn modelId="{6B2FC149-B188-4AC1-A70C-F0110F9060BD}" srcId="{16FC20C3-D2A0-4D39-833C-1FEF107D604E}" destId="{948C8F9F-A20D-4B64-AAB0-1D1B0056A173}" srcOrd="5" destOrd="0" parTransId="{95692EF2-F5BB-436B-AC70-69A7D89BC5D5}" sibTransId="{ABEF3A46-7563-4258-BD89-5C370D8C828E}"/>
    <dgm:cxn modelId="{21723056-D628-C94C-B83A-0FE1682872D9}" type="presOf" srcId="{AF9530C8-1460-42E7-93CF-0F813DB626FD}" destId="{65B7E296-B22C-4148-A548-D2EB42453638}" srcOrd="1" destOrd="0" presId="urn:microsoft.com/office/officeart/2005/8/layout/process1"/>
    <dgm:cxn modelId="{1D0F015D-6766-2B46-B82F-32EDB468D4F7}" type="presOf" srcId="{8D15121A-6B84-4E59-9B1D-15D4F69AF75F}" destId="{5C908951-243A-44E7-8825-63648DD773C7}" srcOrd="0" destOrd="0" presId="urn:microsoft.com/office/officeart/2005/8/layout/process1"/>
    <dgm:cxn modelId="{53CB815E-FEC0-C14D-B752-29DE7A60D26B}" type="presOf" srcId="{3904133F-4687-4271-8723-312FFFC9B2C9}" destId="{22801009-1C83-49F6-AC8F-F2CE51D2D452}" srcOrd="0" destOrd="0" presId="urn:microsoft.com/office/officeart/2005/8/layout/process1"/>
    <dgm:cxn modelId="{0BBDCA68-D339-44F8-9BC4-C1321C3D1634}" srcId="{16FC20C3-D2A0-4D39-833C-1FEF107D604E}" destId="{A08C0E3E-5B25-454D-A377-9D12CDDA5FAD}" srcOrd="4" destOrd="0" parTransId="{5282F5C1-1ED5-4628-8EE4-B36AF5F7AF64}" sibTransId="{62861AF5-FD6E-4320-BB3E-F76504FE6C62}"/>
    <dgm:cxn modelId="{BE78EE86-B056-47BF-95FE-869C17A753AB}" srcId="{16FC20C3-D2A0-4D39-833C-1FEF107D604E}" destId="{D6282901-F179-4480-894E-C58C0F1D6098}" srcOrd="3" destOrd="0" parTransId="{243D8B19-1FF4-416F-BF00-2BF14B214F55}" sibTransId="{AF9530C8-1460-42E7-93CF-0F813DB626FD}"/>
    <dgm:cxn modelId="{E881D489-B5F6-B740-83DF-647A3A82E78E}" type="presOf" srcId="{BD43626C-C7C3-42A2-8AD0-89D51A31B9F7}" destId="{8FB9F3E7-9C03-404C-A168-AB9616B4D7B3}" srcOrd="1" destOrd="0" presId="urn:microsoft.com/office/officeart/2005/8/layout/process1"/>
    <dgm:cxn modelId="{6790358E-0B6C-6D4C-B871-8154143CCF2B}" type="presOf" srcId="{626AD6F2-100B-47E8-8C74-1B6C5603B6D1}" destId="{2DF309D6-C09E-44A4-AA18-A9853A82F353}" srcOrd="0" destOrd="0" presId="urn:microsoft.com/office/officeart/2005/8/layout/process1"/>
    <dgm:cxn modelId="{952C5794-6650-4499-897C-FC8A7272C96F}" srcId="{16FC20C3-D2A0-4D39-833C-1FEF107D604E}" destId="{C8972FBC-80C4-4CD8-87E8-0C28455A4252}" srcOrd="0" destOrd="0" parTransId="{51779321-4E3F-4785-8607-27C81117FF3D}" sibTransId="{3904133F-4687-4271-8723-312FFFC9B2C9}"/>
    <dgm:cxn modelId="{5DA66D9A-B8CE-C64F-8972-6BE27A206282}" type="presOf" srcId="{948C8F9F-A20D-4B64-AAB0-1D1B0056A173}" destId="{BD165FE3-73D4-40E5-AAB6-B82EBF5CF416}" srcOrd="0" destOrd="0" presId="urn:microsoft.com/office/officeart/2005/8/layout/process1"/>
    <dgm:cxn modelId="{2910089D-17AF-C344-BC2D-5DA1078726EE}" type="presOf" srcId="{C8972FBC-80C4-4CD8-87E8-0C28455A4252}" destId="{A3959B95-94E7-484F-A7A6-6D9A275822AE}" srcOrd="0" destOrd="0" presId="urn:microsoft.com/office/officeart/2005/8/layout/process1"/>
    <dgm:cxn modelId="{9FF75AB1-99B5-784C-800D-EDAACBFB29E3}" type="presOf" srcId="{16FC20C3-D2A0-4D39-833C-1FEF107D604E}" destId="{7DFCBBF0-F0E4-4D5F-B12C-59CD1213715A}" srcOrd="0" destOrd="0" presId="urn:microsoft.com/office/officeart/2005/8/layout/process1"/>
    <dgm:cxn modelId="{18089DB6-395E-DD42-9273-7D7462690ADA}" type="presOf" srcId="{D29EDD77-6F03-47A0-BD45-DFA28EAF963D}" destId="{313257E2-3727-43B4-BD21-2C7DB74608F1}" srcOrd="0" destOrd="0" presId="urn:microsoft.com/office/officeart/2005/8/layout/process1"/>
    <dgm:cxn modelId="{F6CD0ABD-1706-CD4B-BE3B-EF4CBD219C22}" type="presOf" srcId="{BD43626C-C7C3-42A2-8AD0-89D51A31B9F7}" destId="{85E6308F-45CD-4BDE-8B9B-E9A96597A896}" srcOrd="0" destOrd="0" presId="urn:microsoft.com/office/officeart/2005/8/layout/process1"/>
    <dgm:cxn modelId="{90EDC2C3-EB40-C94E-A806-001A342CB022}" type="presOf" srcId="{62861AF5-FD6E-4320-BB3E-F76504FE6C62}" destId="{8DD7D308-3D2E-42CD-8FB1-1A766F8D0750}" srcOrd="1" destOrd="0" presId="urn:microsoft.com/office/officeart/2005/8/layout/process1"/>
    <dgm:cxn modelId="{1C7536C9-8725-4D41-B0C6-B3859992C4EB}" type="presOf" srcId="{ED475990-398A-454E-B74D-CF479F64D630}" destId="{5B7DBDCD-E346-444B-B9C6-127241302F48}" srcOrd="0" destOrd="0" presId="urn:microsoft.com/office/officeart/2005/8/layout/process1"/>
    <dgm:cxn modelId="{D1E841CE-5C97-4A8A-870C-55B7F0AD783C}" srcId="{16FC20C3-D2A0-4D39-833C-1FEF107D604E}" destId="{D29EDD77-6F03-47A0-BD45-DFA28EAF963D}" srcOrd="2" destOrd="0" parTransId="{C8BA9855-5C71-4ACC-9B96-92E449A4DA43}" sibTransId="{BD43626C-C7C3-42A2-8AD0-89D51A31B9F7}"/>
    <dgm:cxn modelId="{7A04A4CF-ED11-8142-9DCF-E9B775E03FF4}" type="presOf" srcId="{D6282901-F179-4480-894E-C58C0F1D6098}" destId="{B9BB5C14-57DB-472B-8665-64E7C9DDD893}" srcOrd="0" destOrd="0" presId="urn:microsoft.com/office/officeart/2005/8/layout/process1"/>
    <dgm:cxn modelId="{454BA1EC-974A-4EB2-BA08-35B4836DABD0}" srcId="{16FC20C3-D2A0-4D39-833C-1FEF107D604E}" destId="{ED475990-398A-454E-B74D-CF479F64D630}" srcOrd="6" destOrd="0" parTransId="{43C2AA8C-EC28-40ED-9ED5-9069B908066F}" sibTransId="{92D0E3E6-4361-45CD-9BA8-A883CC82805A}"/>
    <dgm:cxn modelId="{027F45EE-E1E6-4640-B4AD-66E48165CDFB}" type="presOf" srcId="{ABEF3A46-7563-4258-BD89-5C370D8C828E}" destId="{16BC774F-71D5-48B4-9D18-BC2F42E1BE7A}" srcOrd="0" destOrd="0" presId="urn:microsoft.com/office/officeart/2005/8/layout/process1"/>
    <dgm:cxn modelId="{92D7E6FA-0FA2-A148-A168-16E590B0C273}" type="presOf" srcId="{ABEF3A46-7563-4258-BD89-5C370D8C828E}" destId="{E52C7E08-8EFA-461D-BC0B-A9245BFA702C}" srcOrd="1" destOrd="0" presId="urn:microsoft.com/office/officeart/2005/8/layout/process1"/>
    <dgm:cxn modelId="{6AD506EC-A383-684F-83AE-B7AB75EBF96E}" type="presParOf" srcId="{7DFCBBF0-F0E4-4D5F-B12C-59CD1213715A}" destId="{A3959B95-94E7-484F-A7A6-6D9A275822AE}" srcOrd="0" destOrd="0" presId="urn:microsoft.com/office/officeart/2005/8/layout/process1"/>
    <dgm:cxn modelId="{26E8CBA1-B631-E243-B264-4CEA9D25896C}" type="presParOf" srcId="{7DFCBBF0-F0E4-4D5F-B12C-59CD1213715A}" destId="{22801009-1C83-49F6-AC8F-F2CE51D2D452}" srcOrd="1" destOrd="0" presId="urn:microsoft.com/office/officeart/2005/8/layout/process1"/>
    <dgm:cxn modelId="{A493C058-264E-F041-B85F-1A87701DC641}" type="presParOf" srcId="{22801009-1C83-49F6-AC8F-F2CE51D2D452}" destId="{5775A553-915D-4EDC-85A1-085C05CAE041}" srcOrd="0" destOrd="0" presId="urn:microsoft.com/office/officeart/2005/8/layout/process1"/>
    <dgm:cxn modelId="{B4EABFC7-EC31-8343-B050-B80983B88059}" type="presParOf" srcId="{7DFCBBF0-F0E4-4D5F-B12C-59CD1213715A}" destId="{2DF309D6-C09E-44A4-AA18-A9853A82F353}" srcOrd="2" destOrd="0" presId="urn:microsoft.com/office/officeart/2005/8/layout/process1"/>
    <dgm:cxn modelId="{A850F6F5-A077-9F4E-A89C-4F09D5A2B075}" type="presParOf" srcId="{7DFCBBF0-F0E4-4D5F-B12C-59CD1213715A}" destId="{5C908951-243A-44E7-8825-63648DD773C7}" srcOrd="3" destOrd="0" presId="urn:microsoft.com/office/officeart/2005/8/layout/process1"/>
    <dgm:cxn modelId="{285DFDE2-2959-7E4B-9983-7C39F7260151}" type="presParOf" srcId="{5C908951-243A-44E7-8825-63648DD773C7}" destId="{680694F8-E65D-45BF-B3BD-67EE956F6A66}" srcOrd="0" destOrd="0" presId="urn:microsoft.com/office/officeart/2005/8/layout/process1"/>
    <dgm:cxn modelId="{4CBDB2EF-14AB-1448-98BC-00F9CA765AE8}" type="presParOf" srcId="{7DFCBBF0-F0E4-4D5F-B12C-59CD1213715A}" destId="{313257E2-3727-43B4-BD21-2C7DB74608F1}" srcOrd="4" destOrd="0" presId="urn:microsoft.com/office/officeart/2005/8/layout/process1"/>
    <dgm:cxn modelId="{D50B78CB-1C82-D44A-A8BF-3A19B7C61FE9}" type="presParOf" srcId="{7DFCBBF0-F0E4-4D5F-B12C-59CD1213715A}" destId="{85E6308F-45CD-4BDE-8B9B-E9A96597A896}" srcOrd="5" destOrd="0" presId="urn:microsoft.com/office/officeart/2005/8/layout/process1"/>
    <dgm:cxn modelId="{73857FCA-8A1D-FF4A-9910-CD0A7E010AC0}" type="presParOf" srcId="{85E6308F-45CD-4BDE-8B9B-E9A96597A896}" destId="{8FB9F3E7-9C03-404C-A168-AB9616B4D7B3}" srcOrd="0" destOrd="0" presId="urn:microsoft.com/office/officeart/2005/8/layout/process1"/>
    <dgm:cxn modelId="{70D249B9-F9B7-2146-B532-90985CBB5E8A}" type="presParOf" srcId="{7DFCBBF0-F0E4-4D5F-B12C-59CD1213715A}" destId="{B9BB5C14-57DB-472B-8665-64E7C9DDD893}" srcOrd="6" destOrd="0" presId="urn:microsoft.com/office/officeart/2005/8/layout/process1"/>
    <dgm:cxn modelId="{AB42D566-5C93-804F-B73A-FAFA9D62EAF8}" type="presParOf" srcId="{7DFCBBF0-F0E4-4D5F-B12C-59CD1213715A}" destId="{0EF7FCCC-1E32-468B-B287-F9005704106C}" srcOrd="7" destOrd="0" presId="urn:microsoft.com/office/officeart/2005/8/layout/process1"/>
    <dgm:cxn modelId="{9A83FBF4-F93F-A142-A874-91B4B2694C0E}" type="presParOf" srcId="{0EF7FCCC-1E32-468B-B287-F9005704106C}" destId="{65B7E296-B22C-4148-A548-D2EB42453638}" srcOrd="0" destOrd="0" presId="urn:microsoft.com/office/officeart/2005/8/layout/process1"/>
    <dgm:cxn modelId="{51D8F759-403D-D542-9E71-C15AB5522037}" type="presParOf" srcId="{7DFCBBF0-F0E4-4D5F-B12C-59CD1213715A}" destId="{79B40E57-7979-4B1E-B2C7-9B149F0A43A6}" srcOrd="8" destOrd="0" presId="urn:microsoft.com/office/officeart/2005/8/layout/process1"/>
    <dgm:cxn modelId="{0776CF95-FE50-5941-9655-E90D44351695}" type="presParOf" srcId="{7DFCBBF0-F0E4-4D5F-B12C-59CD1213715A}" destId="{55E38448-B259-42F0-912A-EE0B322E6179}" srcOrd="9" destOrd="0" presId="urn:microsoft.com/office/officeart/2005/8/layout/process1"/>
    <dgm:cxn modelId="{388C3009-253E-1745-98C9-DE048FAA45B8}" type="presParOf" srcId="{55E38448-B259-42F0-912A-EE0B322E6179}" destId="{8DD7D308-3D2E-42CD-8FB1-1A766F8D0750}" srcOrd="0" destOrd="0" presId="urn:microsoft.com/office/officeart/2005/8/layout/process1"/>
    <dgm:cxn modelId="{3568C8DA-C7EF-524A-8A34-573A25296EDA}" type="presParOf" srcId="{7DFCBBF0-F0E4-4D5F-B12C-59CD1213715A}" destId="{BD165FE3-73D4-40E5-AAB6-B82EBF5CF416}" srcOrd="10" destOrd="0" presId="urn:microsoft.com/office/officeart/2005/8/layout/process1"/>
    <dgm:cxn modelId="{6CB36F76-40F4-464E-B49B-0539044612D3}" type="presParOf" srcId="{7DFCBBF0-F0E4-4D5F-B12C-59CD1213715A}" destId="{16BC774F-71D5-48B4-9D18-BC2F42E1BE7A}" srcOrd="11" destOrd="0" presId="urn:microsoft.com/office/officeart/2005/8/layout/process1"/>
    <dgm:cxn modelId="{C01B3F28-52C9-8748-B38F-ADAD5F39A31F}" type="presParOf" srcId="{16BC774F-71D5-48B4-9D18-BC2F42E1BE7A}" destId="{E52C7E08-8EFA-461D-BC0B-A9245BFA702C}" srcOrd="0" destOrd="0" presId="urn:microsoft.com/office/officeart/2005/8/layout/process1"/>
    <dgm:cxn modelId="{5043018B-6CCF-BB41-BCD9-8740CE66EEE1}" type="presParOf" srcId="{7DFCBBF0-F0E4-4D5F-B12C-59CD1213715A}" destId="{5B7DBDCD-E346-444B-B9C6-127241302F48}" srcOrd="12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59B95-94E7-484F-A7A6-6D9A275822AE}">
      <dsp:nvSpPr>
        <dsp:cNvPr id="0" name=""/>
        <dsp:cNvSpPr/>
      </dsp:nvSpPr>
      <dsp:spPr>
        <a:xfrm>
          <a:off x="128773" y="0"/>
          <a:ext cx="936500" cy="8944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MRI scans</a:t>
          </a:r>
          <a:endParaRPr lang="en-GB" sz="1400" kern="1200" dirty="0"/>
        </a:p>
      </dsp:txBody>
      <dsp:txXfrm>
        <a:off x="154970" y="26197"/>
        <a:ext cx="884106" cy="842037"/>
      </dsp:txXfrm>
    </dsp:sp>
    <dsp:sp modelId="{22801009-1C83-49F6-AC8F-F2CE51D2D452}">
      <dsp:nvSpPr>
        <dsp:cNvPr id="0" name=""/>
        <dsp:cNvSpPr/>
      </dsp:nvSpPr>
      <dsp:spPr>
        <a:xfrm>
          <a:off x="1141149" y="331089"/>
          <a:ext cx="160853" cy="23225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1141149" y="377539"/>
        <a:ext cx="112597" cy="139352"/>
      </dsp:txXfrm>
    </dsp:sp>
    <dsp:sp modelId="{2DF309D6-C09E-44A4-AA18-A9853A82F353}">
      <dsp:nvSpPr>
        <dsp:cNvPr id="0" name=""/>
        <dsp:cNvSpPr/>
      </dsp:nvSpPr>
      <dsp:spPr>
        <a:xfrm>
          <a:off x="1368772" y="0"/>
          <a:ext cx="936500" cy="894431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SPM</a:t>
          </a:r>
          <a:endParaRPr lang="en-GB" sz="1400" kern="1200" dirty="0"/>
        </a:p>
      </dsp:txBody>
      <dsp:txXfrm>
        <a:off x="1394969" y="26197"/>
        <a:ext cx="884106" cy="842037"/>
      </dsp:txXfrm>
    </dsp:sp>
    <dsp:sp modelId="{5C908951-243A-44E7-8825-63648DD773C7}">
      <dsp:nvSpPr>
        <dsp:cNvPr id="0" name=""/>
        <dsp:cNvSpPr/>
      </dsp:nvSpPr>
      <dsp:spPr>
        <a:xfrm rot="21580323">
          <a:off x="2385313" y="327465"/>
          <a:ext cx="169691" cy="23225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2385313" y="374061"/>
        <a:ext cx="118784" cy="139352"/>
      </dsp:txXfrm>
    </dsp:sp>
    <dsp:sp modelId="{313257E2-3727-43B4-BD21-2C7DB74608F1}">
      <dsp:nvSpPr>
        <dsp:cNvPr id="0" name=""/>
        <dsp:cNvSpPr/>
      </dsp:nvSpPr>
      <dsp:spPr>
        <a:xfrm>
          <a:off x="2625440" y="0"/>
          <a:ext cx="1268705" cy="878143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Segmented 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scans</a:t>
          </a:r>
          <a:endParaRPr lang="en-GB" sz="1400" kern="1200" dirty="0"/>
        </a:p>
      </dsp:txBody>
      <dsp:txXfrm>
        <a:off x="2651160" y="25720"/>
        <a:ext cx="1217265" cy="826703"/>
      </dsp:txXfrm>
    </dsp:sp>
    <dsp:sp modelId="{85E6308F-45CD-4BDE-8B9B-E9A96597A896}">
      <dsp:nvSpPr>
        <dsp:cNvPr id="0" name=""/>
        <dsp:cNvSpPr/>
      </dsp:nvSpPr>
      <dsp:spPr>
        <a:xfrm rot="18127">
          <a:off x="4004600" y="327490"/>
          <a:ext cx="234169" cy="23225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4004600" y="373756"/>
        <a:ext cx="164493" cy="139352"/>
      </dsp:txXfrm>
    </dsp:sp>
    <dsp:sp modelId="{B9BB5C14-57DB-472B-8665-64E7C9DDD893}">
      <dsp:nvSpPr>
        <dsp:cNvPr id="0" name=""/>
        <dsp:cNvSpPr/>
      </dsp:nvSpPr>
      <dsp:spPr>
        <a:xfrm>
          <a:off x="4335968" y="0"/>
          <a:ext cx="936500" cy="894431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NIRFAST-Slicer</a:t>
          </a:r>
          <a:endParaRPr lang="en-GB" sz="1400" kern="1200" dirty="0"/>
        </a:p>
      </dsp:txBody>
      <dsp:txXfrm>
        <a:off x="4362165" y="26197"/>
        <a:ext cx="884106" cy="842037"/>
      </dsp:txXfrm>
    </dsp:sp>
    <dsp:sp modelId="{0EF7FCCC-1E32-468B-B287-F9005704106C}">
      <dsp:nvSpPr>
        <dsp:cNvPr id="0" name=""/>
        <dsp:cNvSpPr/>
      </dsp:nvSpPr>
      <dsp:spPr>
        <a:xfrm>
          <a:off x="5365415" y="331089"/>
          <a:ext cx="197045" cy="23225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5365415" y="377539"/>
        <a:ext cx="137932" cy="139352"/>
      </dsp:txXfrm>
    </dsp:sp>
    <dsp:sp modelId="{79B40E57-7979-4B1E-B2C7-9B149F0A43A6}">
      <dsp:nvSpPr>
        <dsp:cNvPr id="0" name=""/>
        <dsp:cNvSpPr/>
      </dsp:nvSpPr>
      <dsp:spPr>
        <a:xfrm>
          <a:off x="5644253" y="0"/>
          <a:ext cx="936500" cy="8944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Masks</a:t>
          </a:r>
          <a:endParaRPr lang="en-GB" sz="1400" kern="1200" dirty="0"/>
        </a:p>
      </dsp:txBody>
      <dsp:txXfrm>
        <a:off x="5670450" y="26197"/>
        <a:ext cx="884106" cy="842037"/>
      </dsp:txXfrm>
    </dsp:sp>
    <dsp:sp modelId="{55E38448-B259-42F0-912A-EE0B322E6179}">
      <dsp:nvSpPr>
        <dsp:cNvPr id="0" name=""/>
        <dsp:cNvSpPr/>
      </dsp:nvSpPr>
      <dsp:spPr>
        <a:xfrm>
          <a:off x="6678305" y="331089"/>
          <a:ext cx="206809" cy="23225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6678305" y="377539"/>
        <a:ext cx="144766" cy="139352"/>
      </dsp:txXfrm>
    </dsp:sp>
    <dsp:sp modelId="{BD165FE3-73D4-40E5-AAB6-B82EBF5CF416}">
      <dsp:nvSpPr>
        <dsp:cNvPr id="0" name=""/>
        <dsp:cNvSpPr/>
      </dsp:nvSpPr>
      <dsp:spPr>
        <a:xfrm>
          <a:off x="6970960" y="0"/>
          <a:ext cx="936500" cy="894431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NIRFAST</a:t>
          </a:r>
          <a:endParaRPr lang="en-GB" sz="1400" kern="1200" dirty="0"/>
        </a:p>
      </dsp:txBody>
      <dsp:txXfrm>
        <a:off x="6997157" y="26197"/>
        <a:ext cx="884106" cy="842037"/>
      </dsp:txXfrm>
    </dsp:sp>
    <dsp:sp modelId="{16BC774F-71D5-48B4-9D18-BC2F42E1BE7A}">
      <dsp:nvSpPr>
        <dsp:cNvPr id="0" name=""/>
        <dsp:cNvSpPr/>
      </dsp:nvSpPr>
      <dsp:spPr>
        <a:xfrm>
          <a:off x="7982003" y="331089"/>
          <a:ext cx="158028" cy="23225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z="-80000" prstMaterial="plastic">
          <a:bevelT w="50800" h="50800"/>
          <a:bevelB w="25400" h="2540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900" kern="1200"/>
        </a:p>
      </dsp:txBody>
      <dsp:txXfrm>
        <a:off x="7982003" y="377539"/>
        <a:ext cx="110620" cy="139352"/>
      </dsp:txXfrm>
    </dsp:sp>
    <dsp:sp modelId="{5B7DBDCD-E346-444B-B9C6-127241302F48}">
      <dsp:nvSpPr>
        <dsp:cNvPr id="0" name=""/>
        <dsp:cNvSpPr/>
      </dsp:nvSpPr>
      <dsp:spPr>
        <a:xfrm>
          <a:off x="8205628" y="0"/>
          <a:ext cx="936500" cy="894431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400" kern="1200" dirty="0"/>
            <a:t>Volume Mesh</a:t>
          </a:r>
          <a:endParaRPr lang="en-GB" sz="1400" kern="1200" dirty="0"/>
        </a:p>
      </dsp:txBody>
      <dsp:txXfrm>
        <a:off x="8231825" y="26197"/>
        <a:ext cx="884106" cy="84203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289DA8-A704-4B1E-86B9-2AF7D392732B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1C18D-5F0A-4B7D-816E-FDD28E1B2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3150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1C18D-5F0A-4B7D-816E-FDD28E1B2D8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119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74AC4-FEC4-014A-BED3-1E7F67E590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EC0A5A-838E-308E-5934-1357815B8D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DB5DB4-2725-334F-9B1D-02AFF0AD20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E0BE29-FD5B-6F5B-0996-0D183C539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C742A7-BD8D-5EE3-B905-C15412636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5545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C5493-7ABF-52AA-2281-6574265CE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767F25-F0AC-FE72-4C8B-056B3B307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04091E-F585-E216-392E-89BDFA2F9F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BD7C40-786D-6576-2516-D7EECD805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  <p:sp>
        <p:nvSpPr>
          <p:cNvPr id="8" name="Google Shape;13;p7">
            <a:extLst>
              <a:ext uri="{FF2B5EF4-FFF2-40B4-BE49-F238E27FC236}">
                <a16:creationId xmlns:a16="http://schemas.microsoft.com/office/drawing/2014/main" id="{FE97A8BC-D4BD-4F98-C0E3-D5B6E0992588}"/>
              </a:ext>
            </a:extLst>
          </p:cNvPr>
          <p:cNvSpPr/>
          <p:nvPr userDrawn="1"/>
        </p:nvSpPr>
        <p:spPr>
          <a:xfrm>
            <a:off x="1" y="6086475"/>
            <a:ext cx="12192000" cy="1143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rgbClr val="0070C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" name="Picture 8" descr="A logo for a medical imaging lab&#10;&#10;Description automatically generated">
            <a:extLst>
              <a:ext uri="{FF2B5EF4-FFF2-40B4-BE49-F238E27FC236}">
                <a16:creationId xmlns:a16="http://schemas.microsoft.com/office/drawing/2014/main" id="{4023C582-22D8-832E-B5F9-98294746598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12384" y="6242535"/>
            <a:ext cx="656802" cy="615465"/>
          </a:xfrm>
          <a:prstGeom prst="rect">
            <a:avLst/>
          </a:prstGeom>
        </p:spPr>
      </p:pic>
      <p:pic>
        <p:nvPicPr>
          <p:cNvPr id="11" name="4. Logo">
            <a:extLst>
              <a:ext uri="{FF2B5EF4-FFF2-40B4-BE49-F238E27FC236}">
                <a16:creationId xmlns:a16="http://schemas.microsoft.com/office/drawing/2014/main" id="{7062BCE1-B93A-911F-83E7-06B5189712D1}"/>
              </a:ext>
            </a:extLst>
          </p:cNvPr>
          <p:cNvPicPr>
            <a:picLocks noChangeAspect="1"/>
          </p:cNvPicPr>
          <p:nvPr userDrawn="1"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5954" y="6264137"/>
            <a:ext cx="1954059" cy="56773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04205D0-A8F9-8E02-A4DA-1A3F009F2D22}"/>
              </a:ext>
            </a:extLst>
          </p:cNvPr>
          <p:cNvSpPr txBox="1"/>
          <p:nvPr userDrawn="1"/>
        </p:nvSpPr>
        <p:spPr>
          <a:xfrm>
            <a:off x="2092432" y="6258341"/>
            <a:ext cx="992579" cy="4792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ts val="148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cs typeface="Futura Condensed Medium" panose="020B0602020204020303" pitchFamily="34" charset="-79"/>
              </a:rPr>
              <a:t>MEDICAL</a:t>
            </a:r>
          </a:p>
          <a:p>
            <a:pPr>
              <a:lnSpc>
                <a:spcPts val="148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Garamond" panose="02020404030301010803" pitchFamily="18" charset="0"/>
                <a:cs typeface="Futura Condensed Medium" panose="020B0602020204020303" pitchFamily="34" charset="-79"/>
              </a:rPr>
              <a:t>IMAGING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6F615C8-46B8-EB84-E6C4-1F6E4FAED947}"/>
              </a:ext>
            </a:extLst>
          </p:cNvPr>
          <p:cNvCxnSpPr>
            <a:cxnSpLocks/>
          </p:cNvCxnSpPr>
          <p:nvPr userDrawn="1"/>
        </p:nvCxnSpPr>
        <p:spPr>
          <a:xfrm>
            <a:off x="2092433" y="6331493"/>
            <a:ext cx="0" cy="326571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5104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98D22-4D19-61C9-5F2C-B96434B77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157A08-C0B9-128B-E353-DCE0D4AD1C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416B5E-33E7-22AB-6BCC-1E8D21A9D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0CEB99-5F2D-9390-51AE-BBC04FA02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4363D4-D518-7892-20BC-072F709BF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8909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BC18DF-5773-A4DE-CFE1-EC6439EC29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73AF84-2E24-191B-022E-0248151948D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32CDF4-4364-39C2-79F1-8373740167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F3A5353-FE0D-730F-11DB-C9B72E2DB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0877F-7BD7-3A5F-6B67-B55A971B2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1E4BD4-2735-6C0C-B08F-49E498154D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06621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E62899-899B-369F-F14C-F2DC5F123C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EB5EF-4917-FF90-FE6E-FF3155C7C4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D17F85-2D61-585E-A4F3-C9E68E2ED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962B1-9209-3E6A-5C9A-7CC61AE5B3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0F4FD0-A185-B9BB-A1B0-EED752CA3A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902FD12-FCFA-9E94-CDC4-0FA620593F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F0D515-0FE8-97E4-D5D9-2364DCBAFA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3A9CCC-6FB1-FD0F-D32F-B86FAEE98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5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EDEFFF-B934-AFAC-29E3-772B6EA8C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0392770-0AB0-6AEC-C004-5EC0C8C65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D13A70-5C1B-D1DF-C4D4-F6C05CD92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BF124-588F-B2F9-095D-2834F8328B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5282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9AF5ED-68D4-DBB6-85A5-97B413D0B0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9DA54A-49DD-09B9-C458-4A197AF0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9ED12-D126-54F4-E642-11D9D3764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6155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D37F1-266F-A888-7C0F-47C833223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C64B5E-3CE4-CAC5-33AB-4BE6365C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C06194-22A0-045E-F206-DBC0E66450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7E518E-AAAA-EF77-A89B-8E947CD2B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5DB976-E944-D01F-8288-7EEC34F20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299D07-A593-60DD-87C0-15F4E0FCA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101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55B52-4413-F575-F240-1E00C9A1C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2ADB5F-1F72-DD3F-44EF-2AA00974E1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DF13A6-2D7B-4F58-1CF2-4C15F61387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C66615-98B5-AA20-39AB-C59159153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CCE530-BF6F-8E41-4B0F-94D140648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DD9F9-42E2-19ED-9BCB-16AEFF6BE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29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90E09B-8296-1FF4-7DF1-C53E69D32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71DB7A-0C08-6C22-2858-A57E39504B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AD2F5D-9FA8-8068-3829-A4C108577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0AED37-9031-3455-F7BD-0291E8069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8571A0-FCC2-F4E4-2F59-4EF85AB10F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5551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FDC7F1-AC88-B50C-025C-0C1836424B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83E414A-4100-90A3-1863-8AA4E5F6F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AC5E7-C0BF-872A-F1CD-9AE3C5F9B9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5D45C3-8C8E-8EBE-22B6-6EDC4A13D2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B9237D-2F7F-37C6-FBFE-ADA892DF6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283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08B387-77E0-A06F-0B89-E1533C5C9D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0E2C7F-381B-0CEC-273E-8A92B4574F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6096E-A05E-77C1-6225-B3F3F892D6A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50610-3B4C-926F-AE5E-943B0D0BA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B34316-53ED-E0DF-9BA2-734732AA27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56C3F58-625D-4CCA-9848-0D97EDF77BF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28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jpeg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3" Type="http://schemas.openxmlformats.org/officeDocument/2006/relationships/image" Target="../media/image11.emf"/><Relationship Id="rId7" Type="http://schemas.openxmlformats.org/officeDocument/2006/relationships/image" Target="../media/image13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5.emf"/><Relationship Id="rId5" Type="http://schemas.openxmlformats.org/officeDocument/2006/relationships/image" Target="../media/image12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4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tif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microsoft.com/office/2007/relationships/media" Target="../media/media1.mp4"/><Relationship Id="rId7" Type="http://schemas.openxmlformats.org/officeDocument/2006/relationships/image" Target="../media/image23.png"/><Relationship Id="rId12" Type="http://schemas.openxmlformats.org/officeDocument/2006/relationships/image" Target="../media/image28.jpeg"/><Relationship Id="rId2" Type="http://schemas.openxmlformats.org/officeDocument/2006/relationships/video" Target="file://///Users/hamiddehghani/Documents/powerpoint/movies/CCW-movie.mp4" TargetMode="External"/><Relationship Id="rId1" Type="http://schemas.microsoft.com/office/2007/relationships/media" Target="file://///Users/hamiddehghani/Documents/powerpoint/movies/CCW-movie.mp4" TargetMode="Externa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slideLayout" Target="../slideLayouts/slideLayout2.xml"/><Relationship Id="rId15" Type="http://schemas.openxmlformats.org/officeDocument/2006/relationships/image" Target="../media/image31.png"/><Relationship Id="rId10" Type="http://schemas.openxmlformats.org/officeDocument/2006/relationships/image" Target="../media/image26.jpeg"/><Relationship Id="rId4" Type="http://schemas.openxmlformats.org/officeDocument/2006/relationships/video" Target="../media/media1.mp4"/><Relationship Id="rId9" Type="http://schemas.openxmlformats.org/officeDocument/2006/relationships/image" Target="../media/image25.png"/><Relationship Id="rId14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1.xml"/><Relationship Id="rId3" Type="http://schemas.openxmlformats.org/officeDocument/2006/relationships/image" Target="../media/image33.png"/><Relationship Id="rId7" Type="http://schemas.openxmlformats.org/officeDocument/2006/relationships/diagramLayout" Target="../diagrams/layout1.xml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1.xml"/><Relationship Id="rId5" Type="http://schemas.openxmlformats.org/officeDocument/2006/relationships/image" Target="../media/image35.png"/><Relationship Id="rId10" Type="http://schemas.microsoft.com/office/2007/relationships/diagramDrawing" Target="../diagrams/drawing1.xml"/><Relationship Id="rId4" Type="http://schemas.openxmlformats.org/officeDocument/2006/relationships/image" Target="../media/image34.png"/><Relationship Id="rId9" Type="http://schemas.openxmlformats.org/officeDocument/2006/relationships/diagramColors" Target="../diagrams/colors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microsoft.com/office/2007/relationships/media" Target="../media/media1.mp4"/><Relationship Id="rId7" Type="http://schemas.openxmlformats.org/officeDocument/2006/relationships/image" Target="../media/image36.png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23.png"/><Relationship Id="rId5" Type="http://schemas.openxmlformats.org/officeDocument/2006/relationships/slideLayout" Target="../slideLayouts/slideLayout2.xml"/><Relationship Id="rId4" Type="http://schemas.openxmlformats.org/officeDocument/2006/relationships/video" Target="../media/media1.mp4"/><Relationship Id="rId9" Type="http://schemas.openxmlformats.org/officeDocument/2006/relationships/image" Target="../media/image3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92099140-EC94-B4F7-8ECB-EBAB196DAD7B}"/>
              </a:ext>
            </a:extLst>
          </p:cNvPr>
          <p:cNvSpPr/>
          <p:nvPr/>
        </p:nvSpPr>
        <p:spPr>
          <a:xfrm>
            <a:off x="0" y="0"/>
            <a:ext cx="8161020" cy="6858000"/>
          </a:xfrm>
          <a:custGeom>
            <a:avLst/>
            <a:gdLst>
              <a:gd name="connsiteX0" fmla="*/ 0 w 7383780"/>
              <a:gd name="connsiteY0" fmla="*/ 0 h 6858000"/>
              <a:gd name="connsiteX1" fmla="*/ 7383780 w 7383780"/>
              <a:gd name="connsiteY1" fmla="*/ 0 h 6858000"/>
              <a:gd name="connsiteX2" fmla="*/ 7383780 w 7383780"/>
              <a:gd name="connsiteY2" fmla="*/ 6858000 h 6858000"/>
              <a:gd name="connsiteX3" fmla="*/ 0 w 7383780"/>
              <a:gd name="connsiteY3" fmla="*/ 6858000 h 6858000"/>
              <a:gd name="connsiteX4" fmla="*/ 0 w 7383780"/>
              <a:gd name="connsiteY4" fmla="*/ 0 h 6858000"/>
              <a:gd name="connsiteX0" fmla="*/ 0 w 7383780"/>
              <a:gd name="connsiteY0" fmla="*/ 0 h 6858000"/>
              <a:gd name="connsiteX1" fmla="*/ 6766560 w 7383780"/>
              <a:gd name="connsiteY1" fmla="*/ 0 h 6858000"/>
              <a:gd name="connsiteX2" fmla="*/ 7383780 w 7383780"/>
              <a:gd name="connsiteY2" fmla="*/ 6858000 h 6858000"/>
              <a:gd name="connsiteX3" fmla="*/ 0 w 7383780"/>
              <a:gd name="connsiteY3" fmla="*/ 6858000 h 6858000"/>
              <a:gd name="connsiteX4" fmla="*/ 0 w 738378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83780" h="6858000">
                <a:moveTo>
                  <a:pt x="0" y="0"/>
                </a:moveTo>
                <a:lnTo>
                  <a:pt x="6766560" y="0"/>
                </a:lnTo>
                <a:lnTo>
                  <a:pt x="738378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2FA365-AA49-0266-130F-0D7E0C7A31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9930" y="1923527"/>
            <a:ext cx="7505699" cy="138927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NIRFAST</a:t>
            </a:r>
            <a:b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Brief history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AB2F2D-4169-D19F-A60A-7B8BBC8542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930" y="3429000"/>
            <a:ext cx="5529052" cy="1099930"/>
          </a:xfrm>
        </p:spPr>
        <p:txBody>
          <a:bodyPr>
            <a:normAutofit/>
          </a:bodyPr>
          <a:lstStyle/>
          <a:p>
            <a:pPr algn="l"/>
            <a:endParaRPr lang="en-US" baseline="30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Jiaming Cao</a:t>
            </a:r>
            <a:r>
              <a:rPr lang="en-US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</a:t>
            </a:r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Hamid Dehghani</a:t>
            </a:r>
            <a:r>
              <a:rPr lang="en-US" baseline="30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BB80DF6-BC59-FB43-7DFB-7AED9551A937}"/>
              </a:ext>
            </a:extLst>
          </p:cNvPr>
          <p:cNvSpPr txBox="1"/>
          <p:nvPr/>
        </p:nvSpPr>
        <p:spPr>
          <a:xfrm>
            <a:off x="239930" y="4425550"/>
            <a:ext cx="714652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Centre for Cognitive and Brain Sciences,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Institute of Artificial Intelligence and Brain Sciences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Macau</a:t>
            </a:r>
          </a:p>
          <a:p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School of Computer Science,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Center of Human Brain Health, </a:t>
            </a:r>
          </a:p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University of Birmingham, UK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42B0C0-E6B8-B5DB-B26F-87F7195B6921}"/>
              </a:ext>
            </a:extLst>
          </p:cNvPr>
          <p:cNvSpPr/>
          <p:nvPr/>
        </p:nvSpPr>
        <p:spPr>
          <a:xfrm>
            <a:off x="0" y="6573078"/>
            <a:ext cx="12192000" cy="284922"/>
          </a:xfrm>
          <a:prstGeom prst="rect">
            <a:avLst/>
          </a:prstGeom>
          <a:solidFill>
            <a:srgbClr val="E3051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7F05123-FDF9-030F-73EA-69CD3C277F7A}"/>
              </a:ext>
            </a:extLst>
          </p:cNvPr>
          <p:cNvSpPr/>
          <p:nvPr/>
        </p:nvSpPr>
        <p:spPr>
          <a:xfrm>
            <a:off x="0" y="0"/>
            <a:ext cx="12192000" cy="284922"/>
          </a:xfrm>
          <a:prstGeom prst="rect">
            <a:avLst/>
          </a:prstGeom>
          <a:solidFill>
            <a:srgbClr val="2581C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1200" dirty="0"/>
          </a:p>
        </p:txBody>
      </p:sp>
      <p:pic>
        <p:nvPicPr>
          <p:cNvPr id="13" name="Picture 12" descr="A logo of a university&#10;&#10;Description automatically generated">
            <a:extLst>
              <a:ext uri="{FF2B5EF4-FFF2-40B4-BE49-F238E27FC236}">
                <a16:creationId xmlns:a16="http://schemas.microsoft.com/office/drawing/2014/main" id="{CB98AD6E-58E8-0DD6-0EC1-22F01F54669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369" y="1945322"/>
            <a:ext cx="3119769" cy="1949856"/>
          </a:xfrm>
          <a:prstGeom prst="rect">
            <a:avLst/>
          </a:prstGeom>
        </p:spPr>
      </p:pic>
      <p:pic>
        <p:nvPicPr>
          <p:cNvPr id="9" name="Picture 8" descr="A logo for a medical imaging lab&#10;&#10;Description automatically generated">
            <a:extLst>
              <a:ext uri="{FF2B5EF4-FFF2-40B4-BE49-F238E27FC236}">
                <a16:creationId xmlns:a16="http://schemas.microsoft.com/office/drawing/2014/main" id="{F533F2AD-21E2-C3E7-3482-BB94F05176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2183" y="3953279"/>
            <a:ext cx="2740143" cy="2567686"/>
          </a:xfrm>
          <a:prstGeom prst="rect">
            <a:avLst/>
          </a:prstGeom>
        </p:spPr>
      </p:pic>
      <p:pic>
        <p:nvPicPr>
          <p:cNvPr id="11" name="Picture 10" descr="File:University of Macau logo.svg - Wikimedia Commons">
            <a:extLst>
              <a:ext uri="{FF2B5EF4-FFF2-40B4-BE49-F238E27FC236}">
                <a16:creationId xmlns:a16="http://schemas.microsoft.com/office/drawing/2014/main" id="{40D5CDF9-C258-2A45-2BB3-10B9F874EF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92376" y="417207"/>
            <a:ext cx="1439753" cy="14397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8479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Beginning: August 2001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71210" y="5110592"/>
            <a:ext cx="6185030" cy="56865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GB" dirty="0"/>
              <a:t>	Do it in Fortran!</a:t>
            </a:r>
            <a:endParaRPr lang="en-US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11337" y="4644295"/>
            <a:ext cx="1014545" cy="14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111336" y="1448780"/>
            <a:ext cx="1001739" cy="14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ounded Rectangular Callout 7"/>
          <p:cNvSpPr/>
          <p:nvPr/>
        </p:nvSpPr>
        <p:spPr>
          <a:xfrm rot="16200000">
            <a:off x="5038385" y="2416545"/>
            <a:ext cx="540059" cy="5895656"/>
          </a:xfrm>
          <a:prstGeom prst="wedgeRoundRect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071208" y="1420181"/>
            <a:ext cx="6185030" cy="151376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3200" dirty="0"/>
              <a:t>	Develop 3D finite element model and imaging algorithms for Breast Imaging system</a:t>
            </a:r>
            <a:endParaRPr lang="en-US" sz="3200" dirty="0"/>
          </a:p>
        </p:txBody>
      </p:sp>
      <p:sp>
        <p:nvSpPr>
          <p:cNvPr id="10" name="Rounded Rectangular Callout 9"/>
          <p:cNvSpPr/>
          <p:nvPr/>
        </p:nvSpPr>
        <p:spPr>
          <a:xfrm rot="16200000">
            <a:off x="4543327" y="-778969"/>
            <a:ext cx="1530170" cy="5895656"/>
          </a:xfrm>
          <a:prstGeom prst="wedgeRoundRect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5" descr="instrument shelf 1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>
          <a:xfrm>
            <a:off x="2450595" y="3069160"/>
            <a:ext cx="1350000" cy="1800000"/>
          </a:xfrm>
          <a:prstGeom prst="rect">
            <a:avLst/>
          </a:prstGeom>
          <a:noFill/>
        </p:spPr>
      </p:pic>
      <p:pic>
        <p:nvPicPr>
          <p:cNvPr id="12" name="Picture 6" descr="P1010003b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>
          <a:xfrm>
            <a:off x="6186010" y="3069160"/>
            <a:ext cx="2400000" cy="1800000"/>
          </a:xfrm>
          <a:prstGeom prst="rect">
            <a:avLst/>
          </a:prstGeom>
          <a:noFill/>
        </p:spPr>
      </p:pic>
      <p:pic>
        <p:nvPicPr>
          <p:cNvPr id="13" name="Picture 4" descr="P1010009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>
          <a:xfrm>
            <a:off x="3800745" y="3069160"/>
            <a:ext cx="2400000" cy="1800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8" grpId="0" animBg="1"/>
      <p:bldP spid="9" grpId="0"/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Beginning: August 2001</a:t>
            </a:r>
            <a:endParaRPr lang="en-US" dirty="0"/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2071208" y="1420181"/>
            <a:ext cx="6185030" cy="11087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342900">
              <a:spcBef>
                <a:spcPct val="20000"/>
              </a:spcBef>
              <a:defRPr/>
            </a:pPr>
            <a:r>
              <a:rPr lang="en-GB" sz="3200" dirty="0"/>
              <a:t>	Can I develop this under MATLAB?</a:t>
            </a:r>
            <a:endParaRPr lang="en-US" sz="3200" dirty="0"/>
          </a:p>
        </p:txBody>
      </p:sp>
      <p:sp>
        <p:nvSpPr>
          <p:cNvPr id="10" name="Rounded Rectangular Callout 9"/>
          <p:cNvSpPr/>
          <p:nvPr/>
        </p:nvSpPr>
        <p:spPr>
          <a:xfrm rot="16200000">
            <a:off x="4790854" y="-981491"/>
            <a:ext cx="1035116" cy="5895656"/>
          </a:xfrm>
          <a:prstGeom prst="wedgeRoundRectCallou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11336" y="1448940"/>
            <a:ext cx="1014545" cy="144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981200" y="2708921"/>
            <a:ext cx="8229600" cy="2295255"/>
          </a:xfrm>
        </p:spPr>
        <p:txBody>
          <a:bodyPr>
            <a:normAutofit lnSpcReduction="10000"/>
          </a:bodyPr>
          <a:lstStyle/>
          <a:p>
            <a:r>
              <a:rPr lang="en-GB" dirty="0"/>
              <a:t>Reasons:</a:t>
            </a:r>
          </a:p>
          <a:p>
            <a:pPr lvl="1"/>
            <a:r>
              <a:rPr lang="en-GB" dirty="0"/>
              <a:t>Platform independent tool</a:t>
            </a:r>
          </a:p>
          <a:p>
            <a:pPr lvl="1"/>
            <a:r>
              <a:rPr lang="en-GB" dirty="0"/>
              <a:t>Well developed and optimized tools</a:t>
            </a:r>
          </a:p>
          <a:p>
            <a:pPr lvl="1"/>
            <a:r>
              <a:rPr lang="en-GB" dirty="0"/>
              <a:t>Easy to write</a:t>
            </a:r>
          </a:p>
          <a:p>
            <a:pPr lvl="2"/>
            <a:r>
              <a:rPr lang="en-GB" dirty="0"/>
              <a:t>Easy to read</a:t>
            </a:r>
          </a:p>
          <a:p>
            <a:pPr lvl="1"/>
            <a:r>
              <a:rPr lang="en-GB" dirty="0"/>
              <a:t>Allowed multi-user development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2006860" y="5049181"/>
            <a:ext cx="8229600" cy="855095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/>
          <a:p>
            <a:pPr marL="342900" indent="-342900">
              <a:spcBef>
                <a:spcPct val="20000"/>
              </a:spcBef>
              <a:buFont typeface="Arial" pitchFamily="34" charset="0"/>
              <a:buChar char="•"/>
              <a:defRPr/>
            </a:pPr>
            <a:r>
              <a:rPr lang="en-GB" sz="3200" dirty="0"/>
              <a:t>The real reason:</a:t>
            </a:r>
          </a:p>
          <a:p>
            <a:pPr marL="742950" lvl="1" indent="-285750">
              <a:spcBef>
                <a:spcPct val="20000"/>
              </a:spcBef>
              <a:buFont typeface="Arial" pitchFamily="34" charset="0"/>
              <a:buChar char="–"/>
              <a:defRPr/>
            </a:pPr>
            <a:r>
              <a:rPr lang="en-GB" sz="2800" dirty="0"/>
              <a:t>I never had used Fortran!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 animBg="1"/>
      <p:bldP spid="6" grpId="0" build="p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"/>
          <p:cNvSpPr>
            <a:spLocks noGrp="1" noChangeArrowheads="1"/>
          </p:cNvSpPr>
          <p:nvPr>
            <p:ph type="title"/>
          </p:nvPr>
        </p:nvSpPr>
        <p:spPr>
          <a:xfrm>
            <a:off x="2209800" y="-223837"/>
            <a:ext cx="7772400" cy="1143000"/>
          </a:xfrm>
        </p:spPr>
        <p:txBody>
          <a:bodyPr/>
          <a:lstStyle/>
          <a:p>
            <a:pPr eaLnBrk="1" hangingPunct="1"/>
            <a:r>
              <a:rPr lang="en-GB"/>
              <a:t>Light Transport Model</a:t>
            </a:r>
          </a:p>
        </p:txBody>
      </p:sp>
      <p:sp>
        <p:nvSpPr>
          <p:cNvPr id="2056" name="Text Box 4"/>
          <p:cNvSpPr txBox="1">
            <a:spLocks noChangeArrowheads="1"/>
          </p:cNvSpPr>
          <p:nvPr/>
        </p:nvSpPr>
        <p:spPr bwMode="auto">
          <a:xfrm>
            <a:off x="1638301" y="643358"/>
            <a:ext cx="8400741" cy="954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92160" tIns="46080" rIns="92160" bIns="46080" anchor="ctr" anchorCtr="1">
            <a:spAutoFit/>
          </a:bodyPr>
          <a:lstStyle/>
          <a:p>
            <a:pPr eaLnBrk="0" hangingPunct="0">
              <a:buSzPct val="99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800"/>
              <a:t>Light transport in tissue is turbid (scatter-dominated),</a:t>
            </a:r>
          </a:p>
          <a:p>
            <a:pPr eaLnBrk="0" hangingPunct="0">
              <a:buSzPct val="99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800"/>
              <a:t>modelled by </a:t>
            </a:r>
            <a:r>
              <a:rPr lang="en-GB" sz="2800" i="1"/>
              <a:t>diffusion equation</a:t>
            </a:r>
            <a:r>
              <a:rPr lang="en-GB" sz="2800"/>
              <a:t>:</a:t>
            </a:r>
          </a:p>
        </p:txBody>
      </p:sp>
      <p:grpSp>
        <p:nvGrpSpPr>
          <p:cNvPr id="2" name="Group 5"/>
          <p:cNvGrpSpPr>
            <a:grpSpLocks/>
          </p:cNvGrpSpPr>
          <p:nvPr/>
        </p:nvGrpSpPr>
        <p:grpSpPr bwMode="auto">
          <a:xfrm>
            <a:off x="1905000" y="1827213"/>
            <a:ext cx="1524000" cy="1744662"/>
            <a:chOff x="240" y="1601"/>
            <a:chExt cx="960" cy="1099"/>
          </a:xfrm>
        </p:grpSpPr>
        <p:graphicFrame>
          <p:nvGraphicFramePr>
            <p:cNvPr id="2054" name="Object 6"/>
            <p:cNvGraphicFramePr>
              <a:graphicFrameLocks noChangeAspect="1"/>
            </p:cNvGraphicFramePr>
            <p:nvPr/>
          </p:nvGraphicFramePr>
          <p:xfrm>
            <a:off x="240" y="1601"/>
            <a:ext cx="960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672840" imgH="393480" progId="Equation.3">
                    <p:embed/>
                  </p:oleObj>
                </mc:Choice>
                <mc:Fallback>
                  <p:oleObj name="Equation" r:id="rId2" imgW="672840" imgH="393480" progId="Equation.3">
                    <p:embed/>
                    <p:pic>
                      <p:nvPicPr>
                        <p:cNvPr id="2054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0" y="1601"/>
                          <a:ext cx="960" cy="5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A5002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A5002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3" name="Group 7"/>
            <p:cNvGrpSpPr>
              <a:grpSpLocks/>
            </p:cNvGrpSpPr>
            <p:nvPr/>
          </p:nvGrpSpPr>
          <p:grpSpPr bwMode="auto">
            <a:xfrm>
              <a:off x="240" y="2160"/>
              <a:ext cx="864" cy="96"/>
              <a:chOff x="2720" y="1935"/>
              <a:chExt cx="852" cy="95"/>
            </a:xfrm>
          </p:grpSpPr>
          <p:sp>
            <p:nvSpPr>
              <p:cNvPr id="2082" name="Line 8"/>
              <p:cNvSpPr>
                <a:spLocks noChangeShapeType="1"/>
              </p:cNvSpPr>
              <p:nvPr/>
            </p:nvSpPr>
            <p:spPr bwMode="auto">
              <a:xfrm>
                <a:off x="2720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3" name="Line 9"/>
              <p:cNvSpPr>
                <a:spLocks noChangeShapeType="1"/>
              </p:cNvSpPr>
              <p:nvPr/>
            </p:nvSpPr>
            <p:spPr bwMode="auto">
              <a:xfrm>
                <a:off x="2720" y="2031"/>
                <a:ext cx="853" cy="0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4" name="Line 10"/>
              <p:cNvSpPr>
                <a:spLocks noChangeShapeType="1"/>
              </p:cNvSpPr>
              <p:nvPr/>
            </p:nvSpPr>
            <p:spPr bwMode="auto">
              <a:xfrm flipV="1">
                <a:off x="3573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81" name="Text Box 11"/>
            <p:cNvSpPr txBox="1">
              <a:spLocks noChangeArrowheads="1"/>
            </p:cNvSpPr>
            <p:nvPr/>
          </p:nvSpPr>
          <p:spPr bwMode="auto">
            <a:xfrm>
              <a:off x="243" y="2254"/>
              <a:ext cx="849" cy="4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160" tIns="46080" rIns="92160" bIns="46080" anchor="ctr" anchorCtr="1">
              <a:spAutoFit/>
            </a:bodyPr>
            <a:lstStyle/>
            <a:p>
              <a:pPr algn="ctr" eaLnBrk="0" hangingPunct="0">
                <a:buSzPct val="99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/>
                <a:t>Frequency</a:t>
              </a:r>
            </a:p>
            <a:p>
              <a:pPr algn="ctr" eaLnBrk="0" hangingPunct="0">
                <a:buSzPct val="99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/>
                <a:t>variation</a:t>
              </a: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3352800" y="2047876"/>
            <a:ext cx="3124200" cy="1235076"/>
            <a:chOff x="1152" y="1729"/>
            <a:chExt cx="1968" cy="778"/>
          </a:xfrm>
        </p:grpSpPr>
        <p:graphicFrame>
          <p:nvGraphicFramePr>
            <p:cNvPr id="2053" name="Object 13"/>
            <p:cNvGraphicFramePr>
              <a:graphicFrameLocks noChangeAspect="1"/>
            </p:cNvGraphicFramePr>
            <p:nvPr/>
          </p:nvGraphicFramePr>
          <p:xfrm>
            <a:off x="1152" y="1729"/>
            <a:ext cx="1968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180800" imgH="203040" progId="Equation.3">
                    <p:embed/>
                  </p:oleObj>
                </mc:Choice>
                <mc:Fallback>
                  <p:oleObj name="Equation" r:id="rId4" imgW="1180800" imgH="203040" progId="Equation.3">
                    <p:embed/>
                    <p:pic>
                      <p:nvPicPr>
                        <p:cNvPr id="2053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152" y="1729"/>
                          <a:ext cx="1968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5" name="Group 14"/>
            <p:cNvGrpSpPr>
              <a:grpSpLocks/>
            </p:cNvGrpSpPr>
            <p:nvPr/>
          </p:nvGrpSpPr>
          <p:grpSpPr bwMode="auto">
            <a:xfrm>
              <a:off x="1344" y="2160"/>
              <a:ext cx="1728" cy="96"/>
              <a:chOff x="2720" y="1935"/>
              <a:chExt cx="852" cy="95"/>
            </a:xfrm>
          </p:grpSpPr>
          <p:sp>
            <p:nvSpPr>
              <p:cNvPr id="2077" name="Line 15"/>
              <p:cNvSpPr>
                <a:spLocks noChangeShapeType="1"/>
              </p:cNvSpPr>
              <p:nvPr/>
            </p:nvSpPr>
            <p:spPr bwMode="auto">
              <a:xfrm>
                <a:off x="2720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8" name="Line 16"/>
              <p:cNvSpPr>
                <a:spLocks noChangeShapeType="1"/>
              </p:cNvSpPr>
              <p:nvPr/>
            </p:nvSpPr>
            <p:spPr bwMode="auto">
              <a:xfrm>
                <a:off x="2720" y="2031"/>
                <a:ext cx="853" cy="0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9" name="Line 17"/>
              <p:cNvSpPr>
                <a:spLocks noChangeShapeType="1"/>
              </p:cNvSpPr>
              <p:nvPr/>
            </p:nvSpPr>
            <p:spPr bwMode="auto">
              <a:xfrm flipV="1">
                <a:off x="3573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76" name="Text Box 18"/>
            <p:cNvSpPr txBox="1">
              <a:spLocks noChangeArrowheads="1"/>
            </p:cNvSpPr>
            <p:nvPr/>
          </p:nvSpPr>
          <p:spPr bwMode="auto">
            <a:xfrm>
              <a:off x="1812" y="2255"/>
              <a:ext cx="728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160" tIns="46080" rIns="92160" bIns="46080" anchor="ctr" anchorCtr="1">
              <a:spAutoFit/>
            </a:bodyPr>
            <a:lstStyle/>
            <a:p>
              <a:pPr eaLnBrk="0" hangingPunct="0">
                <a:buSzPct val="99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/>
                <a:t>diffusion</a:t>
              </a:r>
            </a:p>
          </p:txBody>
        </p:sp>
      </p:grpSp>
      <p:grpSp>
        <p:nvGrpSpPr>
          <p:cNvPr id="6" name="Group 19"/>
          <p:cNvGrpSpPr>
            <a:grpSpLocks/>
          </p:cNvGrpSpPr>
          <p:nvPr/>
        </p:nvGrpSpPr>
        <p:grpSpPr bwMode="auto">
          <a:xfrm>
            <a:off x="6477000" y="2046287"/>
            <a:ext cx="2438400" cy="1209674"/>
            <a:chOff x="3120" y="1745"/>
            <a:chExt cx="1536" cy="762"/>
          </a:xfrm>
        </p:grpSpPr>
        <p:graphicFrame>
          <p:nvGraphicFramePr>
            <p:cNvPr id="2052" name="Object 20"/>
            <p:cNvGraphicFramePr>
              <a:graphicFrameLocks noChangeAspect="1"/>
            </p:cNvGraphicFramePr>
            <p:nvPr/>
          </p:nvGraphicFramePr>
          <p:xfrm>
            <a:off x="3120" y="1745"/>
            <a:ext cx="1536" cy="3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952200" imgH="228600" progId="Equation.3">
                    <p:embed/>
                  </p:oleObj>
                </mc:Choice>
                <mc:Fallback>
                  <p:oleObj name="Equation" r:id="rId6" imgW="952200" imgH="228600" progId="Equation.3">
                    <p:embed/>
                    <p:pic>
                      <p:nvPicPr>
                        <p:cNvPr id="2052" name="Object 2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0" y="1745"/>
                          <a:ext cx="1536" cy="36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7" name="Group 21"/>
            <p:cNvGrpSpPr>
              <a:grpSpLocks/>
            </p:cNvGrpSpPr>
            <p:nvPr/>
          </p:nvGrpSpPr>
          <p:grpSpPr bwMode="auto">
            <a:xfrm>
              <a:off x="3312" y="2160"/>
              <a:ext cx="1296" cy="95"/>
              <a:chOff x="2720" y="1935"/>
              <a:chExt cx="852" cy="95"/>
            </a:xfrm>
          </p:grpSpPr>
          <p:sp>
            <p:nvSpPr>
              <p:cNvPr id="2072" name="Line 22"/>
              <p:cNvSpPr>
                <a:spLocks noChangeShapeType="1"/>
              </p:cNvSpPr>
              <p:nvPr/>
            </p:nvSpPr>
            <p:spPr bwMode="auto">
              <a:xfrm>
                <a:off x="2720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3" name="Line 23"/>
              <p:cNvSpPr>
                <a:spLocks noChangeShapeType="1"/>
              </p:cNvSpPr>
              <p:nvPr/>
            </p:nvSpPr>
            <p:spPr bwMode="auto">
              <a:xfrm>
                <a:off x="2720" y="2031"/>
                <a:ext cx="853" cy="0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4" name="Line 24"/>
              <p:cNvSpPr>
                <a:spLocks noChangeShapeType="1"/>
              </p:cNvSpPr>
              <p:nvPr/>
            </p:nvSpPr>
            <p:spPr bwMode="auto">
              <a:xfrm flipV="1">
                <a:off x="3573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71" name="Text Box 25"/>
            <p:cNvSpPr txBox="1">
              <a:spLocks noChangeArrowheads="1"/>
            </p:cNvSpPr>
            <p:nvPr/>
          </p:nvSpPr>
          <p:spPr bwMode="auto">
            <a:xfrm>
              <a:off x="3462" y="2255"/>
              <a:ext cx="876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160" tIns="46080" rIns="92160" bIns="46080" anchor="ctr" anchorCtr="1">
              <a:spAutoFit/>
            </a:bodyPr>
            <a:lstStyle/>
            <a:p>
              <a:pPr eaLnBrk="0" hangingPunct="0">
                <a:buSzPct val="99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/>
                <a:t>absorption</a:t>
              </a:r>
            </a:p>
          </p:txBody>
        </p:sp>
      </p:grpSp>
      <p:grpSp>
        <p:nvGrpSpPr>
          <p:cNvPr id="8" name="Group 26"/>
          <p:cNvGrpSpPr>
            <a:grpSpLocks/>
          </p:cNvGrpSpPr>
          <p:nvPr/>
        </p:nvGrpSpPr>
        <p:grpSpPr bwMode="auto">
          <a:xfrm>
            <a:off x="8915400" y="2093913"/>
            <a:ext cx="1524000" cy="1162049"/>
            <a:chOff x="4656" y="1775"/>
            <a:chExt cx="960" cy="732"/>
          </a:xfrm>
        </p:grpSpPr>
        <p:graphicFrame>
          <p:nvGraphicFramePr>
            <p:cNvPr id="2051" name="Object 27"/>
            <p:cNvGraphicFramePr>
              <a:graphicFrameLocks noChangeAspect="1"/>
            </p:cNvGraphicFramePr>
            <p:nvPr/>
          </p:nvGraphicFramePr>
          <p:xfrm>
            <a:off x="4656" y="1775"/>
            <a:ext cx="960" cy="3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647640" imgH="228600" progId="Equation.3">
                    <p:embed/>
                  </p:oleObj>
                </mc:Choice>
                <mc:Fallback>
                  <p:oleObj name="Equation" r:id="rId8" imgW="647640" imgH="228600" progId="Equation.3">
                    <p:embed/>
                    <p:pic>
                      <p:nvPicPr>
                        <p:cNvPr id="2051" name="Object 2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1775"/>
                          <a:ext cx="960" cy="3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CC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FFFFCC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" name="Group 28"/>
            <p:cNvGrpSpPr>
              <a:grpSpLocks/>
            </p:cNvGrpSpPr>
            <p:nvPr/>
          </p:nvGrpSpPr>
          <p:grpSpPr bwMode="auto">
            <a:xfrm>
              <a:off x="4848" y="2160"/>
              <a:ext cx="768" cy="95"/>
              <a:chOff x="2720" y="1935"/>
              <a:chExt cx="852" cy="95"/>
            </a:xfrm>
          </p:grpSpPr>
          <p:sp>
            <p:nvSpPr>
              <p:cNvPr id="2067" name="Line 29"/>
              <p:cNvSpPr>
                <a:spLocks noChangeShapeType="1"/>
              </p:cNvSpPr>
              <p:nvPr/>
            </p:nvSpPr>
            <p:spPr bwMode="auto">
              <a:xfrm>
                <a:off x="2720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8" name="Line 30"/>
              <p:cNvSpPr>
                <a:spLocks noChangeShapeType="1"/>
              </p:cNvSpPr>
              <p:nvPr/>
            </p:nvSpPr>
            <p:spPr bwMode="auto">
              <a:xfrm>
                <a:off x="2720" y="2031"/>
                <a:ext cx="853" cy="0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9" name="Line 31"/>
              <p:cNvSpPr>
                <a:spLocks noChangeShapeType="1"/>
              </p:cNvSpPr>
              <p:nvPr/>
            </p:nvSpPr>
            <p:spPr bwMode="auto">
              <a:xfrm flipV="1">
                <a:off x="3573" y="1935"/>
                <a:ext cx="0" cy="96"/>
              </a:xfrm>
              <a:prstGeom prst="line">
                <a:avLst/>
              </a:prstGeom>
              <a:noFill/>
              <a:ln w="9398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066" name="Text Box 32"/>
            <p:cNvSpPr txBox="1">
              <a:spLocks noChangeArrowheads="1"/>
            </p:cNvSpPr>
            <p:nvPr/>
          </p:nvSpPr>
          <p:spPr bwMode="auto">
            <a:xfrm>
              <a:off x="4924" y="2255"/>
              <a:ext cx="597" cy="2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160" tIns="46080" rIns="92160" bIns="46080" anchor="ctr" anchorCtr="1">
              <a:spAutoFit/>
            </a:bodyPr>
            <a:lstStyle/>
            <a:p>
              <a:pPr eaLnBrk="0" hangingPunct="0">
                <a:buSzPct val="99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000"/>
                <a:t>source</a:t>
              </a:r>
            </a:p>
          </p:txBody>
        </p:sp>
      </p:grpSp>
      <p:sp>
        <p:nvSpPr>
          <p:cNvPr id="17441" name="Text Box 33"/>
          <p:cNvSpPr txBox="1">
            <a:spLocks noChangeArrowheads="1"/>
          </p:cNvSpPr>
          <p:nvPr/>
        </p:nvSpPr>
        <p:spPr bwMode="auto">
          <a:xfrm>
            <a:off x="1905000" y="3740150"/>
            <a:ext cx="8763000" cy="1373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160" tIns="46080" rIns="92160" bIns="46080">
            <a:spAutoFit/>
          </a:bodyPr>
          <a:lstStyle/>
          <a:p>
            <a:pPr eaLnBrk="0" hangingPunct="0">
              <a:buSzPct val="99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GB" sz="2800"/>
              <a:t>Field </a:t>
            </a:r>
            <a:r>
              <a:rPr lang="el-GR" sz="2800"/>
              <a:t>Φ</a:t>
            </a:r>
            <a:r>
              <a:rPr lang="en-GB" sz="2800"/>
              <a:t>: photon density</a:t>
            </a:r>
          </a:p>
          <a:p>
            <a:pPr eaLnBrk="0" hangingPunct="0">
              <a:buSzPct val="99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l-GR" sz="2800"/>
              <a:t>μ</a:t>
            </a:r>
            <a:r>
              <a:rPr lang="en-GB" sz="2800" baseline="-25000"/>
              <a:t>a</a:t>
            </a:r>
            <a:r>
              <a:rPr lang="en-GB" sz="2800"/>
              <a:t> = Absorption Coefficient</a:t>
            </a:r>
          </a:p>
          <a:p>
            <a:pPr eaLnBrk="0" hangingPunct="0">
              <a:buSzPct val="99000"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l-GR" sz="2800" i="1"/>
              <a:t>κ</a:t>
            </a:r>
            <a:r>
              <a:rPr lang="en-US" sz="2800" i="1"/>
              <a:t> </a:t>
            </a:r>
            <a:r>
              <a:rPr lang="en-GB" sz="2800"/>
              <a:t>= 1/3(</a:t>
            </a:r>
            <a:r>
              <a:rPr lang="el-GR" sz="2800"/>
              <a:t>μ</a:t>
            </a:r>
            <a:r>
              <a:rPr lang="en-GB" sz="2800" baseline="-25000"/>
              <a:t>a</a:t>
            </a:r>
            <a:r>
              <a:rPr lang="en-GB" sz="2800"/>
              <a:t>+ </a:t>
            </a:r>
            <a:r>
              <a:rPr lang="el-GR" sz="2800"/>
              <a:t>μ</a:t>
            </a:r>
            <a:r>
              <a:rPr lang="en-GB" sz="2800" baseline="-25000"/>
              <a:t>s</a:t>
            </a:r>
            <a:r>
              <a:rPr lang="en-GB" sz="2800"/>
              <a:t>`)</a:t>
            </a:r>
          </a:p>
        </p:txBody>
      </p:sp>
      <p:grpSp>
        <p:nvGrpSpPr>
          <p:cNvPr id="10" name="Group 34"/>
          <p:cNvGrpSpPr>
            <a:grpSpLocks/>
          </p:cNvGrpSpPr>
          <p:nvPr/>
        </p:nvGrpSpPr>
        <p:grpSpPr bwMode="auto">
          <a:xfrm>
            <a:off x="1873251" y="5149851"/>
            <a:ext cx="7318375" cy="525463"/>
            <a:chOff x="208" y="3694"/>
            <a:chExt cx="4610" cy="331"/>
          </a:xfrm>
        </p:grpSpPr>
        <p:sp>
          <p:nvSpPr>
            <p:cNvPr id="2064" name="Text Box 35"/>
            <p:cNvSpPr txBox="1">
              <a:spLocks noChangeArrowheads="1"/>
            </p:cNvSpPr>
            <p:nvPr/>
          </p:nvSpPr>
          <p:spPr bwMode="auto">
            <a:xfrm>
              <a:off x="208" y="3694"/>
              <a:ext cx="2094" cy="33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 lIns="92160" tIns="46080" rIns="92160" bIns="46080" anchor="ctr" anchorCtr="1">
              <a:spAutoFit/>
            </a:bodyPr>
            <a:lstStyle/>
            <a:p>
              <a:pPr eaLnBrk="0" hangingPunct="0">
                <a:buSzPct val="99000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</a:pPr>
              <a:r>
                <a:rPr lang="en-GB" sz="2800"/>
                <a:t>Boundary condition:</a:t>
              </a:r>
            </a:p>
          </p:txBody>
        </p:sp>
        <p:graphicFrame>
          <p:nvGraphicFramePr>
            <p:cNvPr id="2050" name="Object 36"/>
            <p:cNvGraphicFramePr>
              <a:graphicFrameLocks noChangeAspect="1"/>
            </p:cNvGraphicFramePr>
            <p:nvPr/>
          </p:nvGraphicFramePr>
          <p:xfrm>
            <a:off x="2498" y="3750"/>
            <a:ext cx="2320" cy="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1701720" imgH="203040" progId="Equation.3">
                    <p:embed/>
                  </p:oleObj>
                </mc:Choice>
                <mc:Fallback>
                  <p:oleObj name="Equation" r:id="rId10" imgW="1701720" imgH="203040" progId="Equation.3">
                    <p:embed/>
                    <p:pic>
                      <p:nvPicPr>
                        <p:cNvPr id="2050" name="Object 3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498" y="3750"/>
                          <a:ext cx="2320" cy="2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63" name="Rectangle 37"/>
          <p:cNvSpPr>
            <a:spLocks noChangeArrowheads="1"/>
          </p:cNvSpPr>
          <p:nvPr/>
        </p:nvSpPr>
        <p:spPr bwMode="auto">
          <a:xfrm>
            <a:off x="1592263" y="5815014"/>
            <a:ext cx="2547492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i="1" dirty="0"/>
              <a:t>Dehghani et al, Applied Optics 2003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4B66D4A9-040E-B145-9D7B-86FDB1ECA5DB}"/>
              </a:ext>
            </a:extLst>
          </p:cNvPr>
          <p:cNvSpPr txBox="1">
            <a:spLocks noChangeArrowheads="1"/>
          </p:cNvSpPr>
          <p:nvPr/>
        </p:nvSpPr>
        <p:spPr>
          <a:xfrm>
            <a:off x="1981200" y="419100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en-GB" sz="4400">
                <a:latin typeface="+mj-lt"/>
                <a:ea typeface="+mj-ea"/>
                <a:cs typeface="+mj-cs"/>
              </a:rPr>
              <a:t>Image Reconstruction</a:t>
            </a:r>
            <a:endParaRPr lang="en-GB" sz="4400" dirty="0">
              <a:latin typeface="+mj-lt"/>
              <a:ea typeface="+mj-ea"/>
              <a:cs typeface="+mj-cs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C9B76B3-405D-A222-2F7A-329BF1978EC5}"/>
              </a:ext>
            </a:extLst>
          </p:cNvPr>
          <p:cNvGrpSpPr/>
          <p:nvPr/>
        </p:nvGrpSpPr>
        <p:grpSpPr>
          <a:xfrm>
            <a:off x="5555941" y="1853825"/>
            <a:ext cx="4905544" cy="2880320"/>
            <a:chOff x="704850" y="2673350"/>
            <a:chExt cx="7645400" cy="3600000"/>
          </a:xfrm>
        </p:grpSpPr>
        <p:pic>
          <p:nvPicPr>
            <p:cNvPr id="7" name="Picture 2">
              <a:extLst>
                <a:ext uri="{FF2B5EF4-FFF2-40B4-BE49-F238E27FC236}">
                  <a16:creationId xmlns:a16="http://schemas.microsoft.com/office/drawing/2014/main" id="{D44283B9-FBF6-C5AB-AB53-38F4362BDE4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 cstate="print"/>
            <a:srcRect/>
            <a:stretch>
              <a:fillRect/>
            </a:stretch>
          </p:blipFill>
          <p:spPr bwMode="auto">
            <a:xfrm>
              <a:off x="704850" y="2673350"/>
              <a:ext cx="1873585" cy="360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8" name="Picture 3">
              <a:extLst>
                <a:ext uri="{FF2B5EF4-FFF2-40B4-BE49-F238E27FC236}">
                  <a16:creationId xmlns:a16="http://schemas.microsoft.com/office/drawing/2014/main" id="{CF8B2DF8-4154-92F1-F031-83B0E7DAEBE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646133" y="2673350"/>
              <a:ext cx="1836967" cy="360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9" name="Picture 4">
              <a:extLst>
                <a:ext uri="{FF2B5EF4-FFF2-40B4-BE49-F238E27FC236}">
                  <a16:creationId xmlns:a16="http://schemas.microsoft.com/office/drawing/2014/main" id="{52160EDB-7440-6E8B-C1B4-1A9B1C91A5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4574482" y="2673350"/>
              <a:ext cx="1819968" cy="360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0" name="Picture 5">
              <a:extLst>
                <a:ext uri="{FF2B5EF4-FFF2-40B4-BE49-F238E27FC236}">
                  <a16:creationId xmlns:a16="http://schemas.microsoft.com/office/drawing/2014/main" id="{3B08173B-F2C9-2BA6-CDEE-43F054E5DFA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/>
            <a:srcRect/>
            <a:stretch>
              <a:fillRect/>
            </a:stretch>
          </p:blipFill>
          <p:spPr bwMode="auto">
            <a:xfrm>
              <a:off x="6524576" y="2673350"/>
              <a:ext cx="1825674" cy="3600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8B58D8-2F55-681F-E393-D598910AC506}"/>
                  </a:ext>
                </a:extLst>
              </p:cNvPr>
              <p:cNvSpPr txBox="1"/>
              <p:nvPr/>
            </p:nvSpPr>
            <p:spPr>
              <a:xfrm>
                <a:off x="762000" y="4441757"/>
                <a:ext cx="3733800" cy="156966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𝐽</m:t>
                    </m:r>
                    <m:r>
                      <a:rPr lang="en-GB" sz="32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𝜕𝜇</m:t>
                    </m:r>
                  </m:oMath>
                </a14:m>
                <a:r>
                  <a:rPr lang="en-GB" sz="3200" dirty="0"/>
                  <a:t> =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GB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endParaRPr lang="en-GB" sz="3200" b="0" dirty="0">
                  <a:ea typeface="Cambria Math" panose="02040503050406030204" pitchFamily="18" charset="0"/>
                </a:endParaRPr>
              </a:p>
              <a:p>
                <a:pPr algn="ctr"/>
                <a:endParaRPr lang="en-GB" sz="3200" b="0" dirty="0">
                  <a:ea typeface="Cambria Math" panose="020405030504060302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p>
                      <m:sSupPr>
                        <m:ctrlP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GB" sz="32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𝐽</m:t>
                        </m:r>
                      </m:e>
                      <m:sup>
                        <m:r>
                          <a:rPr lang="en-GB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</m:t>
                    </m:r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GB" sz="3200" dirty="0"/>
                  <a:t> = </a:t>
                </a:r>
                <a14:m>
                  <m:oMath xmlns:m="http://schemas.openxmlformats.org/officeDocument/2006/math">
                    <m:r>
                      <a:rPr lang="en-GB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𝜕𝜇</m:t>
                    </m:r>
                  </m:oMath>
                </a14:m>
                <a:endParaRPr lang="en-GB" sz="3200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88B58D8-2F55-681F-E393-D598910AC5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441757"/>
                <a:ext cx="3733800" cy="1569660"/>
              </a:xfrm>
              <a:prstGeom prst="rect">
                <a:avLst/>
              </a:prstGeom>
              <a:blipFill>
                <a:blip r:embed="rId6"/>
                <a:stretch>
                  <a:fillRect t="-4800"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Box 11">
            <a:extLst>
              <a:ext uri="{FF2B5EF4-FFF2-40B4-BE49-F238E27FC236}">
                <a16:creationId xmlns:a16="http://schemas.microsoft.com/office/drawing/2014/main" id="{C15AE511-6418-5B25-C7E8-4C5EB2734465}"/>
              </a:ext>
            </a:extLst>
          </p:cNvPr>
          <p:cNvSpPr txBox="1"/>
          <p:nvPr/>
        </p:nvSpPr>
        <p:spPr>
          <a:xfrm>
            <a:off x="526368" y="1530421"/>
            <a:ext cx="48641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The Jacobian (Weigh Matrix, A Matrix, Sensitivity matrix):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Relates a small change in optical properties to a change in measured data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Calculated using the adjoint method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A7129C-0293-339B-2F50-68AAE427F204}"/>
              </a:ext>
            </a:extLst>
          </p:cNvPr>
          <p:cNvSpPr txBox="1"/>
          <p:nvPr/>
        </p:nvSpPr>
        <p:spPr>
          <a:xfrm>
            <a:off x="6606478" y="5233474"/>
            <a:ext cx="297049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More on this later!</a:t>
            </a:r>
          </a:p>
        </p:txBody>
      </p:sp>
    </p:spTree>
    <p:extLst>
      <p:ext uri="{BB962C8B-B14F-4D97-AF65-F5344CB8AC3E}">
        <p14:creationId xmlns:p14="http://schemas.microsoft.com/office/powerpoint/2010/main" val="40806233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57581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Prior information in Near-Infrared Spectroscopy and Imaging process</a:t>
            </a: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4200" y="1786925"/>
            <a:ext cx="5943600" cy="483743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C84AF92-82E0-2703-E5D4-A6461CAD3BC3}"/>
              </a:ext>
            </a:extLst>
          </p:cNvPr>
          <p:cNvSpPr txBox="1"/>
          <p:nvPr/>
        </p:nvSpPr>
        <p:spPr>
          <a:xfrm>
            <a:off x="7806190" y="6581002"/>
            <a:ext cx="29678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>
                <a:latin typeface="Helvetica" pitchFamily="2" charset="0"/>
              </a:rPr>
              <a:t>Pogue et al, Phil. Trans. R. Soc. A (2011)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11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4835860" y="4640457"/>
            <a:ext cx="2895600" cy="189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890" name="Title 1"/>
          <p:cNvSpPr>
            <a:spLocks noGrp="1"/>
          </p:cNvSpPr>
          <p:nvPr>
            <p:ph type="title"/>
          </p:nvPr>
        </p:nvSpPr>
        <p:spPr>
          <a:xfrm>
            <a:off x="2209800" y="8620"/>
            <a:ext cx="7772400" cy="1143000"/>
          </a:xfrm>
        </p:spPr>
        <p:txBody>
          <a:bodyPr/>
          <a:lstStyle/>
          <a:p>
            <a:r>
              <a:rPr lang="en-US" sz="3200" dirty="0"/>
              <a:t>Optical functional brain imaging</a:t>
            </a:r>
          </a:p>
        </p:txBody>
      </p:sp>
      <p:pic>
        <p:nvPicPr>
          <p:cNvPr id="14" name="Picture 23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239000" y="14722"/>
            <a:ext cx="4953000" cy="36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2"/>
          <p:cNvSpPr/>
          <p:nvPr/>
        </p:nvSpPr>
        <p:spPr>
          <a:xfrm>
            <a:off x="1684675" y="3023955"/>
            <a:ext cx="8686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dirty="0">
                <a:latin typeface="ArialMT"/>
              </a:rPr>
              <a:t>Diffuse optical imaging (DOI) has many unique advantages: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>
                <a:latin typeface="ArialMT"/>
              </a:rPr>
              <a:t> Portable equipment 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>
                <a:latin typeface="ArialMT"/>
              </a:rPr>
              <a:t> Wearable imaging cap</a:t>
            </a:r>
          </a:p>
          <a:p>
            <a:pPr lvl="1">
              <a:buFont typeface="Arial" pitchFamily="34" charset="0"/>
              <a:buChar char="•"/>
            </a:pPr>
            <a:r>
              <a:rPr lang="en-US" sz="2000" dirty="0">
                <a:latin typeface="ArialMT"/>
              </a:rPr>
              <a:t> Non-invasive  </a:t>
            </a:r>
          </a:p>
          <a:p>
            <a:pPr lvl="1"/>
            <a:endParaRPr lang="en-US" sz="1600" dirty="0">
              <a:latin typeface="ArialMT"/>
            </a:endParaRPr>
          </a:p>
        </p:txBody>
      </p:sp>
      <p:pic>
        <p:nvPicPr>
          <p:cNvPr id="18" name="Picture 8" descr="ORLprimer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1775520" y="1313765"/>
            <a:ext cx="2166400" cy="1710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9" name="Picture 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160786" y="1313765"/>
            <a:ext cx="2124121" cy="1710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" name="Picture 2" descr="optodes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6456041" y="1313765"/>
            <a:ext cx="4026233" cy="17101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1" name="Text Box 13"/>
          <p:cNvSpPr txBox="1">
            <a:spLocks noChangeArrowheads="1"/>
          </p:cNvSpPr>
          <p:nvPr/>
        </p:nvSpPr>
        <p:spPr bwMode="auto">
          <a:xfrm>
            <a:off x="8381384" y="4021138"/>
            <a:ext cx="2122487" cy="366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Coronal Projection</a:t>
            </a:r>
            <a:endParaRPr lang="en-US" sz="1600" dirty="0"/>
          </a:p>
        </p:txBody>
      </p:sp>
      <p:sp>
        <p:nvSpPr>
          <p:cNvPr id="12" name="Text Box 12"/>
          <p:cNvSpPr txBox="1">
            <a:spLocks noChangeArrowheads="1"/>
          </p:cNvSpPr>
          <p:nvPr/>
        </p:nvSpPr>
        <p:spPr bwMode="auto">
          <a:xfrm>
            <a:off x="5765775" y="4181671"/>
            <a:ext cx="12954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dirty="0"/>
              <a:t>Axial Slice</a:t>
            </a:r>
          </a:p>
        </p:txBody>
      </p:sp>
      <p:pic>
        <p:nvPicPr>
          <p:cNvPr id="20" name="Picture 25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135560" y="4599131"/>
            <a:ext cx="1898650" cy="1893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27" descr="Projection"/>
          <p:cNvPicPr>
            <a:picLocks noChangeAspect="1" noChangeArrowheads="1"/>
          </p:cNvPicPr>
          <p:nvPr/>
        </p:nvPicPr>
        <p:blipFill>
          <a:blip r:embed="rId12" cstate="print"/>
          <a:srcRect l="21335" t="65065" r="37904" b="8044"/>
          <a:stretch>
            <a:fillRect/>
          </a:stretch>
        </p:blipFill>
        <p:spPr bwMode="auto">
          <a:xfrm>
            <a:off x="4835860" y="4627759"/>
            <a:ext cx="2889250" cy="1906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22" name="Group 16"/>
          <p:cNvGrpSpPr>
            <a:grpSpLocks/>
          </p:cNvGrpSpPr>
          <p:nvPr/>
        </p:nvGrpSpPr>
        <p:grpSpPr bwMode="auto">
          <a:xfrm>
            <a:off x="8228983" y="4414838"/>
            <a:ext cx="2322512" cy="2316162"/>
            <a:chOff x="3115" y="2781"/>
            <a:chExt cx="1463" cy="1459"/>
          </a:xfrm>
        </p:grpSpPr>
        <p:pic>
          <p:nvPicPr>
            <p:cNvPr id="23" name="Picture 25"/>
            <p:cNvPicPr>
              <a:picLocks noChangeAspect="1" noChangeArrowheads="1"/>
            </p:cNvPicPr>
            <p:nvPr/>
          </p:nvPicPr>
          <p:blipFill>
            <a:blip r:embed="rId11" cstate="print"/>
            <a:srcRect/>
            <a:stretch>
              <a:fillRect/>
            </a:stretch>
          </p:blipFill>
          <p:spPr bwMode="auto">
            <a:xfrm>
              <a:off x="3115" y="2781"/>
              <a:ext cx="1463" cy="145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pic>
          <p:nvPicPr>
            <p:cNvPr id="24" name="Picture 30"/>
            <p:cNvPicPr>
              <a:picLocks noChangeAspect="1" noChangeArrowheads="1"/>
            </p:cNvPicPr>
            <p:nvPr/>
          </p:nvPicPr>
          <p:blipFill>
            <a:blip r:embed="rId13" cstate="print"/>
            <a:srcRect l="27223" t="32539" r="27902" b="39960"/>
            <a:stretch>
              <a:fillRect/>
            </a:stretch>
          </p:blipFill>
          <p:spPr bwMode="auto">
            <a:xfrm>
              <a:off x="3513" y="3255"/>
              <a:ext cx="661" cy="4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25" name="Text Box 6"/>
          <p:cNvSpPr txBox="1">
            <a:spLocks noChangeArrowheads="1"/>
          </p:cNvSpPr>
          <p:nvPr/>
        </p:nvSpPr>
        <p:spPr bwMode="auto">
          <a:xfrm>
            <a:off x="39978" y="5654774"/>
            <a:ext cx="1843646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1400" dirty="0" err="1"/>
              <a:t>Zeff</a:t>
            </a:r>
            <a:r>
              <a:rPr lang="en-US" sz="1400" dirty="0"/>
              <a:t> et al. </a:t>
            </a:r>
            <a:r>
              <a:rPr lang="en-US" sz="1400" i="1" dirty="0"/>
              <a:t>PNAS, 2007</a:t>
            </a:r>
            <a:endParaRPr lang="en-US" sz="1400" dirty="0"/>
          </a:p>
        </p:txBody>
      </p:sp>
      <p:pic>
        <p:nvPicPr>
          <p:cNvPr id="29" name="CCW-movie.mp4" descr="/Users/hamiddehghani/Documents/powerpoint/movies/CCW-movie.mp4">
            <a:hlinkClick r:id="" action="ppaction://media"/>
          </p:cNvPr>
          <p:cNvPicPr>
            <a:picLocks noChangeAspect="1" noChangeArrowheads="1"/>
          </p:cNvPicPr>
          <p:nvPr>
            <a:vide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7143" y="5615288"/>
            <a:ext cx="949957" cy="9499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" name="sweepave-0630-CCW-movie-hd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5"/>
          <a:stretch>
            <a:fillRect/>
          </a:stretch>
        </p:blipFill>
        <p:spPr>
          <a:xfrm>
            <a:off x="8899268" y="5203583"/>
            <a:ext cx="1082932" cy="812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678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362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3466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>
                <p:cTn id="13" repeatCount="indefinite" fill="hold" display="0">
                  <p:stCondLst>
                    <p:cond delay="indefinite"/>
                  </p:stCondLst>
                  <p:endCondLst>
                    <p:cond evt="onNext" delay="0">
                      <p:tgtEl>
                        <p:sldTgt/>
                      </p:tgtEl>
                    </p:cond>
                    <p:cond evt="onPrev" delay="0">
                      <p:tgtEl>
                        <p:sldTgt/>
                      </p:tgtEl>
                    </p:cond>
                  </p:endCondLst>
                </p:cTn>
                <p:tgtEl>
                  <p:spTgt spid="29"/>
                </p:tgtEl>
              </p:cMediaNode>
            </p:video>
            <p:video>
              <p:cMediaNode vol="80000">
                <p:cTn id="14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9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323655"/>
            <a:ext cx="8229600" cy="1143000"/>
          </a:xfrm>
        </p:spPr>
        <p:txBody>
          <a:bodyPr>
            <a:normAutofit/>
          </a:bodyPr>
          <a:lstStyle/>
          <a:p>
            <a:r>
              <a:rPr lang="en-US" dirty="0"/>
              <a:t>Model Creation and </a:t>
            </a:r>
            <a:r>
              <a:rPr lang="en-US" dirty="0" err="1"/>
              <a:t>discretisation</a:t>
            </a:r>
            <a:endParaRPr lang="en-US" dirty="0"/>
          </a:p>
        </p:txBody>
      </p:sp>
      <p:pic>
        <p:nvPicPr>
          <p:cNvPr id="8" name="Picture 6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201" y="4167211"/>
            <a:ext cx="2260314" cy="2206295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3074634" y="6400491"/>
            <a:ext cx="4842672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en-US" altLang="zh-CN" sz="1200" i="1" dirty="0"/>
              <a:t>SPM: Statistical Parametric Mapping  http://www.fil.ion.ucl.ac.uk/spm/</a:t>
            </a:r>
            <a:endParaRPr lang="en-GB" sz="1200" i="1" dirty="0"/>
          </a:p>
        </p:txBody>
      </p:sp>
      <p:sp>
        <p:nvSpPr>
          <p:cNvPr id="22" name="Rectangle 37"/>
          <p:cNvSpPr>
            <a:spLocks noChangeArrowheads="1"/>
          </p:cNvSpPr>
          <p:nvPr/>
        </p:nvSpPr>
        <p:spPr bwMode="auto">
          <a:xfrm>
            <a:off x="3047457" y="6606335"/>
            <a:ext cx="821571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i="1" dirty="0"/>
              <a:t>Meshing based on the computational geometry algorithms library (CGAL) implemented in </a:t>
            </a:r>
            <a:r>
              <a:rPr lang="en-US" sz="1200" b="1" i="1" dirty="0"/>
              <a:t>NIRFAST</a:t>
            </a:r>
            <a:r>
              <a:rPr lang="en-US" sz="1200" i="1" dirty="0"/>
              <a:t>: http://</a:t>
            </a:r>
            <a:r>
              <a:rPr lang="en-US" sz="1200" i="1" dirty="0" err="1"/>
              <a:t>www.nirfast.org</a:t>
            </a:r>
            <a:endParaRPr lang="en-US" sz="1200" i="1" dirty="0"/>
          </a:p>
        </p:txBody>
      </p:sp>
      <p:grpSp>
        <p:nvGrpSpPr>
          <p:cNvPr id="27" name="Group 26"/>
          <p:cNvGrpSpPr/>
          <p:nvPr/>
        </p:nvGrpSpPr>
        <p:grpSpPr>
          <a:xfrm>
            <a:off x="6456040" y="2728102"/>
            <a:ext cx="4211960" cy="3645405"/>
            <a:chOff x="4932040" y="2663915"/>
            <a:chExt cx="4211960" cy="3645405"/>
          </a:xfrm>
        </p:grpSpPr>
        <p:sp>
          <p:nvSpPr>
            <p:cNvPr id="28" name="Rectangle 27"/>
            <p:cNvSpPr/>
            <p:nvPr/>
          </p:nvSpPr>
          <p:spPr>
            <a:xfrm>
              <a:off x="4932040" y="3699030"/>
              <a:ext cx="4211960" cy="26102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/>
            <p:cNvSpPr/>
            <p:nvPr/>
          </p:nvSpPr>
          <p:spPr>
            <a:xfrm>
              <a:off x="5607115" y="2663915"/>
              <a:ext cx="3536885" cy="1305145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0819"/>
          <a:stretch>
            <a:fillRect/>
          </a:stretch>
        </p:blipFill>
        <p:spPr bwMode="auto">
          <a:xfrm>
            <a:off x="1550254" y="2422290"/>
            <a:ext cx="2397869" cy="20078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8604"/>
          <a:stretch>
            <a:fillRect/>
          </a:stretch>
        </p:blipFill>
        <p:spPr bwMode="auto">
          <a:xfrm>
            <a:off x="3948123" y="2408466"/>
            <a:ext cx="2464873" cy="20756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上箭头 26"/>
          <p:cNvSpPr/>
          <p:nvPr/>
        </p:nvSpPr>
        <p:spPr>
          <a:xfrm>
            <a:off x="1938278" y="2038834"/>
            <a:ext cx="333128" cy="347361"/>
          </a:xfrm>
          <a:prstGeom prst="up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pic>
        <p:nvPicPr>
          <p:cNvPr id="33" name="Picture 2" descr="\\jaffle.cs.bham.ac.uk\students\xxw185\My Pictures\mesh.png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687" t="11225" r="17454" b="11226"/>
          <a:stretch/>
        </p:blipFill>
        <p:spPr bwMode="auto">
          <a:xfrm>
            <a:off x="8651543" y="2576956"/>
            <a:ext cx="2001726" cy="2076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Screen Clippi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0201" y="2511897"/>
            <a:ext cx="2260314" cy="2206295"/>
          </a:xfrm>
          <a:prstGeom prst="rect">
            <a:avLst/>
          </a:prstGeom>
        </p:spPr>
      </p:pic>
      <p:graphicFrame>
        <p:nvGraphicFramePr>
          <p:cNvPr id="35" name="图示 19"/>
          <p:cNvGraphicFramePr/>
          <p:nvPr/>
        </p:nvGraphicFramePr>
        <p:xfrm>
          <a:off x="1524001" y="1223756"/>
          <a:ext cx="9144000" cy="97415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sp>
        <p:nvSpPr>
          <p:cNvPr id="36" name="上箭头 26"/>
          <p:cNvSpPr/>
          <p:nvPr/>
        </p:nvSpPr>
        <p:spPr>
          <a:xfrm>
            <a:off x="4555941" y="2038834"/>
            <a:ext cx="333128" cy="347361"/>
          </a:xfrm>
          <a:prstGeom prst="up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7" name="上箭头 26"/>
          <p:cNvSpPr/>
          <p:nvPr/>
        </p:nvSpPr>
        <p:spPr>
          <a:xfrm>
            <a:off x="7463794" y="2038833"/>
            <a:ext cx="333128" cy="347361"/>
          </a:xfrm>
          <a:prstGeom prst="up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8" name="上箭头 26"/>
          <p:cNvSpPr/>
          <p:nvPr/>
        </p:nvSpPr>
        <p:spPr>
          <a:xfrm rot="12007714">
            <a:off x="9956615" y="2018146"/>
            <a:ext cx="333128" cy="849792"/>
          </a:xfrm>
          <a:prstGeom prst="upArrow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39" name="Right Brace 38"/>
          <p:cNvSpPr/>
          <p:nvPr/>
        </p:nvSpPr>
        <p:spPr>
          <a:xfrm rot="5400000">
            <a:off x="3440704" y="2978950"/>
            <a:ext cx="495055" cy="4005446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Brace 39"/>
          <p:cNvSpPr/>
          <p:nvPr/>
        </p:nvSpPr>
        <p:spPr>
          <a:xfrm rot="5400000">
            <a:off x="9403867" y="4036568"/>
            <a:ext cx="495055" cy="189021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Brace 40"/>
          <p:cNvSpPr/>
          <p:nvPr/>
        </p:nvSpPr>
        <p:spPr>
          <a:xfrm rot="5400000">
            <a:off x="6951096" y="3564016"/>
            <a:ext cx="495055" cy="2835315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3125671" y="5274205"/>
            <a:ext cx="1339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 2 minutes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90239" y="5264913"/>
            <a:ext cx="12270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 1 minute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66331" y="5274205"/>
            <a:ext cx="13392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&lt; 3 minutes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62154" y="5486198"/>
            <a:ext cx="34444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In total ~5 Minutes</a:t>
            </a:r>
          </a:p>
        </p:txBody>
      </p:sp>
    </p:spTree>
    <p:extLst>
      <p:ext uri="{BB962C8B-B14F-4D97-AF65-F5344CB8AC3E}">
        <p14:creationId xmlns:p14="http://schemas.microsoft.com/office/powerpoint/2010/main" val="13198179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41" grpId="0" animBg="1"/>
      <p:bldP spid="42" grpId="0"/>
      <p:bldP spid="43" grpId="0"/>
      <p:bldP spid="44" grpId="0"/>
      <p:bldP spid="4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98630"/>
            <a:ext cx="8229600" cy="1143000"/>
          </a:xfrm>
        </p:spPr>
        <p:txBody>
          <a:bodyPr/>
          <a:lstStyle/>
          <a:p>
            <a:r>
              <a:rPr lang="en-GB" altLang="zh-CN" dirty="0">
                <a:solidFill>
                  <a:srgbClr val="000000"/>
                </a:solidFill>
              </a:rPr>
              <a:t>Atlas based </a:t>
            </a:r>
            <a:r>
              <a:rPr lang="en-US" altLang="zh-CN" dirty="0">
                <a:solidFill>
                  <a:srgbClr val="000000"/>
                </a:solidFill>
              </a:rPr>
              <a:t>models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25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998730"/>
            <a:ext cx="9144000" cy="2768600"/>
          </a:xfrm>
          <a:prstGeom prst="rect">
            <a:avLst/>
          </a:prstGeom>
        </p:spPr>
      </p:pic>
      <p:sp>
        <p:nvSpPr>
          <p:cNvPr id="10" name="Rectangle 81"/>
          <p:cNvSpPr>
            <a:spLocks noChangeArrowheads="1"/>
          </p:cNvSpPr>
          <p:nvPr/>
        </p:nvSpPr>
        <p:spPr bwMode="auto">
          <a:xfrm>
            <a:off x="113628" y="5720770"/>
            <a:ext cx="2402261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eaLnBrk="0" hangingPunct="0"/>
            <a:r>
              <a:rPr lang="en-US" sz="1200" i="1" dirty="0" err="1"/>
              <a:t>Basevi</a:t>
            </a:r>
            <a:r>
              <a:rPr lang="en-US" sz="1200" i="1" dirty="0"/>
              <a:t> et al, Optics Express, 2013</a:t>
            </a:r>
          </a:p>
        </p:txBody>
      </p:sp>
      <p:pic>
        <p:nvPicPr>
          <p:cNvPr id="3" name="Picture 2" descr="Location of the 27 craniofacial anatomical landmarks, including 11... |  Download Scientific Diagram">
            <a:extLst>
              <a:ext uri="{FF2B5EF4-FFF2-40B4-BE49-F238E27FC236}">
                <a16:creationId xmlns:a16="http://schemas.microsoft.com/office/drawing/2014/main" id="{B3408098-3EEF-AAF4-8613-03B6044123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0449" y="3817860"/>
            <a:ext cx="7032492" cy="1902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705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81200" y="98630"/>
            <a:ext cx="8229600" cy="1143000"/>
          </a:xfrm>
        </p:spPr>
        <p:txBody>
          <a:bodyPr/>
          <a:lstStyle/>
          <a:p>
            <a:r>
              <a:rPr lang="en-GB" altLang="zh-CN" dirty="0">
                <a:solidFill>
                  <a:srgbClr val="000000"/>
                </a:solidFill>
              </a:rPr>
              <a:t>Atlas based </a:t>
            </a:r>
            <a:r>
              <a:rPr lang="en-US" altLang="zh-CN" dirty="0">
                <a:solidFill>
                  <a:srgbClr val="000000"/>
                </a:solidFill>
              </a:rPr>
              <a:t>models</a:t>
            </a:r>
            <a:endParaRPr lang="en-GB" dirty="0">
              <a:solidFill>
                <a:srgbClr val="000000"/>
              </a:solidFill>
            </a:endParaRPr>
          </a:p>
        </p:txBody>
      </p:sp>
      <p:pic>
        <p:nvPicPr>
          <p:cNvPr id="20" name="Picture 23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239000" y="-5089"/>
            <a:ext cx="4953000" cy="3628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24000" y="998730"/>
            <a:ext cx="9144000" cy="2768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199402" y="6414587"/>
            <a:ext cx="47244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Eggebrecht</a:t>
            </a:r>
            <a:r>
              <a:rPr lang="en-US" dirty="0"/>
              <a:t> et al, </a:t>
            </a:r>
            <a:r>
              <a:rPr lang="en-US" dirty="0" err="1"/>
              <a:t>NeuroImage</a:t>
            </a:r>
            <a:r>
              <a:rPr lang="en-US" dirty="0"/>
              <a:t> 2012</a:t>
            </a:r>
          </a:p>
        </p:txBody>
      </p:sp>
      <p:pic>
        <p:nvPicPr>
          <p:cNvPr id="3" name="DOT_HbO_CCW_Single_Subj_Caret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026301" y="4066925"/>
            <a:ext cx="4075144" cy="2285194"/>
          </a:xfrm>
          <a:prstGeom prst="rect">
            <a:avLst/>
          </a:prstGeom>
        </p:spPr>
      </p:pic>
      <p:pic>
        <p:nvPicPr>
          <p:cNvPr id="4" name="sweepave-0630-CCW-movie-hd">
            <a:hlinkClick r:id="" action="ppaction://ole?verb=0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270575" y="4070747"/>
            <a:ext cx="3041830" cy="2281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161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623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3623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724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616B4B-5891-0B27-18EE-CFB23082A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NIRFASTer</a:t>
            </a:r>
            <a:r>
              <a:rPr lang="en-GB" dirty="0"/>
              <a:t> and </a:t>
            </a:r>
            <a:r>
              <a:rPr lang="en-GB" dirty="0" err="1"/>
              <a:t>NIRFASTerFF</a:t>
            </a:r>
            <a:endParaRPr lang="en-US" dirty="0"/>
          </a:p>
        </p:txBody>
      </p:sp>
      <p:pic>
        <p:nvPicPr>
          <p:cNvPr id="5" name="Picture 2" descr="NIRFASTer">
            <a:extLst>
              <a:ext uri="{FF2B5EF4-FFF2-40B4-BE49-F238E27FC236}">
                <a16:creationId xmlns:a16="http://schemas.microsoft.com/office/drawing/2014/main" id="{991FD18D-4471-490D-D904-BD30B1AC8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9312" y="2106385"/>
            <a:ext cx="3842828" cy="249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NIRFASTer">
            <a:extLst>
              <a:ext uri="{FF2B5EF4-FFF2-40B4-BE49-F238E27FC236}">
                <a16:creationId xmlns:a16="http://schemas.microsoft.com/office/drawing/2014/main" id="{A78E40C4-0542-94EE-48A0-F5C8EE8D31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26207" y="1485212"/>
            <a:ext cx="4880989" cy="39784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364183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E3C95-13F3-AA3F-C255-3207979934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CFD23D-E647-F2CA-55D1-1B7505726E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9301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E3140-3DA1-AA2A-2656-4EE0030C7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C93F25-C5F5-3B71-C7DF-2C5D7320EA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32745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14893</TotalTime>
  <Words>366</Words>
  <Application>Microsoft Macintosh PowerPoint</Application>
  <PresentationFormat>Widescreen</PresentationFormat>
  <Paragraphs>77</Paragraphs>
  <Slides>13</Slides>
  <Notes>1</Notes>
  <HiddenSlides>0</HiddenSlides>
  <MMClips>4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Aptos Display</vt:lpstr>
      <vt:lpstr>Arial</vt:lpstr>
      <vt:lpstr>ArialMT</vt:lpstr>
      <vt:lpstr>Cambria Math</vt:lpstr>
      <vt:lpstr>Garamond</vt:lpstr>
      <vt:lpstr>Helvetica</vt:lpstr>
      <vt:lpstr>Times New Roman</vt:lpstr>
      <vt:lpstr>Office Theme</vt:lpstr>
      <vt:lpstr>Equation</vt:lpstr>
      <vt:lpstr>NIRFAST A Brief history</vt:lpstr>
      <vt:lpstr>The Beginning: August 2001</vt:lpstr>
      <vt:lpstr>The Beginning: August 2001</vt:lpstr>
      <vt:lpstr>Light Transport Model</vt:lpstr>
      <vt:lpstr>PowerPoint Presentation</vt:lpstr>
      <vt:lpstr>Prior information in Near-Infrared Spectroscopy and Imaging process</vt:lpstr>
      <vt:lpstr>Optical functional brain imaging</vt:lpstr>
      <vt:lpstr>Model Creation and discretisation</vt:lpstr>
      <vt:lpstr>Atlas based models</vt:lpstr>
      <vt:lpstr>Atlas based models</vt:lpstr>
      <vt:lpstr>NIRFASTer and NIRFASTerFF</vt:lpstr>
      <vt:lpstr>…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Rino Zheng</dc:creator>
  <cp:lastModifiedBy>Hamid Dehghani (Computer Science)</cp:lastModifiedBy>
  <cp:revision>102</cp:revision>
  <dcterms:created xsi:type="dcterms:W3CDTF">2025-01-11T13:11:44Z</dcterms:created>
  <dcterms:modified xsi:type="dcterms:W3CDTF">2026-10-14T01:11:34Z</dcterms:modified>
</cp:coreProperties>
</file>