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661" r:id="rId3"/>
    <p:sldId id="662" r:id="rId4"/>
    <p:sldId id="371" r:id="rId5"/>
    <p:sldId id="702" r:id="rId6"/>
    <p:sldId id="701" r:id="rId7"/>
    <p:sldId id="609" r:id="rId8"/>
    <p:sldId id="605" r:id="rId9"/>
    <p:sldId id="606" r:id="rId10"/>
    <p:sldId id="607" r:id="rId11"/>
    <p:sldId id="608" r:id="rId12"/>
    <p:sldId id="706" r:id="rId13"/>
    <p:sldId id="610" r:id="rId14"/>
    <p:sldId id="611" r:id="rId15"/>
    <p:sldId id="612" r:id="rId16"/>
    <p:sldId id="686" r:id="rId17"/>
    <p:sldId id="687" r:id="rId18"/>
    <p:sldId id="663" r:id="rId19"/>
    <p:sldId id="664" r:id="rId20"/>
    <p:sldId id="665" r:id="rId21"/>
    <p:sldId id="678" r:id="rId22"/>
    <p:sldId id="707" r:id="rId23"/>
    <p:sldId id="66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ABDAF-CA91-9511-FBB9-B001F5BA1CEA}" name="Robin Dale (PhD School of Computer Sci FT)" initials="RD" userId="S::rbd079@student.bham.ac.uk::66f06dfd-099f-4024-a589-019b660d1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0B9"/>
    <a:srgbClr val="554167"/>
    <a:srgbClr val="7EA6E0"/>
    <a:srgbClr val="EA6B66"/>
    <a:srgbClr val="E30513"/>
    <a:srgbClr val="2581C4"/>
    <a:srgbClr val="C59A00"/>
    <a:srgbClr val="B8A63A"/>
    <a:srgbClr val="ABA44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3" autoAdjust="0"/>
    <p:restoredTop sz="88537" autoAdjust="0"/>
  </p:normalViewPr>
  <p:slideViewPr>
    <p:cSldViewPr snapToGrid="0">
      <p:cViewPr varScale="1">
        <p:scale>
          <a:sx n="65" d="100"/>
          <a:sy n="65" d="100"/>
        </p:scale>
        <p:origin x="20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89DA8-A704-4B1E-86B9-2AF7D392732B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C18D-5F0A-4B7D-816E-FDD28E1B2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1C18D-5F0A-4B7D-816E-FDD28E1B2D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1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7350" y="703263"/>
            <a:ext cx="6116638" cy="3441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4357688"/>
            <a:ext cx="5033962" cy="1825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1C18D-5F0A-4B7D-816E-FDD28E1B2D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4AC4-FEC4-014A-BED3-1E7F67E5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C0A5A-838E-308E-5934-1357815B8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B5DB4-2725-334F-9B1D-02AFF0AD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BE29-FD5B-6F5B-0996-0D183C53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742A7-BD8D-5EE3-B905-C1541263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5493-7ABF-52AA-2281-6574265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7F25-F0AC-FE72-4C8B-056B3B30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091E-F585-E216-392E-89BDFA2F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D7C40-786D-6576-2516-D7EECD80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Google Shape;13;p7">
            <a:extLst>
              <a:ext uri="{FF2B5EF4-FFF2-40B4-BE49-F238E27FC236}">
                <a16:creationId xmlns:a16="http://schemas.microsoft.com/office/drawing/2014/main" id="{FE97A8BC-D4BD-4F98-C0E3-D5B6E0992588}"/>
              </a:ext>
            </a:extLst>
          </p:cNvPr>
          <p:cNvSpPr/>
          <p:nvPr userDrawn="1"/>
        </p:nvSpPr>
        <p:spPr>
          <a:xfrm>
            <a:off x="1" y="6086475"/>
            <a:ext cx="12192000" cy="114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4023C582-22D8-832E-B5F9-982947465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84" y="6242535"/>
            <a:ext cx="656802" cy="615465"/>
          </a:xfrm>
          <a:prstGeom prst="rect">
            <a:avLst/>
          </a:prstGeom>
        </p:spPr>
      </p:pic>
      <p:pic>
        <p:nvPicPr>
          <p:cNvPr id="11" name="4. Logo">
            <a:extLst>
              <a:ext uri="{FF2B5EF4-FFF2-40B4-BE49-F238E27FC236}">
                <a16:creationId xmlns:a16="http://schemas.microsoft.com/office/drawing/2014/main" id="{7062BCE1-B93A-911F-83E7-06B5189712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54" y="6264137"/>
            <a:ext cx="1954059" cy="56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205D0-A8F9-8E02-A4DA-1A3F009F2D22}"/>
              </a:ext>
            </a:extLst>
          </p:cNvPr>
          <p:cNvSpPr txBox="1"/>
          <p:nvPr userDrawn="1"/>
        </p:nvSpPr>
        <p:spPr>
          <a:xfrm>
            <a:off x="2092432" y="6258341"/>
            <a:ext cx="992579" cy="47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MEDICAL</a:t>
            </a:r>
          </a:p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IMAGING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615C8-46B8-EB84-E6C4-1F6E4FAED947}"/>
              </a:ext>
            </a:extLst>
          </p:cNvPr>
          <p:cNvCxnSpPr>
            <a:cxnSpLocks/>
          </p:cNvCxnSpPr>
          <p:nvPr userDrawn="1"/>
        </p:nvCxnSpPr>
        <p:spPr>
          <a:xfrm>
            <a:off x="2092433" y="6331493"/>
            <a:ext cx="0" cy="32657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0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8D22-4D19-61C9-5F2C-B96434B7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7A08-C0B9-128B-E353-DCE0D4AD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6B5E-33E7-22AB-6BCC-1E8D21A9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EB99-5F2D-9390-51AE-BBC04FA0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63D4-D518-7892-20BC-072F709B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18DF-5773-A4DE-CFE1-EC6439EC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AF84-2E24-191B-022E-024815194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2CDF4-4364-39C2-79F1-83737401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A5353-FE0D-730F-11DB-C9B72E2D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877F-7BD7-3A5F-6B67-B55A971B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E4BD4-2735-6C0C-B08F-49E49815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2899-899B-369F-F14C-F2DC5F12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EB5EF-4917-FF90-FE6E-FF3155C7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7F85-2D61-585E-A4F3-C9E68E2E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962B1-9209-3E6A-5C9A-7CC61AE5B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F4FD0-A185-B9BB-A1B0-EED752CA3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FD12-FCFA-9E94-CDC4-0FA62059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0D515-0FE8-97E4-D5D9-2364DCBA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A9CCC-6FB1-FD0F-D32F-B86FAEE9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EFFF-B934-AFAC-29E3-772B6EA8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92770-0AB0-6AEC-C004-5EC0C8C6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13A70-5C1B-D1DF-C4D4-F6C05CD9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F124-588F-B2F9-095D-2834F832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2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AF5ED-68D4-DBB6-85A5-97B413D0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DA54A-49DD-09B9-C458-4A197AF0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ED12-D126-54F4-E642-11D9D376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37F1-266F-A888-7C0F-47C83322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4B5E-3CE4-CAC5-33AB-4BE6365C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6194-22A0-045E-F206-DBC0E6645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E518E-AAAA-EF77-A89B-8E947CD2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DB976-E944-D01F-8288-7EEC34F2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9D07-A593-60DD-87C0-15F4E0FC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0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5B52-4413-F575-F240-1E00C9A1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ADB5F-1F72-DD3F-44EF-2AA00974E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F13A6-2D7B-4F58-1CF2-4C15F613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6615-98B5-AA20-39AB-C5915915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CE530-BF6F-8E41-4B0F-94D14064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DD9F9-42E2-19ED-9BCB-16AEFF6B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2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E09B-8296-1FF4-7DF1-C53E69D3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1DB7A-0C08-6C22-2858-A57E39504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2F5D-9FA8-8068-3829-A4C10857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ED37-9031-3455-F7BD-0291E806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571A0-FCC2-F4E4-2F59-4EF85AB1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C7F1-AC88-B50C-025C-0C1836424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E414A-4100-90A3-1863-8AA4E5F6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C5E7-C0BF-872A-F1CD-9AE3C5F9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45C3-8C8E-8EBE-22B6-6EDC4A13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237D-2F7F-37C6-FBFE-ADA892DF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8B387-77E0-A06F-0B89-E1533C5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2C7F-381B-0CEC-273E-8A92B457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096E-A05E-77C1-6225-B3F3F892D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0610-3B4C-926F-AE5E-943B0D0BA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4316-53ED-E0DF-9BA2-734732AA2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099140-EC94-B4F7-8ECB-EBAB196DAD7B}"/>
              </a:ext>
            </a:extLst>
          </p:cNvPr>
          <p:cNvSpPr/>
          <p:nvPr/>
        </p:nvSpPr>
        <p:spPr>
          <a:xfrm>
            <a:off x="0" y="0"/>
            <a:ext cx="8161020" cy="6858000"/>
          </a:xfrm>
          <a:custGeom>
            <a:avLst/>
            <a:gdLst>
              <a:gd name="connsiteX0" fmla="*/ 0 w 7383780"/>
              <a:gd name="connsiteY0" fmla="*/ 0 h 6858000"/>
              <a:gd name="connsiteX1" fmla="*/ 738378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  <a:gd name="connsiteX0" fmla="*/ 0 w 7383780"/>
              <a:gd name="connsiteY0" fmla="*/ 0 h 6858000"/>
              <a:gd name="connsiteX1" fmla="*/ 676656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3780" h="6858000">
                <a:moveTo>
                  <a:pt x="0" y="0"/>
                </a:moveTo>
                <a:lnTo>
                  <a:pt x="6766560" y="0"/>
                </a:lnTo>
                <a:lnTo>
                  <a:pt x="738378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FA365-AA49-0266-130F-0D7E0C7A3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30" y="2505908"/>
            <a:ext cx="7505699" cy="1389270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fNIRS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 and Reconstruction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2B0C0-E6B8-B5DB-B26F-87F7195B692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rgbClr val="E305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05123-FDF9-030F-73EA-69CD3C277F7A}"/>
              </a:ext>
            </a:extLst>
          </p:cNvPr>
          <p:cNvSpPr/>
          <p:nvPr/>
        </p:nvSpPr>
        <p:spPr>
          <a:xfrm>
            <a:off x="0" y="0"/>
            <a:ext cx="12192000" cy="284922"/>
          </a:xfrm>
          <a:prstGeom prst="rect">
            <a:avLst/>
          </a:prstGeom>
          <a:solidFill>
            <a:srgbClr val="258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pic>
        <p:nvPicPr>
          <p:cNvPr id="13" name="Picture 12" descr="A logo of a university&#10;&#10;Description automatically generated">
            <a:extLst>
              <a:ext uri="{FF2B5EF4-FFF2-40B4-BE49-F238E27FC236}">
                <a16:creationId xmlns:a16="http://schemas.microsoft.com/office/drawing/2014/main" id="{CB98AD6E-58E8-0DD6-0EC1-22F01F54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69" y="1945322"/>
            <a:ext cx="3119769" cy="1949856"/>
          </a:xfrm>
          <a:prstGeom prst="rect">
            <a:avLst/>
          </a:prstGeom>
        </p:spPr>
      </p:pic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F533F2AD-21E2-C3E7-3482-BB94F0517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183" y="3953279"/>
            <a:ext cx="2740143" cy="2567686"/>
          </a:xfrm>
          <a:prstGeom prst="rect">
            <a:avLst/>
          </a:prstGeom>
        </p:spPr>
      </p:pic>
      <p:pic>
        <p:nvPicPr>
          <p:cNvPr id="11" name="Picture 10" descr="File:University of Macau logo.svg - Wikimedia Commons">
            <a:extLst>
              <a:ext uri="{FF2B5EF4-FFF2-40B4-BE49-F238E27FC236}">
                <a16:creationId xmlns:a16="http://schemas.microsoft.com/office/drawing/2014/main" id="{40D5CDF9-C258-2A45-2BB3-10B9F874E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376" y="417207"/>
            <a:ext cx="1439753" cy="14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38DA-3FF1-C4D5-A97C-C0A913DC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head mesh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11BE82-283B-8CDC-8B6C-36589C3D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1" y="1458943"/>
            <a:ext cx="6137805" cy="4603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0D376-B169-8B6F-2377-93C20287A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5" t="30402" r="36864" b="19388"/>
          <a:stretch>
            <a:fillRect/>
          </a:stretch>
        </p:blipFill>
        <p:spPr>
          <a:xfrm>
            <a:off x="6500190" y="1810470"/>
            <a:ext cx="4065029" cy="391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3EFAD9-E8F5-09AF-FC2D-DD3F5077E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073547"/>
            <a:ext cx="6507438" cy="47109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A17B80-FD9F-CF00-A2B4-78DC2DAC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Optode</a:t>
            </a:r>
            <a:r>
              <a:rPr lang="en-US" dirty="0"/>
              <a:t> 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DEBB0-9E0F-78EF-8CC0-424022E6D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0000" cy="4351338"/>
          </a:xfrm>
        </p:spPr>
        <p:txBody>
          <a:bodyPr/>
          <a:lstStyle/>
          <a:p>
            <a:r>
              <a:rPr lang="en-US" dirty="0"/>
              <a:t>We have used the WashU HD-DOT 96 sources and 92 detectors</a:t>
            </a:r>
          </a:p>
          <a:p>
            <a:r>
              <a:rPr lang="en-US" dirty="0"/>
              <a:t>Can used your own</a:t>
            </a:r>
          </a:p>
          <a:p>
            <a:pPr lvl="1"/>
            <a:r>
              <a:rPr lang="en-US" dirty="0"/>
              <a:t>Make sure the coordinates are in MNI space</a:t>
            </a:r>
          </a:p>
          <a:p>
            <a:pPr lvl="1"/>
            <a:r>
              <a:rPr lang="en-US" dirty="0"/>
              <a:t>Use ‘</a:t>
            </a:r>
            <a:r>
              <a:rPr lang="en-US" dirty="0" err="1"/>
              <a:t>touch_optodes</a:t>
            </a:r>
            <a:r>
              <a:rPr lang="en-US" dirty="0"/>
              <a:t>()’ to ensure correct placement</a:t>
            </a:r>
          </a:p>
        </p:txBody>
      </p:sp>
    </p:spTree>
    <p:extLst>
      <p:ext uri="{BB962C8B-B14F-4D97-AF65-F5344CB8AC3E}">
        <p14:creationId xmlns:p14="http://schemas.microsoft.com/office/powerpoint/2010/main" val="283155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981200" y="4191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GB" sz="4400">
                <a:latin typeface="+mj-lt"/>
                <a:ea typeface="+mj-ea"/>
                <a:cs typeface="+mj-cs"/>
              </a:rPr>
              <a:t>Image Reconstruction</a:t>
            </a:r>
            <a:endParaRPr lang="en-GB" sz="4400" dirty="0">
              <a:latin typeface="+mj-lt"/>
              <a:ea typeface="+mj-ea"/>
              <a:cs typeface="+mj-cs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555941" y="1853825"/>
            <a:ext cx="4905544" cy="2880320"/>
            <a:chOff x="704850" y="2673350"/>
            <a:chExt cx="7645400" cy="3600000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04850" y="2673350"/>
              <a:ext cx="1873585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46133" y="2673350"/>
              <a:ext cx="1836967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574482" y="2673350"/>
              <a:ext cx="1819968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524576" y="2673350"/>
              <a:ext cx="1825674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D68A4B-C0BA-2232-0F49-B3E0E3715D8A}"/>
                  </a:ext>
                </a:extLst>
              </p:cNvPr>
              <p:cNvSpPr txBox="1"/>
              <p:nvPr/>
            </p:nvSpPr>
            <p:spPr>
              <a:xfrm>
                <a:off x="762000" y="4441757"/>
                <a:ext cx="37338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b="0" dirty="0">
                  <a:ea typeface="Cambria Math" panose="02040503050406030204" pitchFamily="18" charset="0"/>
                </a:endParaRPr>
              </a:p>
              <a:p>
                <a:pPr algn="ctr"/>
                <a:endParaRPr lang="en-GB" sz="32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D68A4B-C0BA-2232-0F49-B3E0E3715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441757"/>
                <a:ext cx="3733800" cy="1569660"/>
              </a:xfrm>
              <a:prstGeom prst="rect">
                <a:avLst/>
              </a:prstGeom>
              <a:blipFill>
                <a:blip r:embed="rId7"/>
                <a:stretch>
                  <a:fillRect t="-48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E1BD217-670B-C9AF-D9BB-C460E13D522D}"/>
              </a:ext>
            </a:extLst>
          </p:cNvPr>
          <p:cNvSpPr txBox="1"/>
          <p:nvPr/>
        </p:nvSpPr>
        <p:spPr>
          <a:xfrm>
            <a:off x="526368" y="1530421"/>
            <a:ext cx="4864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Jacobian (Weigh Matrix, A Matrix, Sensitivity matrix):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Relates a small change in optical properties to a change in measured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calculated using the adjoint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FF68F-EA4F-FF7F-7FB6-0C572648BC95}"/>
              </a:ext>
            </a:extLst>
          </p:cNvPr>
          <p:cNvSpPr txBox="1"/>
          <p:nvPr/>
        </p:nvSpPr>
        <p:spPr>
          <a:xfrm>
            <a:off x="6606478" y="5233474"/>
            <a:ext cx="3474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Remember this slide!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8041-6ECA-37AC-FEEC-3260627D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B2D6-2983-5975-40A9-3AA7EEBD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30805"/>
            <a:ext cx="8229600" cy="1143000"/>
          </a:xfrm>
        </p:spPr>
        <p:txBody>
          <a:bodyPr/>
          <a:lstStyle/>
          <a:p>
            <a:r>
              <a:rPr lang="en-US" dirty="0"/>
              <a:t>Under-determined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101EFB0-C39C-D7B3-3F1D-A00761205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 flipH="1" flipV="1">
            <a:off x="4705105" y="3337210"/>
            <a:ext cx="1904400" cy="1439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A0421886-7B91-BAFE-F935-FA12C6E9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0665" y="3104800"/>
            <a:ext cx="1855570" cy="190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100F563-044D-E5BE-F6F7-CB9FC3CFC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15" y="3099496"/>
            <a:ext cx="1882320" cy="19044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7371E9-2507-2B02-9C21-38BF3A53FFE0}"/>
              </a:ext>
            </a:extLst>
          </p:cNvPr>
          <p:cNvSpPr txBox="1"/>
          <p:nvPr/>
        </p:nvSpPr>
        <p:spPr>
          <a:xfrm>
            <a:off x="1981201" y="1868063"/>
            <a:ext cx="8345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recover many unknowns (~40k - 500k)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Finite and discrete number of measurements (~100 – 1000)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3CF34B-6CA4-54B1-7460-C796DDC00F92}"/>
                  </a:ext>
                </a:extLst>
              </p:cNvPr>
              <p:cNvSpPr txBox="1"/>
              <p:nvPr/>
            </p:nvSpPr>
            <p:spPr>
              <a:xfrm>
                <a:off x="3159842" y="5397598"/>
                <a:ext cx="61132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dirty="0"/>
                  <a:t> = NM x NV=(1000)x(500,000)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3CF34B-6CA4-54B1-7460-C796DDC00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842" y="5397598"/>
                <a:ext cx="6113206" cy="369332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36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C9FF-589D-4216-88ED-F7900421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F987-7340-5648-A9F3-6BCDE74A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Matrix inversion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D51B8-A743-8834-7DE5-88A98CBC085D}"/>
                  </a:ext>
                </a:extLst>
              </p:cNvPr>
              <p:cNvSpPr txBox="1"/>
              <p:nvPr/>
            </p:nvSpPr>
            <p:spPr>
              <a:xfrm>
                <a:off x="542770" y="1478311"/>
                <a:ext cx="5236433" cy="44319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dirty="0"/>
              </a:p>
              <a:p>
                <a:pPr algn="ctr"/>
                <a:endParaRPr lang="en-GB" sz="320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dirty="0"/>
              </a:p>
              <a:p>
                <a:pPr algn="ctr"/>
                <a:endParaRPr lang="en-GB" sz="320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dirty="0"/>
              </a:p>
              <a:p>
                <a:pPr algn="ctr"/>
                <a:endParaRPr lang="en-GB" sz="3200" dirty="0"/>
              </a:p>
              <a:p>
                <a:pPr algn="ctr"/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dirty="0"/>
              </a:p>
              <a:p>
                <a:pPr algn="ctr"/>
                <a:endParaRPr lang="en-GB" sz="3200" dirty="0"/>
              </a:p>
              <a:p>
                <a:pPr algn="ctr"/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FD51B8-A743-8834-7DE5-88A98CBC0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70" y="1478311"/>
                <a:ext cx="5236433" cy="4431983"/>
              </a:xfrm>
              <a:prstGeom prst="rect">
                <a:avLst/>
              </a:prstGeom>
              <a:blipFill>
                <a:blip r:embed="rId2"/>
                <a:stretch>
                  <a:fillRect l="-3140" t="-2857" r="-2899" b="-4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6F2A6E-D00E-AEEC-876D-EE36498C58A1}"/>
                  </a:ext>
                </a:extLst>
              </p:cNvPr>
              <p:cNvSpPr txBox="1"/>
              <p:nvPr/>
            </p:nvSpPr>
            <p:spPr>
              <a:xfrm>
                <a:off x="6412799" y="2965462"/>
                <a:ext cx="55394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= Regularization parameter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Small values = overfitting, noisy images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Large values = underfitting, over-smooth images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6F2A6E-D00E-AEEC-876D-EE36498C5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799" y="2965462"/>
                <a:ext cx="5539470" cy="1938992"/>
              </a:xfrm>
              <a:prstGeom prst="rect">
                <a:avLst/>
              </a:prstGeom>
              <a:blipFill>
                <a:blip r:embed="rId3"/>
                <a:stretch>
                  <a:fillRect l="-1370" t="-2597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33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p:pic>
        <p:nvPicPr>
          <p:cNvPr id="2050" name="Picture 2" descr="Food banana minions GIF on GIFER - by Yom">
            <a:extLst>
              <a:ext uri="{FF2B5EF4-FFF2-40B4-BE49-F238E27FC236}">
                <a16:creationId xmlns:a16="http://schemas.microsoft.com/office/drawing/2014/main" id="{86056F0B-5572-7A50-3506-6E7981E15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618" y="1438174"/>
            <a:ext cx="8225524" cy="462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04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D7746-5179-0055-0AAD-E065950E8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Perturbation model</a:t>
            </a:r>
          </a:p>
          <a:p>
            <a:pPr lvl="1"/>
            <a:r>
              <a:rPr lang="en-GB" dirty="0"/>
              <a:t>For every source </a:t>
            </a:r>
            <a:r>
              <a:rPr lang="en-GB" i="1" dirty="0"/>
              <a:t>s</a:t>
            </a:r>
          </a:p>
          <a:p>
            <a:pPr lvl="1"/>
            <a:r>
              <a:rPr lang="en-GB" dirty="0"/>
              <a:t>For every detector </a:t>
            </a:r>
            <a:r>
              <a:rPr lang="en-GB" i="1" dirty="0"/>
              <a:t>d</a:t>
            </a:r>
          </a:p>
          <a:p>
            <a:pPr lvl="1"/>
            <a:r>
              <a:rPr lang="en-GB" dirty="0"/>
              <a:t>Model reference data, </a:t>
            </a:r>
            <a:r>
              <a:rPr lang="en-GB" i="1" dirty="0" err="1"/>
              <a:t>Y</a:t>
            </a:r>
            <a:r>
              <a:rPr lang="en-GB" i="1" baseline="-25000" dirty="0" err="1"/>
              <a:t>ref</a:t>
            </a:r>
            <a:r>
              <a:rPr lang="en-GB" i="1" baseline="-25000" dirty="0"/>
              <a:t>(</a:t>
            </a:r>
            <a:r>
              <a:rPr lang="en-GB" i="1" baseline="-25000" dirty="0" err="1"/>
              <a:t>s,d</a:t>
            </a:r>
            <a:r>
              <a:rPr lang="en-GB" i="1" baseline="-25000" dirty="0"/>
              <a:t>)</a:t>
            </a:r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3919E-02FF-9BDC-F0F3-DE39FD7467CD}"/>
              </a:ext>
            </a:extLst>
          </p:cNvPr>
          <p:cNvSpPr/>
          <p:nvPr/>
        </p:nvSpPr>
        <p:spPr>
          <a:xfrm>
            <a:off x="7266131" y="2123855"/>
            <a:ext cx="2655295" cy="1170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833529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9DBB706-6472-D8B4-37D3-F7D452A5232A}"/>
              </a:ext>
            </a:extLst>
          </p:cNvPr>
          <p:cNvSpPr/>
          <p:nvPr/>
        </p:nvSpPr>
        <p:spPr>
          <a:xfrm rot="10800000">
            <a:off x="8940987" y="1600783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44517-C354-C595-1B5C-F12CB72E3964}"/>
              </a:ext>
            </a:extLst>
          </p:cNvPr>
          <p:cNvSpPr txBox="1"/>
          <p:nvPr/>
        </p:nvSpPr>
        <p:spPr>
          <a:xfrm>
            <a:off x="7821709" y="126896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896C3-CBE5-646F-9675-B40452CE5A53}"/>
              </a:ext>
            </a:extLst>
          </p:cNvPr>
          <p:cNvSpPr txBox="1"/>
          <p:nvPr/>
        </p:nvSpPr>
        <p:spPr>
          <a:xfrm>
            <a:off x="8917347" y="128966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6526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Perturbation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1"/>
                <a:r>
                  <a:rPr lang="en-GB" dirty="0"/>
                  <a:t>For every detector </a:t>
                </a:r>
                <a:r>
                  <a:rPr lang="en-GB" i="1" dirty="0"/>
                  <a:t>d</a:t>
                </a:r>
              </a:p>
              <a:p>
                <a:pPr lvl="1"/>
                <a:r>
                  <a:rPr lang="en-GB" dirty="0"/>
                  <a:t>Model reference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ref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For every voxel </a:t>
                </a:r>
                <a:r>
                  <a:rPr lang="en-GB" i="1" dirty="0"/>
                  <a:t>v</a:t>
                </a:r>
              </a:p>
              <a:p>
                <a:pPr lvl="2"/>
                <a:r>
                  <a:rPr lang="en-GB" dirty="0"/>
                  <a:t>Perturb voxel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𝛿𝜇</m:t>
                    </m:r>
                    <m:r>
                      <a:rPr lang="en-GB" sz="2400" i="1" baseline="-2500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Model perturbed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pert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B3919E-02FF-9BDC-F0F3-DE39FD7467CD}"/>
              </a:ext>
            </a:extLst>
          </p:cNvPr>
          <p:cNvSpPr/>
          <p:nvPr/>
        </p:nvSpPr>
        <p:spPr>
          <a:xfrm>
            <a:off x="7266131" y="2123855"/>
            <a:ext cx="2655295" cy="1170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833529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9DBB706-6472-D8B4-37D3-F7D452A5232A}"/>
              </a:ext>
            </a:extLst>
          </p:cNvPr>
          <p:cNvSpPr/>
          <p:nvPr/>
        </p:nvSpPr>
        <p:spPr>
          <a:xfrm rot="10800000">
            <a:off x="8940987" y="1600783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44517-C354-C595-1B5C-F12CB72E3964}"/>
              </a:ext>
            </a:extLst>
          </p:cNvPr>
          <p:cNvSpPr txBox="1"/>
          <p:nvPr/>
        </p:nvSpPr>
        <p:spPr>
          <a:xfrm>
            <a:off x="7821709" y="126896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896C3-CBE5-646F-9675-B40452CE5A53}"/>
              </a:ext>
            </a:extLst>
          </p:cNvPr>
          <p:cNvSpPr txBox="1"/>
          <p:nvPr/>
        </p:nvSpPr>
        <p:spPr>
          <a:xfrm>
            <a:off x="8917347" y="128966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7A7A4-935C-C59C-375E-F05CF41945D7}"/>
                  </a:ext>
                </a:extLst>
              </p:cNvPr>
              <p:cNvSpPr txBox="1"/>
              <p:nvPr/>
            </p:nvSpPr>
            <p:spPr>
              <a:xfrm>
                <a:off x="3251572" y="4908672"/>
                <a:ext cx="5153206" cy="660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𝑃𝑒𝑟𝑡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𝑝𝑒𝑟𝑡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𝛿𝜇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7A7A4-935C-C59C-375E-F05CF419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572" y="4908672"/>
                <a:ext cx="5153206" cy="660437"/>
              </a:xfrm>
              <a:prstGeom prst="rect">
                <a:avLst/>
              </a:prstGeom>
              <a:blipFill>
                <a:blip r:embed="rId3"/>
                <a:stretch>
                  <a:fillRect l="-737" r="-1229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AAC1947-E930-5924-66EB-B62EBD27D543}"/>
              </a:ext>
            </a:extLst>
          </p:cNvPr>
          <p:cNvSpPr/>
          <p:nvPr/>
        </p:nvSpPr>
        <p:spPr>
          <a:xfrm>
            <a:off x="7266131" y="2123856"/>
            <a:ext cx="315035" cy="3150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10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Perturbation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1"/>
                <a:r>
                  <a:rPr lang="en-GB" dirty="0"/>
                  <a:t>For every detector </a:t>
                </a:r>
                <a:r>
                  <a:rPr lang="en-GB" i="1" dirty="0"/>
                  <a:t>d</a:t>
                </a:r>
              </a:p>
              <a:p>
                <a:pPr lvl="1"/>
                <a:r>
                  <a:rPr lang="en-GB" dirty="0"/>
                  <a:t>Model reference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ref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For every voxel </a:t>
                </a:r>
                <a:r>
                  <a:rPr lang="en-GB" i="1" dirty="0"/>
                  <a:t>v</a:t>
                </a:r>
              </a:p>
              <a:p>
                <a:pPr lvl="2"/>
                <a:r>
                  <a:rPr lang="en-GB" dirty="0"/>
                  <a:t>Perturb voxel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𝛿𝜇</m:t>
                    </m:r>
                    <m:r>
                      <a:rPr lang="en-GB" sz="2400" i="1" baseline="-2500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Model perturbed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pert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B3919E-02FF-9BDC-F0F3-DE39FD7467CD}"/>
              </a:ext>
            </a:extLst>
          </p:cNvPr>
          <p:cNvSpPr/>
          <p:nvPr/>
        </p:nvSpPr>
        <p:spPr>
          <a:xfrm>
            <a:off x="7266131" y="2123855"/>
            <a:ext cx="2655295" cy="1170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833529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9DBB706-6472-D8B4-37D3-F7D452A5232A}"/>
              </a:ext>
            </a:extLst>
          </p:cNvPr>
          <p:cNvSpPr/>
          <p:nvPr/>
        </p:nvSpPr>
        <p:spPr>
          <a:xfrm rot="10800000">
            <a:off x="8940987" y="1600783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44517-C354-C595-1B5C-F12CB72E3964}"/>
              </a:ext>
            </a:extLst>
          </p:cNvPr>
          <p:cNvSpPr txBox="1"/>
          <p:nvPr/>
        </p:nvSpPr>
        <p:spPr>
          <a:xfrm>
            <a:off x="7821709" y="126896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896C3-CBE5-646F-9675-B40452CE5A53}"/>
              </a:ext>
            </a:extLst>
          </p:cNvPr>
          <p:cNvSpPr txBox="1"/>
          <p:nvPr/>
        </p:nvSpPr>
        <p:spPr>
          <a:xfrm>
            <a:off x="8917347" y="128966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7A7A4-935C-C59C-375E-F05CF41945D7}"/>
                  </a:ext>
                </a:extLst>
              </p:cNvPr>
              <p:cNvSpPr txBox="1"/>
              <p:nvPr/>
            </p:nvSpPr>
            <p:spPr>
              <a:xfrm>
                <a:off x="3251571" y="4909907"/>
                <a:ext cx="5153206" cy="660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𝑃𝑒𝑟𝑡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𝑝𝑒𝑟𝑡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𝛿𝜇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7A7A4-935C-C59C-375E-F05CF419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571" y="4909907"/>
                <a:ext cx="5153206" cy="660437"/>
              </a:xfrm>
              <a:prstGeom prst="rect">
                <a:avLst/>
              </a:prstGeom>
              <a:blipFill>
                <a:blip r:embed="rId3"/>
                <a:stretch>
                  <a:fillRect l="-737" r="-1229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A5926BC-02DB-8A71-807E-663E1FF71E5C}"/>
              </a:ext>
            </a:extLst>
          </p:cNvPr>
          <p:cNvSpPr/>
          <p:nvPr/>
        </p:nvSpPr>
        <p:spPr>
          <a:xfrm>
            <a:off x="7608505" y="2124952"/>
            <a:ext cx="315035" cy="3150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783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Perturbation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1"/>
                <a:r>
                  <a:rPr lang="en-GB" dirty="0"/>
                  <a:t>For every detector </a:t>
                </a:r>
                <a:r>
                  <a:rPr lang="en-GB" i="1" dirty="0"/>
                  <a:t>d</a:t>
                </a:r>
              </a:p>
              <a:p>
                <a:pPr lvl="1"/>
                <a:r>
                  <a:rPr lang="en-GB" dirty="0"/>
                  <a:t>Model reference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ref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For every voxel </a:t>
                </a:r>
                <a:r>
                  <a:rPr lang="en-GB" i="1" dirty="0"/>
                  <a:t>v</a:t>
                </a:r>
              </a:p>
              <a:p>
                <a:pPr lvl="2"/>
                <a:r>
                  <a:rPr lang="en-GB" dirty="0"/>
                  <a:t>Perturb voxel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𝛿𝜇</m:t>
                    </m:r>
                    <m:r>
                      <a:rPr lang="en-GB" sz="2400" i="1" baseline="-2500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Model perturbed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pert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B3919E-02FF-9BDC-F0F3-DE39FD7467CD}"/>
              </a:ext>
            </a:extLst>
          </p:cNvPr>
          <p:cNvSpPr/>
          <p:nvPr/>
        </p:nvSpPr>
        <p:spPr>
          <a:xfrm>
            <a:off x="7266131" y="2123855"/>
            <a:ext cx="2655295" cy="1170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833529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9DBB706-6472-D8B4-37D3-F7D452A5232A}"/>
              </a:ext>
            </a:extLst>
          </p:cNvPr>
          <p:cNvSpPr/>
          <p:nvPr/>
        </p:nvSpPr>
        <p:spPr>
          <a:xfrm rot="10800000">
            <a:off x="8940987" y="1600783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44517-C354-C595-1B5C-F12CB72E3964}"/>
              </a:ext>
            </a:extLst>
          </p:cNvPr>
          <p:cNvSpPr txBox="1"/>
          <p:nvPr/>
        </p:nvSpPr>
        <p:spPr>
          <a:xfrm>
            <a:off x="7821709" y="126896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896C3-CBE5-646F-9675-B40452CE5A53}"/>
              </a:ext>
            </a:extLst>
          </p:cNvPr>
          <p:cNvSpPr txBox="1"/>
          <p:nvPr/>
        </p:nvSpPr>
        <p:spPr>
          <a:xfrm>
            <a:off x="8917347" y="128966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1FCD32-CE00-B2C3-65B6-67C3AECA2CF7}"/>
              </a:ext>
            </a:extLst>
          </p:cNvPr>
          <p:cNvSpPr/>
          <p:nvPr/>
        </p:nvSpPr>
        <p:spPr>
          <a:xfrm>
            <a:off x="7950879" y="2124952"/>
            <a:ext cx="315035" cy="3150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93BC41-B71A-1EF8-45DF-A07EEE86203C}"/>
                  </a:ext>
                </a:extLst>
              </p:cNvPr>
              <p:cNvSpPr txBox="1"/>
              <p:nvPr/>
            </p:nvSpPr>
            <p:spPr>
              <a:xfrm>
                <a:off x="3251571" y="4909907"/>
                <a:ext cx="5153206" cy="660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𝑃𝑒𝑟𝑡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𝑝𝑒𝑟𝑡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𝛿𝜇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93BC41-B71A-1EF8-45DF-A07EEE862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571" y="4909907"/>
                <a:ext cx="5153206" cy="660437"/>
              </a:xfrm>
              <a:prstGeom prst="rect">
                <a:avLst/>
              </a:prstGeom>
              <a:blipFill>
                <a:blip r:embed="rId3"/>
                <a:stretch>
                  <a:fillRect l="-737" r="-1229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11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FA42-8F5A-97D1-B5A6-2C6B1753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E56D-EB47-98A1-53F3-2B53E38A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DCA70-59CD-7F94-344B-EA71EF3C1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Perturbation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1"/>
                <a:r>
                  <a:rPr lang="en-GB" dirty="0"/>
                  <a:t>For every detector </a:t>
                </a:r>
                <a:r>
                  <a:rPr lang="en-GB" i="1" dirty="0"/>
                  <a:t>d</a:t>
                </a:r>
              </a:p>
              <a:p>
                <a:pPr lvl="1"/>
                <a:r>
                  <a:rPr lang="en-GB" dirty="0"/>
                  <a:t>Model reference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ref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For every voxel </a:t>
                </a:r>
                <a:r>
                  <a:rPr lang="en-GB" i="1" dirty="0"/>
                  <a:t>v</a:t>
                </a:r>
              </a:p>
              <a:p>
                <a:pPr lvl="2"/>
                <a:r>
                  <a:rPr lang="en-GB" dirty="0"/>
                  <a:t>Perturb voxel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𝛿𝜇</m:t>
                    </m:r>
                    <m:r>
                      <a:rPr lang="en-GB" sz="2400" i="1" baseline="-2500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Model perturbed data, </a:t>
                </a:r>
                <a:r>
                  <a:rPr lang="en-GB" i="1" dirty="0" err="1"/>
                  <a:t>Y</a:t>
                </a:r>
                <a:r>
                  <a:rPr lang="en-GB" i="1" baseline="-25000" dirty="0" err="1"/>
                  <a:t>pert</a:t>
                </a:r>
                <a:r>
                  <a:rPr lang="en-GB" i="1" baseline="-25000" dirty="0"/>
                  <a:t>(</a:t>
                </a:r>
                <a:r>
                  <a:rPr lang="en-GB" i="1" baseline="-25000" dirty="0" err="1"/>
                  <a:t>s,d</a:t>
                </a:r>
                <a:r>
                  <a:rPr lang="en-GB" i="1" baseline="-25000" dirty="0"/>
                  <a:t>)</a:t>
                </a:r>
                <a:r>
                  <a:rPr lang="en-GB" i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DCA70-59CD-7F94-344B-EA71EF3C1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E7C5B8-CDE6-A94C-46A4-C2B710DFFBBC}"/>
              </a:ext>
            </a:extLst>
          </p:cNvPr>
          <p:cNvSpPr/>
          <p:nvPr/>
        </p:nvSpPr>
        <p:spPr>
          <a:xfrm>
            <a:off x="7266131" y="2123855"/>
            <a:ext cx="2655295" cy="11701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82AA8C9-F80F-431A-2737-1433342C56D3}"/>
              </a:ext>
            </a:extLst>
          </p:cNvPr>
          <p:cNvSpPr/>
          <p:nvPr/>
        </p:nvSpPr>
        <p:spPr>
          <a:xfrm>
            <a:off x="7833529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45A16D2D-CDE7-D454-350C-D44212F89165}"/>
              </a:ext>
            </a:extLst>
          </p:cNvPr>
          <p:cNvSpPr/>
          <p:nvPr/>
        </p:nvSpPr>
        <p:spPr>
          <a:xfrm rot="10800000">
            <a:off x="8940987" y="1600783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D71B4-873B-3906-EB18-068FB25E6B3A}"/>
              </a:ext>
            </a:extLst>
          </p:cNvPr>
          <p:cNvSpPr txBox="1"/>
          <p:nvPr/>
        </p:nvSpPr>
        <p:spPr>
          <a:xfrm>
            <a:off x="7821709" y="126896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9DED6E-9F33-3758-6117-7D21CCB9D7F0}"/>
              </a:ext>
            </a:extLst>
          </p:cNvPr>
          <p:cNvSpPr txBox="1"/>
          <p:nvPr/>
        </p:nvSpPr>
        <p:spPr>
          <a:xfrm>
            <a:off x="8917347" y="128966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49FEF-F224-6418-D47C-93FE107222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21" t="15131" r="18857" b="51120"/>
          <a:stretch/>
        </p:blipFill>
        <p:spPr>
          <a:xfrm>
            <a:off x="7761185" y="2125643"/>
            <a:ext cx="1464260" cy="900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8A22BA-D2AE-90F1-5AC3-E71628B703DD}"/>
                  </a:ext>
                </a:extLst>
              </p:cNvPr>
              <p:cNvSpPr txBox="1"/>
              <p:nvPr/>
            </p:nvSpPr>
            <p:spPr>
              <a:xfrm>
                <a:off x="3251571" y="4909907"/>
                <a:ext cx="5153206" cy="660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𝑃𝑒𝑟𝑡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𝑝𝑒𝑟𝑡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𝛿𝜇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8A22BA-D2AE-90F1-5AC3-E71628B70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571" y="4909907"/>
                <a:ext cx="5153206" cy="660437"/>
              </a:xfrm>
              <a:prstGeom prst="rect">
                <a:avLst/>
              </a:prstGeom>
              <a:blipFill>
                <a:blip r:embed="rId4"/>
                <a:stretch>
                  <a:fillRect l="-737" r="-1229" b="-11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D327C8-73B4-BEA3-BB78-2D280976F5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65" t="15000" r="8868" b="30595"/>
          <a:stretch/>
        </p:blipFill>
        <p:spPr>
          <a:xfrm>
            <a:off x="7221125" y="2123856"/>
            <a:ext cx="2700300" cy="1240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5530" y="1600201"/>
                <a:ext cx="8229600" cy="4525963"/>
              </a:xfrm>
            </p:spPr>
            <p:txBody>
              <a:bodyPr/>
              <a:lstStyle/>
              <a:p>
                <a:r>
                  <a:rPr lang="en-GB" dirty="0"/>
                  <a:t>Adjoint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2"/>
                <a:r>
                  <a:rPr lang="en-GB" dirty="0"/>
                  <a:t>Model Direct Fluence,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𝑑𝑖𝑟𝑒𝑐𝑡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5530" y="1600201"/>
                <a:ext cx="8229600" cy="4525963"/>
              </a:xfrm>
              <a:blipFill>
                <a:blip r:embed="rId3"/>
                <a:stretch>
                  <a:fillRect l="-1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626170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44517-C354-C595-1B5C-F12CB72E3964}"/>
              </a:ext>
            </a:extLst>
          </p:cNvPr>
          <p:cNvSpPr txBox="1"/>
          <p:nvPr/>
        </p:nvSpPr>
        <p:spPr>
          <a:xfrm>
            <a:off x="7614350" y="126176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4582D800-B06B-159B-63B0-F36AF4E44D51}"/>
              </a:ext>
            </a:extLst>
          </p:cNvPr>
          <p:cNvSpPr/>
          <p:nvPr/>
        </p:nvSpPr>
        <p:spPr>
          <a:xfrm rot="10800000">
            <a:off x="9317785" y="1600201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4D78A-0639-330A-01DC-7A6B6733BE39}"/>
              </a:ext>
            </a:extLst>
          </p:cNvPr>
          <p:cNvSpPr txBox="1"/>
          <p:nvPr/>
        </p:nvSpPr>
        <p:spPr>
          <a:xfrm>
            <a:off x="9298751" y="127617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52303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D327C8-73B4-BEA3-BB78-2D280976F5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65" t="15000" r="8868" b="30595"/>
          <a:stretch/>
        </p:blipFill>
        <p:spPr>
          <a:xfrm>
            <a:off x="7221125" y="2123856"/>
            <a:ext cx="2700300" cy="1240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5530" y="1600201"/>
                <a:ext cx="8229600" cy="4525963"/>
              </a:xfrm>
            </p:spPr>
            <p:txBody>
              <a:bodyPr/>
              <a:lstStyle/>
              <a:p>
                <a:r>
                  <a:rPr lang="en-GB" dirty="0"/>
                  <a:t>Adjoint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2"/>
                <a:r>
                  <a:rPr lang="en-GB" dirty="0"/>
                  <a:t>Model Direct Fluence,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𝑑𝑖𝑟𝑒𝑐𝑡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For every detector </a:t>
                </a:r>
                <a:r>
                  <a:rPr lang="en-GB" i="1" dirty="0"/>
                  <a:t>d</a:t>
                </a:r>
              </a:p>
              <a:p>
                <a:pPr lvl="2"/>
                <a:r>
                  <a:rPr lang="en-GB" dirty="0"/>
                  <a:t>Assume detector is source (Reciprocity)</a:t>
                </a:r>
              </a:p>
              <a:p>
                <a:pPr lvl="2"/>
                <a:r>
                  <a:rPr lang="en-GB" dirty="0"/>
                  <a:t>Model Adjoint Fluence,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𝑎𝑑𝑗𝑜𝑖𝑛𝑡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5530" y="1600201"/>
                <a:ext cx="8229600" cy="4525963"/>
              </a:xfrm>
              <a:blipFill>
                <a:blip r:embed="rId3"/>
                <a:stretch>
                  <a:fillRect l="-1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626170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9DBB706-6472-D8B4-37D3-F7D452A5232A}"/>
              </a:ext>
            </a:extLst>
          </p:cNvPr>
          <p:cNvSpPr/>
          <p:nvPr/>
        </p:nvSpPr>
        <p:spPr>
          <a:xfrm rot="10800000">
            <a:off x="9317785" y="1600201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896C3-CBE5-646F-9675-B40452CE5A53}"/>
              </a:ext>
            </a:extLst>
          </p:cNvPr>
          <p:cNvSpPr txBox="1"/>
          <p:nvPr/>
        </p:nvSpPr>
        <p:spPr>
          <a:xfrm>
            <a:off x="9298751" y="127617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F7ECE9-B80F-EBC1-37E4-E9F38B420F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665" t="15000" r="8867" b="32282"/>
          <a:stretch/>
        </p:blipFill>
        <p:spPr>
          <a:xfrm>
            <a:off x="7221126" y="2123856"/>
            <a:ext cx="2745304" cy="12019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C87EA5-EAE6-01E8-64F9-C979A37ED3B9}"/>
              </a:ext>
            </a:extLst>
          </p:cNvPr>
          <p:cNvSpPr txBox="1"/>
          <p:nvPr/>
        </p:nvSpPr>
        <p:spPr>
          <a:xfrm>
            <a:off x="7614350" y="126176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16775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4AF-5D11-8472-09B9-725D4188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bananas!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5530" y="1600201"/>
                <a:ext cx="8229600" cy="4525963"/>
              </a:xfrm>
            </p:spPr>
            <p:txBody>
              <a:bodyPr/>
              <a:lstStyle/>
              <a:p>
                <a:r>
                  <a:rPr lang="en-GB" dirty="0"/>
                  <a:t>Adjoint model</a:t>
                </a:r>
              </a:p>
              <a:p>
                <a:pPr lvl="1"/>
                <a:r>
                  <a:rPr lang="en-GB" dirty="0"/>
                  <a:t>For every source </a:t>
                </a:r>
                <a:r>
                  <a:rPr lang="en-GB" i="1" dirty="0"/>
                  <a:t>s</a:t>
                </a:r>
              </a:p>
              <a:p>
                <a:pPr lvl="2"/>
                <a:r>
                  <a:rPr lang="en-GB" dirty="0"/>
                  <a:t>Model Direct Fluence,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𝑑𝑖𝑟𝑒𝑐𝑡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For every detector </a:t>
                </a:r>
                <a:r>
                  <a:rPr lang="en-GB" i="1" dirty="0"/>
                  <a:t>d</a:t>
                </a:r>
              </a:p>
              <a:p>
                <a:pPr lvl="2"/>
                <a:r>
                  <a:rPr lang="en-GB" dirty="0"/>
                  <a:t>Assume detector is source (Reciprocity)</a:t>
                </a:r>
              </a:p>
              <a:p>
                <a:pPr lvl="2"/>
                <a:r>
                  <a:rPr lang="en-GB" dirty="0"/>
                  <a:t>Model Adjoint Fluence,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𝑎𝑑𝑗𝑜𝑖𝑛𝑡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0D7746-5179-0055-0AAD-E065950E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5530" y="1600201"/>
                <a:ext cx="8229600" cy="4525963"/>
              </a:xfrm>
              <a:blipFill>
                <a:blip r:embed="rId2"/>
                <a:stretch>
                  <a:fillRect l="-123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8EA83923-7644-57E6-4DFB-A1D832182632}"/>
              </a:ext>
            </a:extLst>
          </p:cNvPr>
          <p:cNvSpPr/>
          <p:nvPr/>
        </p:nvSpPr>
        <p:spPr>
          <a:xfrm>
            <a:off x="7626170" y="1600782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09DBB706-6472-D8B4-37D3-F7D452A5232A}"/>
              </a:ext>
            </a:extLst>
          </p:cNvPr>
          <p:cNvSpPr/>
          <p:nvPr/>
        </p:nvSpPr>
        <p:spPr>
          <a:xfrm rot="10800000">
            <a:off x="9317785" y="1600201"/>
            <a:ext cx="270030" cy="52365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896C3-CBE5-646F-9675-B40452CE5A53}"/>
              </a:ext>
            </a:extLst>
          </p:cNvPr>
          <p:cNvSpPr txBox="1"/>
          <p:nvPr/>
        </p:nvSpPr>
        <p:spPr>
          <a:xfrm>
            <a:off x="9298751" y="127617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37B9CD-C1B3-016F-689E-404843911B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29" t="15149" r="21606" b="34812"/>
          <a:stretch/>
        </p:blipFill>
        <p:spPr>
          <a:xfrm>
            <a:off x="7311135" y="2131063"/>
            <a:ext cx="2276680" cy="1184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479DFC-C801-2902-AE6B-4B7D8DE8ADCD}"/>
                  </a:ext>
                </a:extLst>
              </p:cNvPr>
              <p:cNvSpPr txBox="1"/>
              <p:nvPr/>
            </p:nvSpPr>
            <p:spPr>
              <a:xfrm>
                <a:off x="4481584" y="5105383"/>
                <a:ext cx="3524619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𝑑𝑖𝑟𝑒𝑐𝑡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𝐴𝑑𝑗𝑜𝑖𝑛𝑡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479DFC-C801-2902-AE6B-4B7D8DE8A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584" y="5105383"/>
                <a:ext cx="3524619" cy="303673"/>
              </a:xfrm>
              <a:prstGeom prst="rect">
                <a:avLst/>
              </a:prstGeom>
              <a:blipFill>
                <a:blip r:embed="rId4"/>
                <a:stretch>
                  <a:fillRect l="-2509" r="-717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8FBF1AF-C23E-C40B-DC17-75CFFC10C297}"/>
              </a:ext>
            </a:extLst>
          </p:cNvPr>
          <p:cNvSpPr txBox="1"/>
          <p:nvPr/>
        </p:nvSpPr>
        <p:spPr>
          <a:xfrm>
            <a:off x="7614350" y="126176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22581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85D3-C54E-E5C0-9A21-9D1955B1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Reconstruction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381E2-B12C-9015-A049-5A03B2D6D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4924890" cy="1828800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800" dirty="0"/>
              <a:t>Need to recover many unknowns (~40k - 500k) </a:t>
            </a:r>
          </a:p>
          <a:p>
            <a:pPr marL="285750" indent="-285750"/>
            <a:r>
              <a:rPr lang="en-US" sz="1800" dirty="0"/>
              <a:t>Finite and discrete number of measurements (~100 – 1000)</a:t>
            </a:r>
          </a:p>
        </p:txBody>
      </p:sp>
      <p:pic>
        <p:nvPicPr>
          <p:cNvPr id="5" name="Picture 4" descr="A close-up of a brain&#10;&#10;Description automatically generated with medium confidence">
            <a:extLst>
              <a:ext uri="{FF2B5EF4-FFF2-40B4-BE49-F238E27FC236}">
                <a16:creationId xmlns:a16="http://schemas.microsoft.com/office/drawing/2014/main" id="{01B67588-C0CC-0BDE-452A-A50996989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117" y="1610983"/>
            <a:ext cx="2164184" cy="1698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6FB11E-1260-366A-8023-2FBEB588E340}"/>
              </a:ext>
            </a:extLst>
          </p:cNvPr>
          <p:cNvSpPr txBox="1"/>
          <p:nvPr/>
        </p:nvSpPr>
        <p:spPr>
          <a:xfrm>
            <a:off x="1979975" y="3668832"/>
            <a:ext cx="3038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But we need the model to have high enough resolution for numerical accuracy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6236A6-A043-FA1C-AF1D-80F4DE22C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917" y="3359332"/>
            <a:ext cx="2401200" cy="1800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F7FA32-A004-6A4E-93BD-49D547FBE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917" y="5059420"/>
            <a:ext cx="2401200" cy="1800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25C7CA-73BE-D094-1518-3DE59D16C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735" y="3359332"/>
            <a:ext cx="2401200" cy="1800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2BB5A0-750A-11C3-D372-83837AAC6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735" y="5059420"/>
            <a:ext cx="2401200" cy="18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8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85D3-C54E-E5C0-9A21-9D1955B1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Reconstruction Basis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97E3D-80B1-A4DB-8851-C0A93F0463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66" t="22778" r="17519" b="21125"/>
          <a:stretch/>
        </p:blipFill>
        <p:spPr>
          <a:xfrm>
            <a:off x="6906091" y="1600201"/>
            <a:ext cx="4185465" cy="384712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F1FC8523-70BD-0CB9-6916-1D35099E74DF}"/>
              </a:ext>
            </a:extLst>
          </p:cNvPr>
          <p:cNvGrpSpPr/>
          <p:nvPr/>
        </p:nvGrpSpPr>
        <p:grpSpPr>
          <a:xfrm>
            <a:off x="7041105" y="1591627"/>
            <a:ext cx="4050450" cy="4098594"/>
            <a:chOff x="559741" y="2692836"/>
            <a:chExt cx="4050450" cy="4098594"/>
          </a:xfrm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67A5DBCF-316E-9AF4-933E-E21E5ABEC168}"/>
                </a:ext>
              </a:extLst>
            </p:cNvPr>
            <p:cNvSpPr/>
            <p:nvPr/>
          </p:nvSpPr>
          <p:spPr>
            <a:xfrm>
              <a:off x="559741" y="2714549"/>
              <a:ext cx="4050450" cy="407688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B0DF775-1A5B-9373-848A-651AC1CF5529}"/>
                </a:ext>
              </a:extLst>
            </p:cNvPr>
            <p:cNvCxnSpPr/>
            <p:nvPr/>
          </p:nvCxnSpPr>
          <p:spPr>
            <a:xfrm>
              <a:off x="559741" y="4224585"/>
              <a:ext cx="304751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6B42CFC-E67F-A444-9A99-160F79AA0CCE}"/>
                </a:ext>
              </a:extLst>
            </p:cNvPr>
            <p:cNvCxnSpPr/>
            <p:nvPr/>
          </p:nvCxnSpPr>
          <p:spPr>
            <a:xfrm>
              <a:off x="559741" y="5124685"/>
              <a:ext cx="304751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5D7C93-8B36-48B3-9ADF-8AB263D9F9B8}"/>
                </a:ext>
              </a:extLst>
            </p:cNvPr>
            <p:cNvCxnSpPr/>
            <p:nvPr/>
          </p:nvCxnSpPr>
          <p:spPr>
            <a:xfrm>
              <a:off x="559741" y="5529730"/>
              <a:ext cx="304751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8441698-0754-095A-162B-0FB005C3B4C1}"/>
                </a:ext>
              </a:extLst>
            </p:cNvPr>
            <p:cNvCxnSpPr/>
            <p:nvPr/>
          </p:nvCxnSpPr>
          <p:spPr>
            <a:xfrm>
              <a:off x="559741" y="5934775"/>
              <a:ext cx="304751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C13C822-A8B3-BD0D-C507-5CB03DB52540}"/>
                </a:ext>
              </a:extLst>
            </p:cNvPr>
            <p:cNvCxnSpPr/>
            <p:nvPr/>
          </p:nvCxnSpPr>
          <p:spPr>
            <a:xfrm>
              <a:off x="559741" y="6384825"/>
              <a:ext cx="304751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1E27E9-00CB-ABD7-1372-A8E31E81BFE1}"/>
                </a:ext>
              </a:extLst>
            </p:cNvPr>
            <p:cNvCxnSpPr/>
            <p:nvPr/>
          </p:nvCxnSpPr>
          <p:spPr>
            <a:xfrm>
              <a:off x="559741" y="4674635"/>
              <a:ext cx="304751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85D0DE-C65E-961E-7CBF-7F3A072D4D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7251" y="3223751"/>
              <a:ext cx="1002940" cy="1000834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9AFC310-C02F-6F39-8E36-F66ACD098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7251" y="3673801"/>
              <a:ext cx="1002940" cy="1000834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2C5BDD4-7C68-8F4D-EC18-46140592EE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7251" y="4129213"/>
              <a:ext cx="1002940" cy="1000834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F6FCB6-7E16-56E6-B6AF-0E4F917C39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7251" y="4534257"/>
              <a:ext cx="1002940" cy="1000834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8C8F091-6E1F-10C2-A575-19DEEC87A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6777" y="4937741"/>
              <a:ext cx="1033414" cy="1002394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06BCEC9-CA1D-EF1B-E9B7-78941527F1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7251" y="5383991"/>
              <a:ext cx="1002940" cy="1000834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2B512B0-8A11-2B51-4CF7-8F1D8114BF31}"/>
                </a:ext>
              </a:extLst>
            </p:cNvPr>
            <p:cNvCxnSpPr>
              <a:cxnSpLocks/>
            </p:cNvCxnSpPr>
            <p:nvPr/>
          </p:nvCxnSpPr>
          <p:spPr>
            <a:xfrm>
              <a:off x="996961" y="372416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E4E59C-FC33-C649-0D6E-01FCD1F5DB72}"/>
                </a:ext>
              </a:extLst>
            </p:cNvPr>
            <p:cNvCxnSpPr>
              <a:cxnSpLocks/>
            </p:cNvCxnSpPr>
            <p:nvPr/>
          </p:nvCxnSpPr>
          <p:spPr>
            <a:xfrm>
              <a:off x="1402006" y="372416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E4B4B67-6486-B21C-92E9-C494D5615164}"/>
                </a:ext>
              </a:extLst>
            </p:cNvPr>
            <p:cNvCxnSpPr>
              <a:cxnSpLocks/>
            </p:cNvCxnSpPr>
            <p:nvPr/>
          </p:nvCxnSpPr>
          <p:spPr>
            <a:xfrm>
              <a:off x="1852056" y="372416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5AB738D-3A6A-B987-B0EE-52C235292378}"/>
                </a:ext>
              </a:extLst>
            </p:cNvPr>
            <p:cNvCxnSpPr>
              <a:cxnSpLocks/>
            </p:cNvCxnSpPr>
            <p:nvPr/>
          </p:nvCxnSpPr>
          <p:spPr>
            <a:xfrm>
              <a:off x="2257101" y="372416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2AD8CEA-97C5-1A2F-1851-14E4B68B22D1}"/>
                </a:ext>
              </a:extLst>
            </p:cNvPr>
            <p:cNvCxnSpPr>
              <a:cxnSpLocks/>
            </p:cNvCxnSpPr>
            <p:nvPr/>
          </p:nvCxnSpPr>
          <p:spPr>
            <a:xfrm>
              <a:off x="2662146" y="372416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E9F1FEC-831A-B7BE-7339-B0E1F23A13BA}"/>
                </a:ext>
              </a:extLst>
            </p:cNvPr>
            <p:cNvCxnSpPr>
              <a:cxnSpLocks/>
            </p:cNvCxnSpPr>
            <p:nvPr/>
          </p:nvCxnSpPr>
          <p:spPr>
            <a:xfrm>
              <a:off x="3067191" y="372416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9824692-18E0-5901-F7AD-C7BF876AA464}"/>
                </a:ext>
              </a:extLst>
            </p:cNvPr>
            <p:cNvCxnSpPr>
              <a:cxnSpLocks/>
            </p:cNvCxnSpPr>
            <p:nvPr/>
          </p:nvCxnSpPr>
          <p:spPr>
            <a:xfrm>
              <a:off x="3967291" y="3369490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EF816B3-F5F4-CBE4-BA37-1125E62188E6}"/>
                </a:ext>
              </a:extLst>
            </p:cNvPr>
            <p:cNvCxnSpPr>
              <a:cxnSpLocks/>
            </p:cNvCxnSpPr>
            <p:nvPr/>
          </p:nvCxnSpPr>
          <p:spPr>
            <a:xfrm>
              <a:off x="4147311" y="3189470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70BAA7E-D72C-4F82-7AEF-FE24CD939A7F}"/>
                </a:ext>
              </a:extLst>
            </p:cNvPr>
            <p:cNvCxnSpPr>
              <a:cxnSpLocks/>
            </p:cNvCxnSpPr>
            <p:nvPr/>
          </p:nvCxnSpPr>
          <p:spPr>
            <a:xfrm>
              <a:off x="4327331" y="3002528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008534D-AA2F-5F25-EFA3-D119E960D309}"/>
                </a:ext>
              </a:extLst>
            </p:cNvPr>
            <p:cNvCxnSpPr>
              <a:cxnSpLocks/>
            </p:cNvCxnSpPr>
            <p:nvPr/>
          </p:nvCxnSpPr>
          <p:spPr>
            <a:xfrm>
              <a:off x="726931" y="3540684"/>
              <a:ext cx="306034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A70B236-6A34-D7E6-49A2-C7DC8922990A}"/>
                </a:ext>
              </a:extLst>
            </p:cNvPr>
            <p:cNvCxnSpPr>
              <a:cxnSpLocks/>
            </p:cNvCxnSpPr>
            <p:nvPr/>
          </p:nvCxnSpPr>
          <p:spPr>
            <a:xfrm>
              <a:off x="3787271" y="3549510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096D3EA-1066-EAD4-54EC-BC5C4C11BE5B}"/>
                </a:ext>
              </a:extLst>
            </p:cNvPr>
            <p:cNvCxnSpPr>
              <a:cxnSpLocks/>
            </p:cNvCxnSpPr>
            <p:nvPr/>
          </p:nvCxnSpPr>
          <p:spPr>
            <a:xfrm>
              <a:off x="4462346" y="2874435"/>
              <a:ext cx="0" cy="3067262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D56044E-A402-B04F-B8EB-203FB2F24C96}"/>
                </a:ext>
              </a:extLst>
            </p:cNvPr>
            <p:cNvCxnSpPr>
              <a:cxnSpLocks/>
            </p:cNvCxnSpPr>
            <p:nvPr/>
          </p:nvCxnSpPr>
          <p:spPr>
            <a:xfrm>
              <a:off x="906951" y="3369490"/>
              <a:ext cx="306034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F3E6D2E-2D7F-4380-5469-14D938D58512}"/>
                </a:ext>
              </a:extLst>
            </p:cNvPr>
            <p:cNvCxnSpPr>
              <a:cxnSpLocks/>
            </p:cNvCxnSpPr>
            <p:nvPr/>
          </p:nvCxnSpPr>
          <p:spPr>
            <a:xfrm>
              <a:off x="1086971" y="3189470"/>
              <a:ext cx="306034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B182555-46BF-91C6-2B86-456CAF64E3E9}"/>
                </a:ext>
              </a:extLst>
            </p:cNvPr>
            <p:cNvCxnSpPr>
              <a:cxnSpLocks/>
            </p:cNvCxnSpPr>
            <p:nvPr/>
          </p:nvCxnSpPr>
          <p:spPr>
            <a:xfrm>
              <a:off x="1266991" y="3018276"/>
              <a:ext cx="306034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6343008-1DC4-F1F0-9DFB-E1ACD280C8BD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50" y="2852892"/>
              <a:ext cx="3060340" cy="0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327B649-98E1-A4C7-75A4-D5D42A9CF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60" y="2703692"/>
              <a:ext cx="945106" cy="1020476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E636A45-B304-8AA5-1C18-339F6582F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9934" y="2698264"/>
              <a:ext cx="945106" cy="1020476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6E2FB44-0425-A57A-1D3E-9E46803D4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3948" y="2698264"/>
              <a:ext cx="945106" cy="1020476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779A347-83A3-19FB-C61F-2E3F82A4B5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6922" y="2692836"/>
              <a:ext cx="945106" cy="1020476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04A3E2-9B8F-E96F-FEB9-BB84167E84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4758" y="2708890"/>
              <a:ext cx="945106" cy="1020476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9C9E5AC-7D64-FCFB-28ED-CC444ECA93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732" y="2703462"/>
              <a:ext cx="945106" cy="1020476"/>
            </a:xfrm>
            <a:prstGeom prst="line">
              <a:avLst/>
            </a:prstGeom>
            <a:ln w="25400">
              <a:solidFill>
                <a:srgbClr val="385D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381E2-B12C-9015-A049-5A03B2D6D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506" y="1600201"/>
            <a:ext cx="5265585" cy="2985010"/>
          </a:xfrm>
        </p:spPr>
        <p:txBody>
          <a:bodyPr>
            <a:noAutofit/>
          </a:bodyPr>
          <a:lstStyle/>
          <a:p>
            <a:pPr marL="285750" indent="-285750"/>
            <a:r>
              <a:rPr lang="en-US" sz="1800" dirty="0"/>
              <a:t>Solution</a:t>
            </a:r>
          </a:p>
          <a:p>
            <a:pPr lvl="1"/>
            <a:r>
              <a:rPr lang="en-US" sz="1800" dirty="0"/>
              <a:t>Calculate Jacobian on a high-resolution mesh</a:t>
            </a:r>
          </a:p>
          <a:p>
            <a:pPr lvl="1"/>
            <a:r>
              <a:rPr lang="en-US" sz="1800" dirty="0"/>
              <a:t>Interpolate onto coarser ‘Reconstruction Basis’</a:t>
            </a:r>
          </a:p>
          <a:p>
            <a:pPr marL="1085850" lvl="2"/>
            <a:r>
              <a:rPr lang="en-US" sz="1800" dirty="0"/>
              <a:t>Voxels</a:t>
            </a:r>
          </a:p>
          <a:p>
            <a:pPr marL="1085850" lvl="2"/>
            <a:r>
              <a:rPr lang="en-US" sz="1800" dirty="0"/>
              <a:t>Second mesh</a:t>
            </a:r>
          </a:p>
          <a:p>
            <a:pPr marL="1085850" lvl="2"/>
            <a:r>
              <a:rPr lang="en-US" sz="1800" dirty="0"/>
              <a:t>Regions</a:t>
            </a:r>
          </a:p>
          <a:p>
            <a:pPr marL="857250" lvl="1" indent="-457200"/>
            <a:r>
              <a:rPr lang="en-US" sz="1800" dirty="0"/>
              <a:t>Calculate update</a:t>
            </a:r>
          </a:p>
          <a:p>
            <a:pPr marL="857250" lvl="1" indent="-457200"/>
            <a:r>
              <a:rPr lang="en-US" sz="1800" dirty="0"/>
              <a:t>Map back onto mesh</a:t>
            </a:r>
          </a:p>
        </p:txBody>
      </p:sp>
    </p:spTree>
    <p:extLst>
      <p:ext uri="{BB962C8B-B14F-4D97-AF65-F5344CB8AC3E}">
        <p14:creationId xmlns:p14="http://schemas.microsoft.com/office/powerpoint/2010/main" val="240165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EABE-A9F5-06BF-36A1-39FEFCED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Parcelization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20587-5FAE-D9EC-1120-3D303DC26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Gordon parcellation (Gordon et al., 2014) is a widely used human brain atlas </a:t>
            </a:r>
          </a:p>
          <a:p>
            <a:r>
              <a:rPr lang="en-US" dirty="0"/>
              <a:t>Divides the cerebral cortex into 333 distinct regions of interest (ROIs) based on resting-state functional connectivity boundary mapping</a:t>
            </a:r>
          </a:p>
          <a:p>
            <a:r>
              <a:rPr lang="en-GB" dirty="0"/>
              <a:t>These 333 parcels are organized into </a:t>
            </a:r>
            <a:r>
              <a:rPr lang="en-GB" b="1" dirty="0"/>
              <a:t>13 functional networks (or areas)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32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502B-9224-68A2-65E0-C19C73A3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8CDD-97FF-E140-5295-FE499A19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Parcelization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56955-99B4-0796-4255-70B17170A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b="1" dirty="0"/>
              <a:t>Auditory (Aud)</a:t>
            </a:r>
            <a:endParaRPr lang="en-GB" dirty="0"/>
          </a:p>
          <a:p>
            <a:pPr lvl="0"/>
            <a:r>
              <a:rPr lang="en-GB" b="1" dirty="0"/>
              <a:t>Cingulo-Opercular (</a:t>
            </a:r>
            <a:r>
              <a:rPr lang="en-GB" b="1" dirty="0" err="1"/>
              <a:t>CiO</a:t>
            </a:r>
            <a:r>
              <a:rPr lang="en-GB" b="1" dirty="0"/>
              <a:t> / CON)</a:t>
            </a:r>
            <a:endParaRPr lang="en-GB" dirty="0"/>
          </a:p>
          <a:p>
            <a:pPr lvl="0"/>
            <a:r>
              <a:rPr lang="en-GB" b="1" dirty="0" err="1"/>
              <a:t>Cingulo</a:t>
            </a:r>
            <a:r>
              <a:rPr lang="en-GB" b="1" dirty="0"/>
              <a:t>-Parietal (</a:t>
            </a:r>
            <a:r>
              <a:rPr lang="en-GB" b="1" dirty="0" err="1"/>
              <a:t>CiP</a:t>
            </a:r>
            <a:r>
              <a:rPr lang="en-GB" b="1" dirty="0"/>
              <a:t>)</a:t>
            </a:r>
            <a:endParaRPr lang="en-GB" dirty="0"/>
          </a:p>
          <a:p>
            <a:pPr lvl="0"/>
            <a:r>
              <a:rPr lang="en-GB" b="1" dirty="0"/>
              <a:t>Default Mode Network (Def / DMN)</a:t>
            </a:r>
            <a:endParaRPr lang="en-GB" dirty="0"/>
          </a:p>
          <a:p>
            <a:pPr lvl="0"/>
            <a:r>
              <a:rPr lang="en-GB" b="1" dirty="0"/>
              <a:t>Dorsal Attention Network (</a:t>
            </a:r>
            <a:r>
              <a:rPr lang="en-GB" b="1" dirty="0" err="1"/>
              <a:t>DoA</a:t>
            </a:r>
            <a:r>
              <a:rPr lang="en-GB" b="1" dirty="0"/>
              <a:t> / DAN)</a:t>
            </a:r>
            <a:endParaRPr lang="en-GB" dirty="0"/>
          </a:p>
          <a:p>
            <a:pPr lvl="0"/>
            <a:r>
              <a:rPr lang="en-GB" b="1" dirty="0"/>
              <a:t>Fronto-Parietal Network (</a:t>
            </a:r>
            <a:r>
              <a:rPr lang="en-GB" b="1" dirty="0" err="1"/>
              <a:t>FrP</a:t>
            </a:r>
            <a:r>
              <a:rPr lang="en-GB" b="1" dirty="0"/>
              <a:t> / FPN)</a:t>
            </a:r>
            <a:endParaRPr lang="en-GB" dirty="0"/>
          </a:p>
          <a:p>
            <a:pPr lvl="0"/>
            <a:r>
              <a:rPr lang="en-GB" b="1" dirty="0" err="1"/>
              <a:t>Retrosplenial</a:t>
            </a:r>
            <a:r>
              <a:rPr lang="en-GB" b="1" dirty="0"/>
              <a:t>-Temporal (</a:t>
            </a:r>
            <a:r>
              <a:rPr lang="en-GB" b="1" dirty="0" err="1"/>
              <a:t>ReT</a:t>
            </a:r>
            <a:r>
              <a:rPr lang="en-GB" b="1" dirty="0"/>
              <a:t>)</a:t>
            </a:r>
            <a:endParaRPr lang="en-GB" dirty="0"/>
          </a:p>
          <a:p>
            <a:pPr lvl="0"/>
            <a:r>
              <a:rPr lang="en-GB" b="1" dirty="0" err="1"/>
              <a:t>Somatomotor</a:t>
            </a:r>
            <a:r>
              <a:rPr lang="en-GB" b="1" dirty="0"/>
              <a:t> Hand (</a:t>
            </a:r>
            <a:r>
              <a:rPr lang="en-GB" b="1" dirty="0" err="1"/>
              <a:t>SMh</a:t>
            </a:r>
            <a:r>
              <a:rPr lang="en-GB" b="1" dirty="0"/>
              <a:t>)</a:t>
            </a:r>
            <a:endParaRPr lang="en-GB" dirty="0"/>
          </a:p>
          <a:p>
            <a:pPr lvl="0"/>
            <a:r>
              <a:rPr lang="en-GB" b="1" dirty="0" err="1"/>
              <a:t>Somatomotor</a:t>
            </a:r>
            <a:r>
              <a:rPr lang="en-GB" b="1" dirty="0"/>
              <a:t> Mouth (</a:t>
            </a:r>
            <a:r>
              <a:rPr lang="en-GB" b="1" dirty="0" err="1"/>
              <a:t>SMm</a:t>
            </a:r>
            <a:r>
              <a:rPr lang="en-GB" b="1" dirty="0"/>
              <a:t>)</a:t>
            </a:r>
            <a:endParaRPr lang="en-GB" dirty="0"/>
          </a:p>
          <a:p>
            <a:pPr lvl="0"/>
            <a:r>
              <a:rPr lang="en-GB" b="1" dirty="0"/>
              <a:t>Salience (Sal)</a:t>
            </a:r>
            <a:endParaRPr lang="en-GB" dirty="0"/>
          </a:p>
          <a:p>
            <a:pPr lvl="0"/>
            <a:r>
              <a:rPr lang="en-GB" b="1" dirty="0"/>
              <a:t>Ventral Attention Network (</a:t>
            </a:r>
            <a:r>
              <a:rPr lang="en-GB" b="1" dirty="0" err="1"/>
              <a:t>VeA</a:t>
            </a:r>
            <a:r>
              <a:rPr lang="en-GB" b="1" dirty="0"/>
              <a:t> / VAN)</a:t>
            </a:r>
            <a:endParaRPr lang="en-GB" dirty="0"/>
          </a:p>
          <a:p>
            <a:pPr lvl="0"/>
            <a:r>
              <a:rPr lang="en-GB" b="1" dirty="0"/>
              <a:t>Visual (Vis)</a:t>
            </a:r>
            <a:endParaRPr lang="en-GB" dirty="0"/>
          </a:p>
          <a:p>
            <a:pPr lvl="0"/>
            <a:r>
              <a:rPr lang="en-GB" b="1" dirty="0"/>
              <a:t>Unassigned / None</a:t>
            </a:r>
            <a:r>
              <a:rPr lang="en-GB" dirty="0"/>
              <a:t> (Parcels with low signal or those that do not map cleanly into a single system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Picture 5" descr="A diagram of the Gordon parcellation and how it is related to different large‐scale functional networks (Gordon et al., 2016). Source: The figure was obtained from the website of the Brain Analysis Library of Spatial maps and Atlases (Van Essen et al., 2017)">
            <a:extLst>
              <a:ext uri="{FF2B5EF4-FFF2-40B4-BE49-F238E27FC236}">
                <a16:creationId xmlns:a16="http://schemas.microsoft.com/office/drawing/2014/main" id="{36801229-8044-039F-A4B9-80DA74EF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9" b="45141"/>
          <a:stretch>
            <a:fillRect/>
          </a:stretch>
        </p:blipFill>
        <p:spPr>
          <a:xfrm>
            <a:off x="5956300" y="2465422"/>
            <a:ext cx="5397500" cy="192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07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42C5-0E0B-F45A-FF8F-8E0AD962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Auditory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A42A-E65F-345E-8FC3-0E9F19786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parcel = "Auditory"</a:t>
            </a:r>
          </a:p>
          <a:p>
            <a:r>
              <a:rPr lang="en-GB" dirty="0"/>
              <a:t>side = "right"</a:t>
            </a:r>
          </a:p>
          <a:p>
            <a:r>
              <a:rPr lang="en-GB" dirty="0"/>
              <a:t>size = 15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9B969-565B-B220-53A0-982846794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9" t="26294" r="30325" b="8503"/>
          <a:stretch>
            <a:fillRect/>
          </a:stretch>
        </p:blipFill>
        <p:spPr>
          <a:xfrm>
            <a:off x="5450541" y="681037"/>
            <a:ext cx="5903259" cy="51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03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ACB2-0688-8FCB-4134-59230968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HRF to optical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8E9B-3018-C0AE-8029-7F3A4074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extinction Coefficients of </a:t>
            </a:r>
            <a:r>
              <a:rPr lang="en-US" dirty="0" err="1"/>
              <a:t>HbO</a:t>
            </a:r>
            <a:r>
              <a:rPr lang="en-US" dirty="0"/>
              <a:t> and </a:t>
            </a:r>
            <a:r>
              <a:rPr lang="en-US" dirty="0" err="1"/>
              <a:t>HbR</a:t>
            </a:r>
            <a:r>
              <a:rPr lang="en-US" dirty="0"/>
              <a:t>, we can convert HRF to changes in Absorption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07CC9-14F3-9C88-8018-9E1292F5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341" y="2792505"/>
            <a:ext cx="36576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6B0D3-B0BB-72E1-15D8-134B31F5E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2" y="2792505"/>
            <a:ext cx="3543300" cy="2616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74E7F-82A4-AC3F-AD07-9E42724E77B1}"/>
                  </a:ext>
                </a:extLst>
              </p:cNvPr>
              <p:cNvSpPr txBox="1"/>
              <p:nvPr/>
            </p:nvSpPr>
            <p:spPr>
              <a:xfrm>
                <a:off x="3152751" y="5588093"/>
                <a:ext cx="64298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Note, we only perturb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voxels (nodes) in the activated region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74E7F-82A4-AC3F-AD07-9E42724E7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751" y="5588093"/>
                <a:ext cx="6429837" cy="369332"/>
              </a:xfrm>
              <a:prstGeom prst="rect">
                <a:avLst/>
              </a:prstGeom>
              <a:blipFill>
                <a:blip r:embed="rId5"/>
                <a:stretch>
                  <a:fillRect l="-789" t="-10345" r="-592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919814E-92A0-FB07-A3DB-4E4B40AA26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9" t="26294" r="30325" b="8503"/>
          <a:stretch>
            <a:fillRect/>
          </a:stretch>
        </p:blipFill>
        <p:spPr>
          <a:xfrm>
            <a:off x="8993393" y="2680969"/>
            <a:ext cx="2783374" cy="24515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2EE50F-947F-E9EA-C818-EDE9B60DDD77}"/>
                  </a:ext>
                </a:extLst>
              </p:cNvPr>
              <p:cNvSpPr txBox="1"/>
              <p:nvPr/>
            </p:nvSpPr>
            <p:spPr>
              <a:xfrm>
                <a:off x="7222023" y="3614364"/>
                <a:ext cx="251944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2EE50F-947F-E9EA-C818-EDE9B60DD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023" y="3614364"/>
                <a:ext cx="2519441" cy="584775"/>
              </a:xfrm>
              <a:prstGeom prst="rect">
                <a:avLst/>
              </a:prstGeom>
              <a:blipFill>
                <a:blip r:embed="rId7"/>
                <a:stretch>
                  <a:fillRect t="-12766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7BB17F-A7B1-36E0-8829-A790910D0EE1}"/>
                  </a:ext>
                </a:extLst>
              </p:cNvPr>
              <p:cNvSpPr txBox="1"/>
              <p:nvPr/>
            </p:nvSpPr>
            <p:spPr>
              <a:xfrm>
                <a:off x="5700141" y="1883965"/>
                <a:ext cx="446891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GB" sz="240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𝐻𝑏𝑂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,∆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𝐻𝑏</m:t>
                          </m:r>
                        </m:e>
                      </m:d>
                    </m:oMath>
                  </m:oMathPara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7BB17F-A7B1-36E0-8829-A790910D0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141" y="1883965"/>
                <a:ext cx="4468916" cy="738664"/>
              </a:xfrm>
              <a:prstGeom prst="rect">
                <a:avLst/>
              </a:prstGeom>
              <a:blipFill>
                <a:blip r:embed="rId8"/>
                <a:stretch>
                  <a:fillRect l="-1416" b="-16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82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8BC0-BDF6-228E-414D-C41C802F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8E2A-D149-5A94-E342-D34C53E50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MBL (same as last example) to get a global (or channel) measure</a:t>
            </a:r>
          </a:p>
          <a:p>
            <a:r>
              <a:rPr lang="en-US" dirty="0"/>
              <a:t>We can use Jacobian, invert and reconstruct</a:t>
            </a:r>
          </a:p>
          <a:p>
            <a:endParaRPr lang="en-US" dirty="0"/>
          </a:p>
          <a:p>
            <a:r>
              <a:rPr lang="en-US" dirty="0"/>
              <a:t>Follow </a:t>
            </a:r>
            <a:r>
              <a:rPr lang="en-US"/>
              <a:t>example notebook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9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3140-3DA1-AA2A-2656-4EE0030C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3F25-C5F5-3B71-C7DF-2C5D7320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7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14973</TotalTime>
  <Words>785</Words>
  <Application>Microsoft Macintosh PowerPoint</Application>
  <PresentationFormat>Widescreen</PresentationFormat>
  <Paragraphs>158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Garamond</vt:lpstr>
      <vt:lpstr>Times New Roman</vt:lpstr>
      <vt:lpstr>Office Theme</vt:lpstr>
      <vt:lpstr>fNIRS simulation and Reconstruction</vt:lpstr>
      <vt:lpstr>3D head mesh</vt:lpstr>
      <vt:lpstr>Optode placement</vt:lpstr>
      <vt:lpstr>PowerPoint Presentation</vt:lpstr>
      <vt:lpstr>Under-determined</vt:lpstr>
      <vt:lpstr>Matrix inversion</vt:lpstr>
      <vt:lpstr>Creating the bananas!</vt:lpstr>
      <vt:lpstr>Creating the bananas!</vt:lpstr>
      <vt:lpstr>Creating the bananas!</vt:lpstr>
      <vt:lpstr>Creating the bananas!</vt:lpstr>
      <vt:lpstr>Creating the bananas!</vt:lpstr>
      <vt:lpstr>Creating the bananas!</vt:lpstr>
      <vt:lpstr>Creating the bananas!</vt:lpstr>
      <vt:lpstr>Creating the bananas!</vt:lpstr>
      <vt:lpstr>Creating the bananas!</vt:lpstr>
      <vt:lpstr>Reconstruction Basis</vt:lpstr>
      <vt:lpstr>Reconstruction Basis</vt:lpstr>
      <vt:lpstr>Brain Parcelization</vt:lpstr>
      <vt:lpstr>Brain Parcelization</vt:lpstr>
      <vt:lpstr>Example: Auditory</vt:lpstr>
      <vt:lpstr>HRF to optical properties</vt:lpstr>
      <vt:lpstr>Parameter Recovery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Rino Zheng</dc:creator>
  <cp:lastModifiedBy>Hamid Dehghani (Computer Science)</cp:lastModifiedBy>
  <cp:revision>114</cp:revision>
  <dcterms:created xsi:type="dcterms:W3CDTF">2025-01-11T13:11:44Z</dcterms:created>
  <dcterms:modified xsi:type="dcterms:W3CDTF">2026-10-14T01:42:05Z</dcterms:modified>
</cp:coreProperties>
</file>