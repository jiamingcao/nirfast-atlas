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676" r:id="rId3"/>
    <p:sldId id="257" r:id="rId4"/>
    <p:sldId id="677" r:id="rId5"/>
    <p:sldId id="678" r:id="rId6"/>
    <p:sldId id="679" r:id="rId7"/>
    <p:sldId id="655" r:id="rId8"/>
    <p:sldId id="6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ABDAF-CA91-9511-FBB9-B001F5BA1CEA}" name="Robin Dale (PhD School of Computer Sci FT)" initials="RD" userId="S::rbd079@student.bham.ac.uk::66f06dfd-099f-4024-a589-019b660d1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0B9"/>
    <a:srgbClr val="554167"/>
    <a:srgbClr val="7EA6E0"/>
    <a:srgbClr val="EA6B66"/>
    <a:srgbClr val="E30513"/>
    <a:srgbClr val="2581C4"/>
    <a:srgbClr val="C59A00"/>
    <a:srgbClr val="B8A63A"/>
    <a:srgbClr val="ABA44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65" autoAdjust="0"/>
    <p:restoredTop sz="88537" autoAdjust="0"/>
  </p:normalViewPr>
  <p:slideViewPr>
    <p:cSldViewPr snapToGrid="0">
      <p:cViewPr varScale="1">
        <p:scale>
          <a:sx n="68" d="100"/>
          <a:sy n="68" d="100"/>
        </p:scale>
        <p:origin x="2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89DA8-A704-4B1E-86B9-2AF7D392732B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C18D-5F0A-4B7D-816E-FDD28E1B2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1C18D-5F0A-4B7D-816E-FDD28E1B2D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1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4AC4-FEC4-014A-BED3-1E7F67E5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C0A5A-838E-308E-5934-1357815B8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B5DB4-2725-334F-9B1D-02AFF0AD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BE29-FD5B-6F5B-0996-0D183C53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742A7-BD8D-5EE3-B905-C1541263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5493-7ABF-52AA-2281-6574265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7F25-F0AC-FE72-4C8B-056B3B30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091E-F585-E216-392E-89BDFA2F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D7C40-786D-6576-2516-D7EECD80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Google Shape;13;p7">
            <a:extLst>
              <a:ext uri="{FF2B5EF4-FFF2-40B4-BE49-F238E27FC236}">
                <a16:creationId xmlns:a16="http://schemas.microsoft.com/office/drawing/2014/main" id="{FE97A8BC-D4BD-4F98-C0E3-D5B6E0992588}"/>
              </a:ext>
            </a:extLst>
          </p:cNvPr>
          <p:cNvSpPr/>
          <p:nvPr userDrawn="1"/>
        </p:nvSpPr>
        <p:spPr>
          <a:xfrm>
            <a:off x="1" y="6086475"/>
            <a:ext cx="12192000" cy="114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4023C582-22D8-832E-B5F9-982947465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84" y="6242535"/>
            <a:ext cx="656802" cy="615465"/>
          </a:xfrm>
          <a:prstGeom prst="rect">
            <a:avLst/>
          </a:prstGeom>
        </p:spPr>
      </p:pic>
      <p:pic>
        <p:nvPicPr>
          <p:cNvPr id="11" name="4. Logo">
            <a:extLst>
              <a:ext uri="{FF2B5EF4-FFF2-40B4-BE49-F238E27FC236}">
                <a16:creationId xmlns:a16="http://schemas.microsoft.com/office/drawing/2014/main" id="{7062BCE1-B93A-911F-83E7-06B5189712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54" y="6264137"/>
            <a:ext cx="1954059" cy="56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205D0-A8F9-8E02-A4DA-1A3F009F2D22}"/>
              </a:ext>
            </a:extLst>
          </p:cNvPr>
          <p:cNvSpPr txBox="1"/>
          <p:nvPr userDrawn="1"/>
        </p:nvSpPr>
        <p:spPr>
          <a:xfrm>
            <a:off x="2092432" y="6258341"/>
            <a:ext cx="992579" cy="47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MEDICAL</a:t>
            </a:r>
          </a:p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IMAGING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615C8-46B8-EB84-E6C4-1F6E4FAED947}"/>
              </a:ext>
            </a:extLst>
          </p:cNvPr>
          <p:cNvCxnSpPr>
            <a:cxnSpLocks/>
          </p:cNvCxnSpPr>
          <p:nvPr userDrawn="1"/>
        </p:nvCxnSpPr>
        <p:spPr>
          <a:xfrm>
            <a:off x="2092433" y="6331493"/>
            <a:ext cx="0" cy="32657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0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8D22-4D19-61C9-5F2C-B96434B7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7A08-C0B9-128B-E353-DCE0D4AD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6B5E-33E7-22AB-6BCC-1E8D21A9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EB99-5F2D-9390-51AE-BBC04FA0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63D4-D518-7892-20BC-072F709B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18DF-5773-A4DE-CFE1-EC6439EC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AF84-2E24-191B-022E-024815194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2CDF4-4364-39C2-79F1-83737401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A5353-FE0D-730F-11DB-C9B72E2D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877F-7BD7-3A5F-6B67-B55A971B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E4BD4-2735-6C0C-B08F-49E49815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2899-899B-369F-F14C-F2DC5F12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EB5EF-4917-FF90-FE6E-FF3155C7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7F85-2D61-585E-A4F3-C9E68E2E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962B1-9209-3E6A-5C9A-7CC61AE5B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F4FD0-A185-B9BB-A1B0-EED752CA3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FD12-FCFA-9E94-CDC4-0FA62059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0D515-0FE8-97E4-D5D9-2364DCBA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A9CCC-6FB1-FD0F-D32F-B86FAEE9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EFFF-B934-AFAC-29E3-772B6EA8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92770-0AB0-6AEC-C004-5EC0C8C6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13A70-5C1B-D1DF-C4D4-F6C05CD9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F124-588F-B2F9-095D-2834F832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2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AF5ED-68D4-DBB6-85A5-97B413D0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DA54A-49DD-09B9-C458-4A197AF0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ED12-D126-54F4-E642-11D9D376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37F1-266F-A888-7C0F-47C83322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4B5E-3CE4-CAC5-33AB-4BE6365C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6194-22A0-045E-F206-DBC0E6645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E518E-AAAA-EF77-A89B-8E947CD2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DB976-E944-D01F-8288-7EEC34F2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9D07-A593-60DD-87C0-15F4E0FC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0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5B52-4413-F575-F240-1E00C9A1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ADB5F-1F72-DD3F-44EF-2AA00974E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F13A6-2D7B-4F58-1CF2-4C15F613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6615-98B5-AA20-39AB-C5915915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CE530-BF6F-8E41-4B0F-94D14064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DD9F9-42E2-19ED-9BCB-16AEFF6B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2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E09B-8296-1FF4-7DF1-C53E69D3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1DB7A-0C08-6C22-2858-A57E39504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2F5D-9FA8-8068-3829-A4C10857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ED37-9031-3455-F7BD-0291E806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571A0-FCC2-F4E4-2F59-4EF85AB1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C7F1-AC88-B50C-025C-0C1836424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E414A-4100-90A3-1863-8AA4E5F6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C5E7-C0BF-872A-F1CD-9AE3C5F9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45C3-8C8E-8EBE-22B6-6EDC4A13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237D-2F7F-37C6-FBFE-ADA892DF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8B387-77E0-A06F-0B89-E1533C5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2C7F-381B-0CEC-273E-8A92B457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096E-A05E-77C1-6225-B3F3F892D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0610-3B4C-926F-AE5E-943B0D0BA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4316-53ED-E0DF-9BA2-734732AA2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omlc.org/spectra/hemoglobi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099140-EC94-B4F7-8ECB-EBAB196DAD7B}"/>
              </a:ext>
            </a:extLst>
          </p:cNvPr>
          <p:cNvSpPr/>
          <p:nvPr/>
        </p:nvSpPr>
        <p:spPr>
          <a:xfrm>
            <a:off x="0" y="0"/>
            <a:ext cx="8161020" cy="6858000"/>
          </a:xfrm>
          <a:custGeom>
            <a:avLst/>
            <a:gdLst>
              <a:gd name="connsiteX0" fmla="*/ 0 w 7383780"/>
              <a:gd name="connsiteY0" fmla="*/ 0 h 6858000"/>
              <a:gd name="connsiteX1" fmla="*/ 738378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  <a:gd name="connsiteX0" fmla="*/ 0 w 7383780"/>
              <a:gd name="connsiteY0" fmla="*/ 0 h 6858000"/>
              <a:gd name="connsiteX1" fmla="*/ 676656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3780" h="6858000">
                <a:moveTo>
                  <a:pt x="0" y="0"/>
                </a:moveTo>
                <a:lnTo>
                  <a:pt x="6766560" y="0"/>
                </a:lnTo>
                <a:lnTo>
                  <a:pt x="738378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FA365-AA49-0266-130F-0D7E0C7A3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30" y="2505908"/>
            <a:ext cx="7505699" cy="13892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Hemodynamic Response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2B0C0-E6B8-B5DB-B26F-87F7195B692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rgbClr val="E305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05123-FDF9-030F-73EA-69CD3C277F7A}"/>
              </a:ext>
            </a:extLst>
          </p:cNvPr>
          <p:cNvSpPr/>
          <p:nvPr/>
        </p:nvSpPr>
        <p:spPr>
          <a:xfrm>
            <a:off x="0" y="0"/>
            <a:ext cx="12192000" cy="284922"/>
          </a:xfrm>
          <a:prstGeom prst="rect">
            <a:avLst/>
          </a:prstGeom>
          <a:solidFill>
            <a:srgbClr val="258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pic>
        <p:nvPicPr>
          <p:cNvPr id="13" name="Picture 12" descr="A logo of a university&#10;&#10;Description automatically generated">
            <a:extLst>
              <a:ext uri="{FF2B5EF4-FFF2-40B4-BE49-F238E27FC236}">
                <a16:creationId xmlns:a16="http://schemas.microsoft.com/office/drawing/2014/main" id="{CB98AD6E-58E8-0DD6-0EC1-22F01F54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69" y="1945322"/>
            <a:ext cx="3119769" cy="1949856"/>
          </a:xfrm>
          <a:prstGeom prst="rect">
            <a:avLst/>
          </a:prstGeom>
        </p:spPr>
      </p:pic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F533F2AD-21E2-C3E7-3482-BB94F0517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183" y="3953279"/>
            <a:ext cx="2740143" cy="2567686"/>
          </a:xfrm>
          <a:prstGeom prst="rect">
            <a:avLst/>
          </a:prstGeom>
        </p:spPr>
      </p:pic>
      <p:pic>
        <p:nvPicPr>
          <p:cNvPr id="11" name="Picture 10" descr="File:University of Macau logo.svg - Wikimedia Commons">
            <a:extLst>
              <a:ext uri="{FF2B5EF4-FFF2-40B4-BE49-F238E27FC236}">
                <a16:creationId xmlns:a16="http://schemas.microsoft.com/office/drawing/2014/main" id="{40D5CDF9-C258-2A45-2BB3-10B9F874E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376" y="417207"/>
            <a:ext cx="1439753" cy="14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5E81-F791-8639-D4DD-428DE854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fNIRS: </a:t>
            </a:r>
            <a:r>
              <a:rPr lang="en-GB" dirty="0">
                <a:effectLst/>
                <a:latin typeface="Calibri" panose="020F0502020204030204" pitchFamily="34" charset="0"/>
              </a:rPr>
              <a:t>The Hemodynamic Response</a:t>
            </a:r>
            <a:endParaRPr lang="en-GB" dirty="0"/>
          </a:p>
        </p:txBody>
      </p:sp>
      <p:pic>
        <p:nvPicPr>
          <p:cNvPr id="6" name="Picture 5" descr="A picture containing text, diagram, line, plot&#10;&#10;Description automatically generated">
            <a:extLst>
              <a:ext uri="{FF2B5EF4-FFF2-40B4-BE49-F238E27FC236}">
                <a16:creationId xmlns:a16="http://schemas.microsoft.com/office/drawing/2014/main" id="{595E53D8-425D-78C5-E567-A911CFC99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45" y="2033845"/>
            <a:ext cx="8893110" cy="35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4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F5240-FE1D-F65A-C99E-75431AE3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Gamma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2E71-F40D-C147-28EF-D936EFF4E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Shape Matching</a:t>
            </a:r>
            <a:r>
              <a:rPr lang="en-GB" dirty="0"/>
              <a:t>: The mathematical curve of a Gamma distribution naturally mimics the real-world rise, peak, and fall of blood oxygenation in active brain regions.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Computational Efficiency</a:t>
            </a:r>
            <a:r>
              <a:rPr lang="en-GB" dirty="0"/>
              <a:t>: It offers a simple, smooth approximation requiring very few parameters, making it a standard choice for functional Magnetic Resonance Imaging (</a:t>
            </a:r>
            <a:r>
              <a:rPr lang="en-GB" b="1" dirty="0"/>
              <a:t>fMRI</a:t>
            </a:r>
            <a:r>
              <a:rPr lang="en-GB" dirty="0"/>
              <a:t>) analysis.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51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29C7-DBAF-829F-1D53-CD5510F4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A7A0-3EE9-DD00-9B76-1458552E5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45400" cy="4351338"/>
          </a:xfrm>
        </p:spPr>
        <p:txBody>
          <a:bodyPr/>
          <a:lstStyle/>
          <a:p>
            <a:pPr lvl="0"/>
            <a:r>
              <a:rPr lang="en-GB" b="1"/>
              <a:t>The Delay (Lag)</a:t>
            </a:r>
            <a:r>
              <a:rPr lang="en-GB"/>
              <a:t>: Captures the </a:t>
            </a:r>
            <a:r>
              <a:rPr lang="en-GB" b="1"/>
              <a:t>4 to 6-second delay</a:t>
            </a:r>
            <a:r>
              <a:rPr lang="en-GB"/>
              <a:t> between the neural trigger and the peak oxygen delivery.</a:t>
            </a:r>
          </a:p>
          <a:p>
            <a:pPr lvl="0"/>
            <a:r>
              <a:rPr lang="en-GB" b="1"/>
              <a:t>The Peak</a:t>
            </a:r>
            <a:r>
              <a:rPr lang="en-GB"/>
              <a:t>: Represents the maximum </a:t>
            </a:r>
            <a:r>
              <a:rPr lang="en-GB" b="1"/>
              <a:t>oxygenated hemoglobin</a:t>
            </a:r>
            <a:r>
              <a:rPr lang="en-GB"/>
              <a:t> concentration in response to a stimulus.</a:t>
            </a:r>
          </a:p>
          <a:p>
            <a:pPr lvl="0"/>
            <a:r>
              <a:rPr lang="en-GB" b="1"/>
              <a:t>The Undershoot</a:t>
            </a:r>
            <a:r>
              <a:rPr lang="en-GB"/>
              <a:t>: Often modeled by combining a second, delayed Gamma function to capture the temporary dip below baseline during recovery.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A4C2C-8AA1-04C5-257F-C000BF21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0" y="1825625"/>
            <a:ext cx="3543300" cy="2616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125DC-A39D-D7D6-1353-E4F85E710617}"/>
              </a:ext>
            </a:extLst>
          </p:cNvPr>
          <p:cNvSpPr txBox="1"/>
          <p:nvPr/>
        </p:nvSpPr>
        <p:spPr>
          <a:xfrm>
            <a:off x="9033331" y="4616896"/>
            <a:ext cx="217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Hb</a:t>
            </a:r>
            <a:r>
              <a:rPr lang="en-US" sz="2400" dirty="0"/>
              <a:t> = -0.25</a:t>
            </a:r>
            <a:r>
              <a:rPr lang="en-US" sz="2400" dirty="0">
                <a:solidFill>
                  <a:srgbClr val="FF0000"/>
                </a:solidFill>
              </a:rPr>
              <a:t>HbO</a:t>
            </a:r>
          </a:p>
        </p:txBody>
      </p:sp>
    </p:spTree>
    <p:extLst>
      <p:ext uri="{BB962C8B-B14F-4D97-AF65-F5344CB8AC3E}">
        <p14:creationId xmlns:p14="http://schemas.microsoft.com/office/powerpoint/2010/main" val="3613866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ACB2-0688-8FCB-4134-59230968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HRF to optical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8E9B-3018-C0AE-8029-7F3A4074D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0211" cy="4351338"/>
          </a:xfrm>
        </p:spPr>
        <p:txBody>
          <a:bodyPr/>
          <a:lstStyle/>
          <a:p>
            <a:r>
              <a:rPr lang="en-US" dirty="0"/>
              <a:t>Using Extinction Coefficients of </a:t>
            </a:r>
            <a:r>
              <a:rPr lang="en-US" dirty="0" err="1"/>
              <a:t>HbO</a:t>
            </a:r>
            <a:r>
              <a:rPr lang="en-US" dirty="0"/>
              <a:t> and Hb, we can convert HRF to changes in Absorption: </a:t>
            </a:r>
            <a:r>
              <a:rPr lang="en-US" dirty="0">
                <a:hlinkClick r:id="rId2"/>
              </a:rPr>
              <a:t>https://omlc.org/spectra/hemoglobin/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07CC9-14F3-9C88-8018-9E1292F52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953" y="2792506"/>
            <a:ext cx="36576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6B0D3-B0BB-72E1-15D8-134B31F5E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748" y="2792506"/>
            <a:ext cx="3543300" cy="2616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FB3C79-14B4-BD47-5B84-ADF763EE2380}"/>
                  </a:ext>
                </a:extLst>
              </p:cNvPr>
              <p:cNvSpPr txBox="1"/>
              <p:nvPr/>
            </p:nvSpPr>
            <p:spPr>
              <a:xfrm>
                <a:off x="3861543" y="5181170"/>
                <a:ext cx="446891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GB" sz="240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𝐻𝑏𝑂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𝐻𝑏</m:t>
                          </m:r>
                        </m:e>
                      </m:d>
                    </m:oMath>
                  </m:oMathPara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FB3C79-14B4-BD47-5B84-ADF763EE2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543" y="5181170"/>
                <a:ext cx="4468916" cy="738664"/>
              </a:xfrm>
              <a:prstGeom prst="rect">
                <a:avLst/>
              </a:prstGeom>
              <a:blipFill>
                <a:blip r:embed="rId5"/>
                <a:stretch>
                  <a:fillRect l="-1412" b="-16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82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0037-728D-3FD5-2C2D-C5B1B0FF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Semi-infinite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E35F7-9367-C83A-CE73-135B7E7E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a single source and 4 detectors</a:t>
            </a:r>
          </a:p>
          <a:p>
            <a:r>
              <a:rPr lang="en-US" dirty="0"/>
              <a:t>Add changes of absorption to a baseline model</a:t>
            </a:r>
          </a:p>
          <a:p>
            <a:r>
              <a:rPr lang="en-US" dirty="0"/>
              <a:t>Generate measurements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0D837-3024-6473-E75C-3865AACFE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028" y="3314838"/>
            <a:ext cx="3581400" cy="2755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E3BF24-DAB7-ED26-BD6E-DB05817A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81" b="41732"/>
          <a:stretch>
            <a:fillRect/>
          </a:stretch>
        </p:blipFill>
        <p:spPr>
          <a:xfrm>
            <a:off x="675341" y="3788521"/>
            <a:ext cx="6502400" cy="1859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1C6F4-72F1-96A6-705F-DB51BFE8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28" y="1710546"/>
            <a:ext cx="1918800" cy="143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CD034-EA3E-DF56-E549-A58201CB6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128" y="19844"/>
            <a:ext cx="1951200" cy="144067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3FA853-EE73-5E24-0550-09471D7D629A}"/>
              </a:ext>
            </a:extLst>
          </p:cNvPr>
          <p:cNvCxnSpPr>
            <a:cxnSpLocks/>
          </p:cNvCxnSpPr>
          <p:nvPr/>
        </p:nvCxnSpPr>
        <p:spPr>
          <a:xfrm>
            <a:off x="9906000" y="3098815"/>
            <a:ext cx="19050" cy="33018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6C6A3A-7B84-5EF1-4790-17D5B4D24193}"/>
              </a:ext>
            </a:extLst>
          </p:cNvPr>
          <p:cNvCxnSpPr>
            <a:cxnSpLocks/>
          </p:cNvCxnSpPr>
          <p:nvPr/>
        </p:nvCxnSpPr>
        <p:spPr>
          <a:xfrm>
            <a:off x="9906000" y="1384315"/>
            <a:ext cx="19050" cy="33018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03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5767-1083-2E13-33B2-D723219F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modified Beer-Lambert to recover HRF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47B70A-FF66-0310-73EE-28C60DD11940}"/>
                  </a:ext>
                </a:extLst>
              </p:cNvPr>
              <p:cNvSpPr txBox="1"/>
              <p:nvPr/>
            </p:nvSpPr>
            <p:spPr>
              <a:xfrm>
                <a:off x="1602528" y="4490538"/>
                <a:ext cx="3743269" cy="1048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GB" sz="24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/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𝑚𝑒𝑎𝑛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</m:oMath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47B70A-FF66-0310-73EE-28C60DD11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528" y="4490538"/>
                <a:ext cx="3743269" cy="1048877"/>
              </a:xfrm>
              <a:prstGeom prst="rect">
                <a:avLst/>
              </a:prstGeom>
              <a:blipFill>
                <a:blip r:embed="rId2"/>
                <a:stretch>
                  <a:fillRect l="-1695" r="-169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8B3A0CA-FE34-99EC-F145-C01AB623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38" y="1712663"/>
            <a:ext cx="3467100" cy="2755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4C9C62-2A61-3513-FAC0-7724AC226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828149"/>
            <a:ext cx="3543300" cy="261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2CB088-16B5-EFDD-C05B-3CF1718887B9}"/>
              </a:ext>
            </a:extLst>
          </p:cNvPr>
          <p:cNvSpPr txBox="1"/>
          <p:nvPr/>
        </p:nvSpPr>
        <p:spPr>
          <a:xfrm rot="16200000">
            <a:off x="243850" y="2905946"/>
            <a:ext cx="1863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Log(mean)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537C6B-7072-B4C1-958C-480859436182}"/>
                  </a:ext>
                </a:extLst>
              </p:cNvPr>
              <p:cNvSpPr txBox="1"/>
              <p:nvPr/>
            </p:nvSpPr>
            <p:spPr>
              <a:xfrm>
                <a:off x="6096000" y="4645644"/>
                <a:ext cx="43708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GB" sz="240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𝐻𝑏𝑂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𝐻𝑏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537C6B-7072-B4C1-958C-480859436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45644"/>
                <a:ext cx="4370812" cy="738664"/>
              </a:xfrm>
              <a:prstGeom prst="rect">
                <a:avLst/>
              </a:prstGeom>
              <a:blipFill>
                <a:blip r:embed="rId5"/>
                <a:stretch>
                  <a:fillRect r="-1449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78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3140-3DA1-AA2A-2656-4EE0030C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3F25-C5F5-3B71-C7DF-2C5D7320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7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14836</TotalTime>
  <Words>220</Words>
  <Application>Microsoft Macintosh PowerPoint</Application>
  <PresentationFormat>Widescreen</PresentationFormat>
  <Paragraphs>27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Garamond</vt:lpstr>
      <vt:lpstr>Times New Roman</vt:lpstr>
      <vt:lpstr>Office Theme</vt:lpstr>
      <vt:lpstr>Hemodynamic Response Function</vt:lpstr>
      <vt:lpstr>fNIRS: The Hemodynamic Response</vt:lpstr>
      <vt:lpstr>Why Gamma Function</vt:lpstr>
      <vt:lpstr>Key components</vt:lpstr>
      <vt:lpstr>HRF to optical properties</vt:lpstr>
      <vt:lpstr>Semi-infinite model</vt:lpstr>
      <vt:lpstr>Use modified Beer-Lambert to recover HRF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Rino Zheng</dc:creator>
  <cp:lastModifiedBy>Hamid Dehghani (Computer Science)</cp:lastModifiedBy>
  <cp:revision>108</cp:revision>
  <dcterms:created xsi:type="dcterms:W3CDTF">2025-01-11T13:11:44Z</dcterms:created>
  <dcterms:modified xsi:type="dcterms:W3CDTF">2026-10-14T01:31:36Z</dcterms:modified>
</cp:coreProperties>
</file>